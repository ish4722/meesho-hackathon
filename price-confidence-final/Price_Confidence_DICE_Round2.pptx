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B1248"/>
                </a:solidFill>
                <a:latin typeface="Arial"/>
              </a:defRPr>
            </a:pPr>
            <a:r>
              <a:rPr sz="1300" b="0" i="0" u="none" strike="noStrike">
                <a:solidFill>
                  <a:srgbClr val="4B1248"/>
                </a:solidFill>
                <a:latin typeface="Arial"/>
              </a:rPr>
              <a:t>Negative reviews that complain about price</a:t>
            </a:r>
          </a:p>
        </c:rich>
      </c:tx>
      <c:layout/>
      <c:overlay val="0"/>
    </c:title>
    <c:autoTitleDeleted val="0"/>
    <c:plotArea>
      <c:layout/>
      <c:barChart>
        <c:barDir val="col"/>
        <c:grouping val="clustered"/>
        <c:varyColors val="0"/>
        <c:ser>
          <c:idx val="0"/>
          <c:order val="0"/>
          <c:tx>
            <c:strRef>
              <c:f>Sheet1!$B$1</c:f>
              <c:strCache>
                <c:ptCount val="1"/>
                <c:pt idx="0">
                  <c:v>Price complaints</c:v>
                </c:pt>
              </c:strCache>
            </c:strRef>
          </c:tx>
          <c:spPr>
            <a:solidFill>
              <a:srgbClr val="C2185B"/>
            </a:solidFill>
            <a:effectLst/>
          </c:spPr>
          <c:invertIfNegative val="0"/>
          <c:dLbls>
            <c:numFmt formatCode="0&quot;%&quot;" sourceLinked="0"/>
            <c:txPr>
              <a:bodyPr/>
              <a:lstStyle/>
              <a:p>
                <a:pPr>
                  <a:defRPr b="0" i="0" strike="noStrike" sz="1200" u="none">
                    <a:solidFill>
                      <a:srgbClr val="2A0B2F"/>
                    </a:solidFill>
                    <a:latin typeface="Arial"/>
                  </a:defRPr>
                </a:pPr>
              </a:p>
            </c:txPr>
            <c:showLegendKey val="0"/>
            <c:showVal val="1"/>
            <c:showCatName val="0"/>
            <c:showSerName val="0"/>
            <c:showPercent val="0"/>
            <c:showBubbleSize val="0"/>
            <c:showLeaderLines val="0"/>
          </c:dLbls>
          <c:cat>
            <c:multiLvlStrRef>
              <c:f>Sheet1!$A$2:$A$5</c:f>
              <c:multiLvlStrCache>
                <c:ptCount val="4"/>
                <c:lvl>
                  <c:pt idx="0">
                    <c:v>&gt;5% below</c:v>
                  </c:pt>
                  <c:pt idx="1">
                    <c:v>Within 5%</c:v>
                  </c:pt>
                  <c:pt idx="2">
                    <c:v>5–15% above</c:v>
                  </c:pt>
                  <c:pt idx="3">
                    <c:v>&gt;15% above</c:v>
                  </c:pt>
                </c:lvl>
              </c:multiLvlStrCache>
            </c:multiLvlStrRef>
          </c:cat>
          <c:val>
            <c:numRef>
              <c:f>Sheet1!$B$2:$B$5</c:f>
              <c:numCache>
                <c:formatCode>General</c:formatCode>
                <c:ptCount val="4"/>
                <c:pt idx="0">
                  <c:v>22</c:v>
                </c:pt>
                <c:pt idx="1">
                  <c:v>27</c:v>
                </c:pt>
                <c:pt idx="2">
                  <c:v>44</c:v>
                </c:pt>
                <c:pt idx="3">
                  <c:v>58</c:v>
                </c:pt>
              </c:numCache>
            </c:numRef>
          </c:val>
        </c:ser>
        <c:dLbls>
          <c:numFmt formatCode="0&quot;%&quot;" sourceLinked="0"/>
          <c:txPr>
            <a:bodyPr/>
            <a:lstStyle/>
            <a:p>
              <a:pPr>
                <a:defRPr b="0" i="0" strike="noStrike" sz="1200" u="none">
                  <a:solidFill>
                    <a:srgbClr val="2A0B2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7516B"/>
                </a:solidFill>
                <a:latin typeface="Arial"/>
              </a:defRPr>
            </a:pPr>
            <a:endParaRPr lang="en-US"/>
          </a:p>
        </c:txPr>
        <c:crossAx val="2094734552"/>
        <c:crosses val="autoZero"/>
        <c:auto val="1"/>
        <c:lblAlgn val="ctr"/>
        <c:noMultiLvlLbl val="1"/>
      </c:catAx>
      <c:valAx>
        <c:axId val="2094734552"/>
        <c:scaling>
          <c:orientation val="minMax"/>
          <c:max val="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B1248"/>
                </a:solidFill>
                <a:latin typeface="Arial"/>
              </a:defRPr>
            </a:pPr>
            <a:r>
              <a:rPr sz="1400" b="0" i="0" u="none" strike="noStrike">
                <a:solidFill>
                  <a:srgbClr val="4B1248"/>
                </a:solidFill>
                <a:latin typeface="Arial"/>
              </a:rPr>
              <a:t>Running profit, ₹, over the first 26 weeks</a:t>
            </a:r>
          </a:p>
        </c:rich>
      </c:tx>
      <c:layout/>
      <c:overlay val="0"/>
    </c:title>
    <c:autoTitleDeleted val="0"/>
    <c:plotArea>
      <c:layout/>
      <c:lineChart>
        <c:varyColors val="0"/>
        <c:ser>
          <c:idx val="0"/>
          <c:order val="0"/>
          <c:tx>
            <c:strRef>
              <c:f>Sheet1!$B$1</c:f>
              <c:strCache>
                <c:ptCount val="1"/>
                <c:pt idx="0">
                  <c:v>Start at ₹209, good product (4.1 stars)</c:v>
                </c:pt>
              </c:strCache>
            </c:strRef>
          </c:tx>
          <c:spPr>
            <a:solidFill>
              <a:srgbClr val="C2185B"/>
            </a:solidFill>
            <a:ln w="38100" cap="flat">
              <a:solidFill>
                <a:srgbClr val="C218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2185B"/>
              </a:solidFill>
              <a:ln w="9525" cap="flat">
                <a:solidFill>
                  <a:srgbClr val="C2185B"/>
                </a:solidFill>
                <a:prstDash val="solid"/>
                <a:round/>
              </a:ln>
              <a:effectLst/>
            </c:spPr>
          </c:marker>
          <c:cat>
            <c:multiLvlStrRef>
              <c:f>Sheet1!$A$2:$A$28</c:f>
              <c:multiLvlStrCache>
                <c:ptCount val="2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lvl>
              </c:multiLvlStrCache>
            </c:multiLvlStrRef>
          </c:cat>
          <c:val>
            <c:numRef>
              <c:f>Sheet1!$B$2:$B$28</c:f>
              <c:numCache>
                <c:formatCode>General</c:formatCode>
                <c:ptCount val="27"/>
                <c:pt idx="0">
                  <c:v>0</c:v>
                </c:pt>
                <c:pt idx="1">
                  <c:v>742</c:v>
                </c:pt>
                <c:pt idx="2">
                  <c:v>1452</c:v>
                </c:pt>
                <c:pt idx="3">
                  <c:v>2026</c:v>
                </c:pt>
                <c:pt idx="4">
                  <c:v>2624</c:v>
                </c:pt>
                <c:pt idx="5">
                  <c:v>3074</c:v>
                </c:pt>
                <c:pt idx="6">
                  <c:v>3534</c:v>
                </c:pt>
                <c:pt idx="7">
                  <c:v>4003</c:v>
                </c:pt>
                <c:pt idx="8">
                  <c:v>4481</c:v>
                </c:pt>
                <c:pt idx="9">
                  <c:v>4966</c:v>
                </c:pt>
                <c:pt idx="10">
                  <c:v>5460</c:v>
                </c:pt>
                <c:pt idx="11">
                  <c:v>5961</c:v>
                </c:pt>
                <c:pt idx="12">
                  <c:v>6468</c:v>
                </c:pt>
                <c:pt idx="13">
                  <c:v>6982</c:v>
                </c:pt>
                <c:pt idx="14">
                  <c:v>7502</c:v>
                </c:pt>
                <c:pt idx="15">
                  <c:v>8028</c:v>
                </c:pt>
                <c:pt idx="16">
                  <c:v>8560</c:v>
                </c:pt>
                <c:pt idx="17">
                  <c:v>9097</c:v>
                </c:pt>
                <c:pt idx="18">
                  <c:v>9639</c:v>
                </c:pt>
                <c:pt idx="19">
                  <c:v>10186</c:v>
                </c:pt>
                <c:pt idx="20">
                  <c:v>10738</c:v>
                </c:pt>
                <c:pt idx="21">
                  <c:v>11295</c:v>
                </c:pt>
                <c:pt idx="22">
                  <c:v>11856</c:v>
                </c:pt>
                <c:pt idx="23">
                  <c:v>12422</c:v>
                </c:pt>
                <c:pt idx="24">
                  <c:v>12991</c:v>
                </c:pt>
                <c:pt idx="25">
                  <c:v>13565</c:v>
                </c:pt>
                <c:pt idx="26">
                  <c:v>14143</c:v>
                </c:pt>
              </c:numCache>
            </c:numRef>
          </c:val>
          <c:smooth val="0"/>
        </c:ser>
        <c:ser>
          <c:idx val="1"/>
          <c:order val="1"/>
          <c:tx>
            <c:strRef>
              <c:f>Sheet1!$C$1</c:f>
              <c:strCache>
                <c:ptCount val="1"/>
                <c:pt idx="0">
                  <c:v>Start at ₹209, weak product (3.5 stars)</c:v>
                </c:pt>
              </c:strCache>
            </c:strRef>
          </c:tx>
          <c:spPr>
            <a:solidFill>
              <a:srgbClr val="F2A7C6"/>
            </a:solidFill>
            <a:ln w="38100" cap="flat">
              <a:solidFill>
                <a:srgbClr val="F2A7C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A7C6"/>
              </a:solidFill>
              <a:ln w="9525" cap="flat">
                <a:solidFill>
                  <a:srgbClr val="F2A7C6"/>
                </a:solidFill>
                <a:prstDash val="solid"/>
                <a:round/>
              </a:ln>
              <a:effectLst/>
            </c:spPr>
          </c:marker>
          <c:cat>
            <c:multiLvlStrRef>
              <c:f>Sheet1!$A$2:$A$28</c:f>
              <c:multiLvlStrCache>
                <c:ptCount val="2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lvl>
              </c:multiLvlStrCache>
            </c:multiLvlStrRef>
          </c:cat>
          <c:val>
            <c:numRef>
              <c:f>Sheet1!$C$2:$C$28</c:f>
              <c:numCache>
                <c:formatCode>General</c:formatCode>
                <c:ptCount val="27"/>
                <c:pt idx="0">
                  <c:v>0</c:v>
                </c:pt>
                <c:pt idx="1">
                  <c:v>273</c:v>
                </c:pt>
                <c:pt idx="2">
                  <c:v>502</c:v>
                </c:pt>
                <c:pt idx="3">
                  <c:v>680</c:v>
                </c:pt>
                <c:pt idx="4">
                  <c:v>860</c:v>
                </c:pt>
                <c:pt idx="5">
                  <c:v>994</c:v>
                </c:pt>
                <c:pt idx="6">
                  <c:v>1128</c:v>
                </c:pt>
                <c:pt idx="7">
                  <c:v>1263</c:v>
                </c:pt>
                <c:pt idx="8">
                  <c:v>1399</c:v>
                </c:pt>
                <c:pt idx="9">
                  <c:v>1536</c:v>
                </c:pt>
                <c:pt idx="10">
                  <c:v>1673</c:v>
                </c:pt>
                <c:pt idx="11">
                  <c:v>1811</c:v>
                </c:pt>
                <c:pt idx="12">
                  <c:v>1950</c:v>
                </c:pt>
                <c:pt idx="13">
                  <c:v>2089</c:v>
                </c:pt>
                <c:pt idx="14">
                  <c:v>2228</c:v>
                </c:pt>
                <c:pt idx="15">
                  <c:v>2368</c:v>
                </c:pt>
                <c:pt idx="16">
                  <c:v>2509</c:v>
                </c:pt>
                <c:pt idx="17">
                  <c:v>2649</c:v>
                </c:pt>
                <c:pt idx="18">
                  <c:v>2790</c:v>
                </c:pt>
                <c:pt idx="19">
                  <c:v>2932</c:v>
                </c:pt>
                <c:pt idx="20">
                  <c:v>3074</c:v>
                </c:pt>
                <c:pt idx="21">
                  <c:v>3215</c:v>
                </c:pt>
                <c:pt idx="22">
                  <c:v>3358</c:v>
                </c:pt>
                <c:pt idx="23">
                  <c:v>3500</c:v>
                </c:pt>
                <c:pt idx="24">
                  <c:v>3643</c:v>
                </c:pt>
                <c:pt idx="25">
                  <c:v>3786</c:v>
                </c:pt>
                <c:pt idx="26">
                  <c:v>3929</c:v>
                </c:pt>
              </c:numCache>
            </c:numRef>
          </c:val>
          <c:smooth val="0"/>
        </c:ser>
        <c:ser>
          <c:idx val="2"/>
          <c:order val="2"/>
          <c:tx>
            <c:strRef>
              <c:f>Sheet1!$D$1</c:f>
              <c:strCache>
                <c:ptCount val="1"/>
                <c:pt idx="0">
                  <c:v>Launch at ₹129, good product</c:v>
                </c:pt>
              </c:strCache>
            </c:strRef>
          </c:tx>
          <c:spPr>
            <a:solidFill>
              <a:srgbClr val="5B2A86"/>
            </a:solidFill>
            <a:ln w="38100" cap="flat">
              <a:solidFill>
                <a:srgbClr val="5B2A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2A86"/>
              </a:solidFill>
              <a:ln w="9525" cap="flat">
                <a:solidFill>
                  <a:srgbClr val="5B2A86"/>
                </a:solidFill>
                <a:prstDash val="solid"/>
                <a:round/>
              </a:ln>
              <a:effectLst/>
            </c:spPr>
          </c:marker>
          <c:cat>
            <c:multiLvlStrRef>
              <c:f>Sheet1!$A$2:$A$28</c:f>
              <c:multiLvlStrCache>
                <c:ptCount val="2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lvl>
              </c:multiLvlStrCache>
            </c:multiLvlStrRef>
          </c:cat>
          <c:val>
            <c:numRef>
              <c:f>Sheet1!$D$2:$D$28</c:f>
              <c:numCache>
                <c:formatCode>General</c:formatCode>
                <c:ptCount val="27"/>
                <c:pt idx="0">
                  <c:v>0</c:v>
                </c:pt>
                <c:pt idx="1">
                  <c:v>-440</c:v>
                </c:pt>
                <c:pt idx="2">
                  <c:v>-1063</c:v>
                </c:pt>
                <c:pt idx="3">
                  <c:v>-1599</c:v>
                </c:pt>
                <c:pt idx="4">
                  <c:v>-2175</c:v>
                </c:pt>
                <c:pt idx="5">
                  <c:v>-1426</c:v>
                </c:pt>
                <c:pt idx="6">
                  <c:v>-752</c:v>
                </c:pt>
                <c:pt idx="7">
                  <c:v>-116</c:v>
                </c:pt>
                <c:pt idx="8">
                  <c:v>498</c:v>
                </c:pt>
                <c:pt idx="9">
                  <c:v>1101</c:v>
                </c:pt>
                <c:pt idx="10">
                  <c:v>1700</c:v>
                </c:pt>
                <c:pt idx="11">
                  <c:v>2297</c:v>
                </c:pt>
                <c:pt idx="12">
                  <c:v>2894</c:v>
                </c:pt>
                <c:pt idx="13">
                  <c:v>3493</c:v>
                </c:pt>
                <c:pt idx="14">
                  <c:v>4094</c:v>
                </c:pt>
                <c:pt idx="15">
                  <c:v>4697</c:v>
                </c:pt>
                <c:pt idx="16">
                  <c:v>5304</c:v>
                </c:pt>
                <c:pt idx="17">
                  <c:v>5913</c:v>
                </c:pt>
                <c:pt idx="18">
                  <c:v>6525</c:v>
                </c:pt>
                <c:pt idx="19">
                  <c:v>7139</c:v>
                </c:pt>
                <c:pt idx="20">
                  <c:v>7757</c:v>
                </c:pt>
                <c:pt idx="21">
                  <c:v>8377</c:v>
                </c:pt>
                <c:pt idx="22">
                  <c:v>9000</c:v>
                </c:pt>
                <c:pt idx="23">
                  <c:v>9625</c:v>
                </c:pt>
                <c:pt idx="24">
                  <c:v>10253</c:v>
                </c:pt>
                <c:pt idx="25">
                  <c:v>10884</c:v>
                </c:pt>
                <c:pt idx="26">
                  <c:v>11517</c:v>
                </c:pt>
              </c:numCache>
            </c:numRef>
          </c:val>
          <c:smooth val="0"/>
        </c:ser>
        <c:ser>
          <c:idx val="3"/>
          <c:order val="3"/>
          <c:tx>
            <c:strRef>
              <c:f>Sheet1!$E$1</c:f>
              <c:strCache>
                <c:ptCount val="1"/>
                <c:pt idx="0">
                  <c:v>Launch at ₹129, weak product</c:v>
                </c:pt>
              </c:strCache>
            </c:strRef>
          </c:tx>
          <c:spPr>
            <a:solidFill>
              <a:srgbClr val="BBA6DA"/>
            </a:solidFill>
            <a:ln w="38100" cap="flat">
              <a:solidFill>
                <a:srgbClr val="BBA6D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BA6DA"/>
              </a:solidFill>
              <a:ln w="9525" cap="flat">
                <a:solidFill>
                  <a:srgbClr val="BBA6DA"/>
                </a:solidFill>
                <a:prstDash val="solid"/>
                <a:round/>
              </a:ln>
              <a:effectLst/>
            </c:spPr>
          </c:marker>
          <c:cat>
            <c:multiLvlStrRef>
              <c:f>Sheet1!$A$2:$A$28</c:f>
              <c:multiLvlStrCache>
                <c:ptCount val="2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lvl>
              </c:multiLvlStrCache>
            </c:multiLvlStrRef>
          </c:cat>
          <c:val>
            <c:numRef>
              <c:f>Sheet1!$E$2:$E$28</c:f>
              <c:numCache>
                <c:formatCode>General</c:formatCode>
                <c:ptCount val="27"/>
                <c:pt idx="0">
                  <c:v>0</c:v>
                </c:pt>
                <c:pt idx="1">
                  <c:v>-270</c:v>
                </c:pt>
                <c:pt idx="2">
                  <c:v>-548</c:v>
                </c:pt>
                <c:pt idx="3">
                  <c:v>-766</c:v>
                </c:pt>
                <c:pt idx="4">
                  <c:v>-988</c:v>
                </c:pt>
                <c:pt idx="5">
                  <c:v>-823</c:v>
                </c:pt>
                <c:pt idx="6">
                  <c:v>-667</c:v>
                </c:pt>
                <c:pt idx="7">
                  <c:v>-517</c:v>
                </c:pt>
                <c:pt idx="8">
                  <c:v>-369</c:v>
                </c:pt>
                <c:pt idx="9">
                  <c:v>-223</c:v>
                </c:pt>
                <c:pt idx="10">
                  <c:v>-78</c:v>
                </c:pt>
                <c:pt idx="11">
                  <c:v>67</c:v>
                </c:pt>
                <c:pt idx="12">
                  <c:v>211</c:v>
                </c:pt>
                <c:pt idx="13">
                  <c:v>355</c:v>
                </c:pt>
                <c:pt idx="14">
                  <c:v>499</c:v>
                </c:pt>
                <c:pt idx="15">
                  <c:v>644</c:v>
                </c:pt>
                <c:pt idx="16">
                  <c:v>788</c:v>
                </c:pt>
                <c:pt idx="17">
                  <c:v>933</c:v>
                </c:pt>
                <c:pt idx="18">
                  <c:v>1078</c:v>
                </c:pt>
                <c:pt idx="19">
                  <c:v>1223</c:v>
                </c:pt>
                <c:pt idx="20">
                  <c:v>1368</c:v>
                </c:pt>
                <c:pt idx="21">
                  <c:v>1513</c:v>
                </c:pt>
                <c:pt idx="22">
                  <c:v>1659</c:v>
                </c:pt>
                <c:pt idx="23">
                  <c:v>1804</c:v>
                </c:pt>
                <c:pt idx="24">
                  <c:v>1950</c:v>
                </c:pt>
                <c:pt idx="25">
                  <c:v>2095</c:v>
                </c:pt>
                <c:pt idx="26">
                  <c:v>2241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7516B"/>
                    </a:solidFill>
                    <a:latin typeface="Arial"/>
                  </a:defRPr>
                </a:pPr>
                <a:r>
                  <a:rPr sz="1200" b="0" i="0" u="none" strike="noStrike">
                    <a:solidFill>
                      <a:srgbClr val="67516B"/>
                    </a:solidFill>
                    <a:latin typeface="Arial"/>
                  </a:rPr>
                  <a:t>Weeks since launch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751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CE3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751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A0B2F"/>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B1248"/>
                </a:solidFill>
                <a:latin typeface="Arial"/>
              </a:defRPr>
            </a:pPr>
            <a:r>
              <a:rPr sz="1400" b="0" i="0" u="none" strike="noStrike">
                <a:solidFill>
                  <a:srgbClr val="4B1248"/>
                </a:solidFill>
                <a:latin typeface="Arial"/>
              </a:rPr>
              <a:t>Orders lost per impression when the price rises 10%</a:t>
            </a:r>
          </a:p>
        </c:rich>
      </c:tx>
      <c:layout/>
      <c:overlay val="0"/>
    </c:title>
    <c:autoTitleDeleted val="0"/>
    <c:plotArea>
      <c:layout/>
      <c:barChart>
        <c:barDir val="bar"/>
        <c:grouping val="clustered"/>
        <c:varyColors val="0"/>
        <c:ser>
          <c:idx val="0"/>
          <c:order val="0"/>
          <c:tx>
            <c:strRef>
              <c:f>Sheet1!$B$1</c:f>
              <c:strCache>
                <c:ptCount val="1"/>
                <c:pt idx="0">
                  <c:v>Learnt within each listing</c:v>
                </c:pt>
              </c:strCache>
            </c:strRef>
          </c:tx>
          <c:spPr>
            <a:solidFill>
              <a:srgbClr val="4B1248"/>
            </a:solidFill>
            <a:effectLst/>
          </c:spPr>
          <c:invertIfNegative val="0"/>
          <c:dLbls>
            <c:numFmt formatCode="0&quot;%&quot;" sourceLinked="0"/>
            <c:txPr>
              <a:bodyPr/>
              <a:lstStyle/>
              <a:p>
                <a:pPr>
                  <a:defRPr b="0" i="0" strike="noStrike" sz="1200" u="none">
                    <a:solidFill>
                      <a:srgbClr val="2A0B2F"/>
                    </a:solidFill>
                    <a:latin typeface="Arial"/>
                  </a:defRPr>
                </a:pPr>
              </a:p>
            </c:txPr>
            <c:showLegendKey val="0"/>
            <c:showVal val="1"/>
            <c:showCatName val="0"/>
            <c:showSerName val="0"/>
            <c:showPercent val="0"/>
            <c:showBubbleSize val="0"/>
            <c:showLeaderLines val="0"/>
          </c:dLbls>
          <c:cat>
            <c:multiLvlStrRef>
              <c:f>Sheet1!$A$2:$A$3</c:f>
              <c:multiLvlStrCache>
                <c:ptCount val="2"/>
                <c:lvl>
                  <c:pt idx="0">
                    <c:v>Soap</c:v>
                  </c:pt>
                  <c:pt idx="1">
                    <c:v>T-shirt</c:v>
                  </c:pt>
                </c:lvl>
              </c:multiLvlStrCache>
            </c:multiLvlStrRef>
          </c:cat>
          <c:val>
            <c:numRef>
              <c:f>Sheet1!$B$2:$B$3</c:f>
              <c:numCache>
                <c:formatCode>General</c:formatCode>
                <c:ptCount val="2"/>
                <c:pt idx="0">
                  <c:v>20</c:v>
                </c:pt>
                <c:pt idx="1">
                  <c:v>26</c:v>
                </c:pt>
              </c:numCache>
            </c:numRef>
          </c:val>
        </c:ser>
        <c:ser>
          <c:idx val="1"/>
          <c:order val="1"/>
          <c:tx>
            <c:strRef>
              <c:f>Sheet1!$C$1</c:f>
              <c:strCache>
                <c:ptCount val="1"/>
                <c:pt idx="0">
                  <c:v>Comparing different listings</c:v>
                </c:pt>
              </c:strCache>
            </c:strRef>
          </c:tx>
          <c:spPr>
            <a:solidFill>
              <a:srgbClr val="F2A7C6"/>
            </a:solidFill>
            <a:effectLst/>
          </c:spPr>
          <c:invertIfNegative val="0"/>
          <c:dLbls>
            <c:numFmt formatCode="0&quot;%&quot;" sourceLinked="0"/>
            <c:txPr>
              <a:bodyPr/>
              <a:lstStyle/>
              <a:p>
                <a:pPr>
                  <a:defRPr b="0" i="0" strike="noStrike" sz="1200" u="none">
                    <a:solidFill>
                      <a:srgbClr val="2A0B2F"/>
                    </a:solidFill>
                    <a:latin typeface="Arial"/>
                  </a:defRPr>
                </a:pPr>
              </a:p>
            </c:txPr>
            <c:showLegendKey val="0"/>
            <c:showVal val="1"/>
            <c:showCatName val="0"/>
            <c:showSerName val="0"/>
            <c:showPercent val="0"/>
            <c:showBubbleSize val="0"/>
            <c:showLeaderLines val="0"/>
          </c:dLbls>
          <c:cat>
            <c:multiLvlStrRef>
              <c:f>Sheet1!$A$2:$A$3</c:f>
              <c:multiLvlStrCache>
                <c:ptCount val="2"/>
                <c:lvl>
                  <c:pt idx="0">
                    <c:v>Soap</c:v>
                  </c:pt>
                  <c:pt idx="1">
                    <c:v>T-shirt</c:v>
                  </c:pt>
                </c:lvl>
              </c:multiLvlStrCache>
            </c:multiLvlStrRef>
          </c:cat>
          <c:val>
            <c:numRef>
              <c:f>Sheet1!$C$2:$C$3</c:f>
              <c:numCache>
                <c:formatCode>General</c:formatCode>
                <c:ptCount val="2"/>
                <c:pt idx="0">
                  <c:v>7</c:v>
                </c:pt>
                <c:pt idx="1">
                  <c:v>10</c:v>
                </c:pt>
              </c:numCache>
            </c:numRef>
          </c:val>
        </c:ser>
        <c:dLbls>
          <c:numFmt formatCode="0&quot;%&quot;" sourceLinked="0"/>
          <c:txPr>
            <a:bodyPr/>
            <a:lstStyle/>
            <a:p>
              <a:pPr>
                <a:defRPr b="0" i="0" strike="noStrike" sz="1200" u="none">
                  <a:solidFill>
                    <a:srgbClr val="2A0B2F"/>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A0B2F"/>
                </a:solidFill>
                <a:latin typeface="Arial"/>
              </a:defRPr>
            </a:pPr>
            <a:endParaRPr lang="en-US"/>
          </a:p>
        </c:txPr>
        <c:crossAx val="2094734552"/>
        <c:crosses val="autoZero"/>
        <c:auto val="1"/>
        <c:lblAlgn val="ctr"/>
        <c:noMultiLvlLbl val="1"/>
      </c:catAx>
      <c:valAx>
        <c:axId val="2094734552"/>
        <c:scaling>
          <c:orientation val="minMax"/>
          <c:max val="3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B1248"/>
                </a:solidFill>
                <a:latin typeface="Arial"/>
              </a:defRPr>
            </a:pPr>
            <a:r>
              <a:rPr sz="1400" b="0" i="0" u="none" strike="noStrike">
                <a:solidFill>
                  <a:srgbClr val="4B1248"/>
                </a:solidFill>
                <a:latin typeface="Arial"/>
              </a:rPr>
              <a:t>Error predicting 8-week orders on held-out listings</a:t>
            </a:r>
          </a:p>
        </c:rich>
      </c:tx>
      <c:layout/>
      <c:overlay val="0"/>
    </c:title>
    <c:autoTitleDeleted val="0"/>
    <c:plotArea>
      <c:layout/>
      <c:barChart>
        <c:barDir val="bar"/>
        <c:grouping val="clustered"/>
        <c:varyColors val="0"/>
        <c:ser>
          <c:idx val="0"/>
          <c:order val="0"/>
          <c:tx>
            <c:strRef>
              <c:f>Sheet1!$B$1</c:f>
              <c:strCache>
                <c:ptCount val="1"/>
                <c:pt idx="0">
                  <c:v>Our models</c:v>
                </c:pt>
              </c:strCache>
            </c:strRef>
          </c:tx>
          <c:spPr>
            <a:solidFill>
              <a:srgbClr val="4B1248"/>
            </a:solidFill>
            <a:effectLst/>
          </c:spPr>
          <c:invertIfNegative val="0"/>
          <c:dLbls>
            <c:numFmt formatCode="0&quot;%&quot;" sourceLinked="0"/>
            <c:txPr>
              <a:bodyPr/>
              <a:lstStyle/>
              <a:p>
                <a:pPr>
                  <a:defRPr b="0" i="0" strike="noStrike" sz="1200" u="none">
                    <a:solidFill>
                      <a:srgbClr val="2A0B2F"/>
                    </a:solidFill>
                    <a:latin typeface="Arial"/>
                  </a:defRPr>
                </a:pPr>
              </a:p>
            </c:txPr>
            <c:showLegendKey val="0"/>
            <c:showVal val="1"/>
            <c:showCatName val="0"/>
            <c:showSerName val="0"/>
            <c:showPercent val="0"/>
            <c:showBubbleSize val="0"/>
            <c:showLeaderLines val="0"/>
          </c:dLbls>
          <c:cat>
            <c:multiLvlStrRef>
              <c:f>Sheet1!$A$2:$A$3</c:f>
              <c:multiLvlStrCache>
                <c:ptCount val="2"/>
                <c:lvl>
                  <c:pt idx="0">
                    <c:v>Soap</c:v>
                  </c:pt>
                  <c:pt idx="1">
                    <c:v>T-shirt</c:v>
                  </c:pt>
                </c:lvl>
              </c:multiLvlStrCache>
            </c:multiLvlStrRef>
          </c:cat>
          <c:val>
            <c:numRef>
              <c:f>Sheet1!$B$2:$B$3</c:f>
              <c:numCache>
                <c:formatCode>General</c:formatCode>
                <c:ptCount val="2"/>
                <c:pt idx="0">
                  <c:v>31</c:v>
                </c:pt>
                <c:pt idx="1">
                  <c:v>41</c:v>
                </c:pt>
              </c:numCache>
            </c:numRef>
          </c:val>
        </c:ser>
        <c:ser>
          <c:idx val="1"/>
          <c:order val="1"/>
          <c:tx>
            <c:strRef>
              <c:f>Sheet1!$C$1</c:f>
              <c:strCache>
                <c:ptCount val="1"/>
                <c:pt idx="0">
                  <c:v>Simple average</c:v>
                </c:pt>
              </c:strCache>
            </c:strRef>
          </c:tx>
          <c:spPr>
            <a:solidFill>
              <a:srgbClr val="F2A7C6"/>
            </a:solidFill>
            <a:effectLst/>
          </c:spPr>
          <c:invertIfNegative val="0"/>
          <c:dLbls>
            <c:numFmt formatCode="0&quot;%&quot;" sourceLinked="0"/>
            <c:txPr>
              <a:bodyPr/>
              <a:lstStyle/>
              <a:p>
                <a:pPr>
                  <a:defRPr b="0" i="0" strike="noStrike" sz="1200" u="none">
                    <a:solidFill>
                      <a:srgbClr val="2A0B2F"/>
                    </a:solidFill>
                    <a:latin typeface="Arial"/>
                  </a:defRPr>
                </a:pPr>
              </a:p>
            </c:txPr>
            <c:showLegendKey val="0"/>
            <c:showVal val="1"/>
            <c:showCatName val="0"/>
            <c:showSerName val="0"/>
            <c:showPercent val="0"/>
            <c:showBubbleSize val="0"/>
            <c:showLeaderLines val="0"/>
          </c:dLbls>
          <c:cat>
            <c:multiLvlStrRef>
              <c:f>Sheet1!$A$2:$A$3</c:f>
              <c:multiLvlStrCache>
                <c:ptCount val="2"/>
                <c:lvl>
                  <c:pt idx="0">
                    <c:v>Soap</c:v>
                  </c:pt>
                  <c:pt idx="1">
                    <c:v>T-shirt</c:v>
                  </c:pt>
                </c:lvl>
              </c:multiLvlStrCache>
            </c:multiLvlStrRef>
          </c:cat>
          <c:val>
            <c:numRef>
              <c:f>Sheet1!$C$2:$C$3</c:f>
              <c:numCache>
                <c:formatCode>General</c:formatCode>
                <c:ptCount val="2"/>
                <c:pt idx="0">
                  <c:v>153</c:v>
                </c:pt>
                <c:pt idx="1">
                  <c:v>87</c:v>
                </c:pt>
              </c:numCache>
            </c:numRef>
          </c:val>
        </c:ser>
        <c:dLbls>
          <c:numFmt formatCode="0&quot;%&quot;" sourceLinked="0"/>
          <c:txPr>
            <a:bodyPr/>
            <a:lstStyle/>
            <a:p>
              <a:pPr>
                <a:defRPr b="0" i="0" strike="noStrike" sz="1200" u="none">
                  <a:solidFill>
                    <a:srgbClr val="2A0B2F"/>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A0B2F"/>
                </a:solidFill>
                <a:latin typeface="Arial"/>
              </a:defRPr>
            </a:pPr>
            <a:endParaRPr lang="en-US"/>
          </a:p>
        </c:txPr>
        <c:crossAx val="2094734552"/>
        <c:crosses val="autoZero"/>
        <c:auto val="1"/>
        <c:lblAlgn val="ctr"/>
        <c:noMultiLvlLbl val="1"/>
      </c:catAx>
      <c:valAx>
        <c:axId val="2094734552"/>
        <c:scaling>
          <c:orientation val="minMax"/>
          <c:max val="18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Confidence: a pricing assistant for sellers moving from offline to Meesho. Story: what sellers get wrong today, how a seller should reach a price, how it should move over the product's life, and what Meesho can build, with a working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sellers told us how they price. Material is always counted; returns and advertising almost never. Seller 1's own stack shows Rs 135 of a Rs 485 order going to shipping, packaging, returns and ads. Seller 6 prices at cost on purpose to buy ratings, but his number misses packaging, returns and the free bar. After listing, sellers only apply discounts; the base price is never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the case: how a seller arrives at a number. Step 1, the floor, is arithmetic: the seller types only what Meesho cannot know (making cost, packaging, free gifts); Meesho fills delivery fee, return and RTO rates and GST from its own data. RTO and returns are spread over the orders that actually get paid. Steps 2 to 4 use the market and the product. Launching below the floor is allowed, but only as an explicit, budgeted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real seller, end to end. The bill shows why his Rs 134 loses money: only about 84 of 100 parcels get paid for, so packaging, delivery, returns and his free bar are spread over those 84. Floor Rs 145. Soaps mostly sell between Rs 149 and Rs 228. At Rs 209 we expect about 69 orders placed in 12 weeks; about 58 are paid, at about Rs 61 each, which is the Rs 3,537 profit. Rs 229 earns slightly more but Rs 209 is within 5% and brings more orders, so reviews come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not a one-time act. Five moments: launch, discovery, growth, sales and festivals, and maturity, each with a concrete move. Growth moves the price up: in our demo data a 4.1-star listing with 30+ reviews holds its sales at about 8% more, a finding to validate on real data. The funnel table shows why: the seller sees 'no orders', Meesho sees where buyers drop off, and only some drop-offs are price problems. Reviews add a second signal: negative reviews mention price far more often once the price sits well above the typical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took 'sell at a loss first' seriously. All launch-window figures use the good-product lines, the solid ones on the chart: at week 4 the low launch is at minus Rs 2,175 against plus Rs 2,624 for starting at Rs 209, a Rs 4,799 gap for about 20 extra reviews, so about Rs 235 each. It never catches up within 26 weeks, for good, typical or weak products, and the data simulator agrees. A gentler discount that stays just above the floor buys reviews far more cheaply. Similar listings show low launches only pay for products that end up well rated, so the tool attaches a stop rule. When costs are far above the market, a loss budget only buys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URLs: [1] https://sellercentral.amazon.com/seller-forums/discussions/t/4ec08833-1828-49da-bfa0-28e93937c3a3 [2] https://meesho.io/blog/tech-pricing-recommendation-tool-bharat-sellers [3] https://www.zenml.io/llmops-database/building-price-prediction-and-similar-item-search-models-for-e-commerce [4] https://www.kaggle.com/c/mercari-price-suggestion-challenge [5] https://videolectures.net/kdd2018_ye_airbnb_dynamic_pricing [6] https://chainstoreage.com/flipkart-becomes-artificial-intelligence-provider [7] https://competera.ai/platform. Every serious pricing tool uses AI, but almost all of it points at the market: finding look-alike products and predicting what will sell. The pink column is the gap: nobody models the seller's own cost to serve, which is exactly what a first-time Meesho seller gets wrong. On the right side, the same four questions for every tool: price for a new product, returns/RTO/GST, updates later, and the seller's profit. Only Price Confidence answers yes to all four, for a product with no sales history. Backend notes: Amazon sellers share one product page, so its repricer needs no matching and follows the Featured Offer. Flipkart Commerce Cloud tracks rivals, learns elasticity from sales history and treats cost as the floor. eBay uses transformer embeddings to find recently sold look-alikes and predicts price from them. Mercari prices from listing text; Smart Pricing steps the price down to the seller's floor. Airbnb uses gradient-boosted booking-probability models plus a pricing model and host rules. Competera matches rival products and optimises on elasticity from years of sales. Meesho's Price Recommendation finds identical products by image and by attributes/text and suggests a price that will sell. Price Confidence reuses that matching and adds a return and RTO model, a cost model that sets the floor, and rules that guard it; the optimiser is half because full profit optimisation needs pilot data. Dots: full = documented publicly, half = partial evidence, ring = not public (it may exist, we cannot confirm). Ideas we borrow: a hard floor crossed only on purpose, a chance-of-sale view, and an alert when a price sits at its floor without 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Meesho already recommends prices by matching identical listings. That tells a seller what will sell, not whether it makes money for them. Price Confidence sits on top: the seller types only what Meesho cannot know (making cost, packaging, free gifts); Meesho fills delivery fees, return and RTO rates, GST and the market band. The seller sees one price tag first, and opens the details only if they want them. Click the picture, the button or scan the QR code to watch our recorded demo of the working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chained together. A2: how many people see the listing each week. A1: how many of them order at a given price; it is a rate per impression, so exposure is handled through an offset and more views are never mistaken for better conversion. B: how many of those orders get paid and reviewed. The design rule for all three: each listing gets its own baseline, so effects are learnt from a listing changing over time, not from comparing good products with bad ones; comparing listings hides most of the price effect. We also ran Seller 6's soap through the simulator that generated the data: it agrees that launching below the floor loses money for every kind of product. Our models are more cautious than the simulator about discounts above the floor, because sellers in the data cut prices when sales are slow, which blurs the price effect; the pilot's randomised price tests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judge success on net seller profit per 1,000 views, with guardrails so buyers are not hurt and sellers are not pushed away. The pilot also runs small randomised price tests, because in historical data sellers cut prices when sales are slow, which makes price look weaker than it is. The biggest risks are data and trust: retrain on Meesho's own history, learn price within listings, and always show the working with the seller in control. The 30-day step needs the seller's own costs, which they type in, plus fees, return and RTO rates and GST, which Meesho already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5-image-1.jpe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6-image-1.jpe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3" Type="http://schemas.openxmlformats.org/officeDocument/2006/relationships/hyperlink" Target="https://sellercentral.amazon.com/seller-forums/discussions/t/4ec08833-1828-49da-bfa0-28e93937c3a3" TargetMode="External"/><Relationship Id="rId54" Type="http://schemas.openxmlformats.org/officeDocument/2006/relationships/hyperlink" Target="https://meesho.io/blog/tech-pricing-recommendation-tool-bharat-sellers" TargetMode="External"/><Relationship Id="rId55" Type="http://schemas.openxmlformats.org/officeDocument/2006/relationships/hyperlink" Target="https://www.zenml.io/llmops-database/building-price-prediction-and-similar-item-search-models-for-e-commerce" TargetMode="External"/><Relationship Id="rId56" Type="http://schemas.openxmlformats.org/officeDocument/2006/relationships/hyperlink" Target="https://www.kaggle.com/c/mercari-price-suggestion-challenge" TargetMode="External"/><Relationship Id="rId57" Type="http://schemas.openxmlformats.org/officeDocument/2006/relationships/hyperlink" Target="https://videolectures.net/kdd2018_ye_airbnb_dynamic_pricing" TargetMode="External"/><Relationship Id="rId58" Type="http://schemas.openxmlformats.org/officeDocument/2006/relationships/hyperlink" Target="https://chainstoreage.com/flipkart-becomes-artificial-intelligence-provider" TargetMode="External"/><Relationship Id="rId59" Type="http://schemas.openxmlformats.org/officeDocument/2006/relationships/hyperlink" Target="https://competera.ai/platform" TargetMode="External"/><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image" Target="../media/image-7-3.png"/><Relationship Id="rId6" Type="http://schemas.openxmlformats.org/officeDocument/2006/relationships/image" Target="../media/image-7-3.png"/><Relationship Id="rId7" Type="http://schemas.openxmlformats.org/officeDocument/2006/relationships/image" Target="../media/image-7-7.png"/><Relationship Id="rId8" Type="http://schemas.openxmlformats.org/officeDocument/2006/relationships/image" Target="../media/image-7-2.png"/><Relationship Id="rId9" Type="http://schemas.openxmlformats.org/officeDocument/2006/relationships/image" Target="../media/image-7-3.png"/><Relationship Id="rId10" Type="http://schemas.openxmlformats.org/officeDocument/2006/relationships/image" Target="../media/image-7-3.png"/><Relationship Id="rId11" Type="http://schemas.openxmlformats.org/officeDocument/2006/relationships/image" Target="../media/image-7-2.png"/><Relationship Id="rId12" Type="http://schemas.openxmlformats.org/officeDocument/2006/relationships/image" Target="../media/image-7-2.png"/><Relationship Id="rId13" Type="http://schemas.openxmlformats.org/officeDocument/2006/relationships/image" Target="../media/image-7-7.png"/><Relationship Id="rId14" Type="http://schemas.openxmlformats.org/officeDocument/2006/relationships/image" Target="../media/image-7-3.png"/><Relationship Id="rId15" Type="http://schemas.openxmlformats.org/officeDocument/2006/relationships/image" Target="../media/image-7-3.png"/><Relationship Id="rId16" Type="http://schemas.openxmlformats.org/officeDocument/2006/relationships/image" Target="../media/image-7-2.png"/><Relationship Id="rId17" Type="http://schemas.openxmlformats.org/officeDocument/2006/relationships/image" Target="../media/image-7-2.png"/><Relationship Id="rId18" Type="http://schemas.openxmlformats.org/officeDocument/2006/relationships/image" Target="../media/image-7-3.png"/><Relationship Id="rId19" Type="http://schemas.openxmlformats.org/officeDocument/2006/relationships/image" Target="../media/image-7-3.png"/><Relationship Id="rId20" Type="http://schemas.openxmlformats.org/officeDocument/2006/relationships/image" Target="../media/image-7-2.png"/><Relationship Id="rId21" Type="http://schemas.openxmlformats.org/officeDocument/2006/relationships/image" Target="../media/image-7-3.png"/><Relationship Id="rId22" Type="http://schemas.openxmlformats.org/officeDocument/2006/relationships/image" Target="../media/image-7-7.png"/><Relationship Id="rId23" Type="http://schemas.openxmlformats.org/officeDocument/2006/relationships/image" Target="../media/image-7-7.png"/><Relationship Id="rId24" Type="http://schemas.openxmlformats.org/officeDocument/2006/relationships/image" Target="../media/image-7-3.png"/><Relationship Id="rId25" Type="http://schemas.openxmlformats.org/officeDocument/2006/relationships/image" Target="../media/image-7-3.png"/><Relationship Id="rId26" Type="http://schemas.openxmlformats.org/officeDocument/2006/relationships/image" Target="../media/image-7-7.png"/><Relationship Id="rId27" Type="http://schemas.openxmlformats.org/officeDocument/2006/relationships/image" Target="../media/image-7-3.png"/><Relationship Id="rId28" Type="http://schemas.openxmlformats.org/officeDocument/2006/relationships/image" Target="../media/image-7-3.png"/><Relationship Id="rId29" Type="http://schemas.openxmlformats.org/officeDocument/2006/relationships/image" Target="../media/image-7-2.png"/><Relationship Id="rId30" Type="http://schemas.openxmlformats.org/officeDocument/2006/relationships/image" Target="../media/image-7-2.png"/><Relationship Id="rId31" Type="http://schemas.openxmlformats.org/officeDocument/2006/relationships/image" Target="../media/image-7-3.png"/><Relationship Id="rId32" Type="http://schemas.openxmlformats.org/officeDocument/2006/relationships/image" Target="../media/image-7-2.png"/><Relationship Id="rId33" Type="http://schemas.openxmlformats.org/officeDocument/2006/relationships/image" Target="../media/image-7-3.png"/><Relationship Id="rId34" Type="http://schemas.openxmlformats.org/officeDocument/2006/relationships/image" Target="../media/image-7-3.png"/><Relationship Id="rId35" Type="http://schemas.openxmlformats.org/officeDocument/2006/relationships/image" Target="../media/image-7-2.png"/><Relationship Id="rId36" Type="http://schemas.openxmlformats.org/officeDocument/2006/relationships/image" Target="../media/image-7-2.png"/><Relationship Id="rId37" Type="http://schemas.openxmlformats.org/officeDocument/2006/relationships/image" Target="../media/image-7-7.png"/><Relationship Id="rId38" Type="http://schemas.openxmlformats.org/officeDocument/2006/relationships/image" Target="../media/image-7-3.png"/><Relationship Id="rId39" Type="http://schemas.openxmlformats.org/officeDocument/2006/relationships/image" Target="../media/image-7-2.png"/><Relationship Id="rId40" Type="http://schemas.openxmlformats.org/officeDocument/2006/relationships/image" Target="../media/image-7-2.png"/><Relationship Id="rId41" Type="http://schemas.openxmlformats.org/officeDocument/2006/relationships/image" Target="../media/image-7-3.png"/><Relationship Id="rId42" Type="http://schemas.openxmlformats.org/officeDocument/2006/relationships/image" Target="../media/image-7-3.png"/><Relationship Id="rId43" Type="http://schemas.openxmlformats.org/officeDocument/2006/relationships/image" Target="../media/image-7-3.png"/><Relationship Id="rId44" Type="http://schemas.openxmlformats.org/officeDocument/2006/relationships/image" Target="../media/image-7-44.png"/><Relationship Id="rId45" Type="http://schemas.openxmlformats.org/officeDocument/2006/relationships/image" Target="../media/image-7-45.png"/><Relationship Id="rId46" Type="http://schemas.openxmlformats.org/officeDocument/2006/relationships/image" Target="../media/image-7-45.png"/><Relationship Id="rId47" Type="http://schemas.openxmlformats.org/officeDocument/2006/relationships/image" Target="../media/image-7-44.png"/><Relationship Id="rId48" Type="http://schemas.openxmlformats.org/officeDocument/2006/relationships/image" Target="../media/image-7-45.png"/><Relationship Id="rId49" Type="http://schemas.openxmlformats.org/officeDocument/2006/relationships/image" Target="../media/image-7-44.png"/><Relationship Id="rId50" Type="http://schemas.openxmlformats.org/officeDocument/2006/relationships/image" Target="../media/image-7-2.png"/><Relationship Id="rId51" Type="http://schemas.openxmlformats.org/officeDocument/2006/relationships/image" Target="../media/image-7-7.png"/><Relationship Id="rId52" Type="http://schemas.openxmlformats.org/officeDocument/2006/relationships/image" Target="../media/image-7-3.png"/><Relationship Id="rId60" Type="http://schemas.openxmlformats.org/officeDocument/2006/relationships/slideLayout" Target="../slideLayouts/slideLayout1.xml"/><Relationship Id="rId6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meesho.io/blog/tech-pricing-recommendation-tool-bharat-sellers" TargetMode="External"/><Relationship Id="rId4" Type="http://schemas.openxmlformats.org/officeDocument/2006/relationships/hyperlink" Target="https://www.loom.com/share/c300fa0f2e26450d9860fd87da4de9cf" TargetMode="External"/><Relationship Id="rId6" Type="http://schemas.openxmlformats.org/officeDocument/2006/relationships/hyperlink" Target="https://www.loom.com/share/c300fa0f2e26450d9860fd87da4de9cf" TargetMode="External"/><Relationship Id="rId7" Type="http://schemas.openxmlformats.org/officeDocument/2006/relationships/hyperlink" Target="https://www.loom.com/share/c300fa0f2e26450d9860fd87da4de9cf" TargetMode="External"/><Relationship Id="rId9" Type="http://schemas.openxmlformats.org/officeDocument/2006/relationships/hyperlink" Target="https://www.loom.com/share/c300fa0f2e26450d9860fd87da4de9cf" TargetMode="External"/><Relationship Id="rId1" Type="http://schemas.openxmlformats.org/officeDocument/2006/relationships/image" Target="../media/Slide-8-image-1.jpeg"/><Relationship Id="rId3" Type="http://schemas.openxmlformats.org/officeDocument/2006/relationships/image" Target="../media/image-8-2.jpg"/><Relationship Id="rId5" Type="http://schemas.openxmlformats.org/officeDocument/2006/relationships/image" Target="../media/image-8-3.png"/><Relationship Id="rId8" Type="http://schemas.openxmlformats.org/officeDocument/2006/relationships/image" Target="../media/image-8-4.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3.xml"/><Relationship Id="rId3" Type="http://schemas.openxmlformats.org/officeDocument/2006/relationships/chart" Target="/ppt/charts/chart4.xml"/><Relationship Id="rId1" Type="http://schemas.openxmlformats.org/officeDocument/2006/relationships/image" Target="../media/Slide-9-image-1.jpe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965960" y="6144768"/>
            <a:ext cx="14356080" cy="914400"/>
          </a:xfrm>
          <a:prstGeom prst="rect">
            <a:avLst/>
          </a:prstGeom>
          <a:noFill/>
          <a:ln/>
        </p:spPr>
        <p:txBody>
          <a:bodyPr wrap="square" lIns="0" tIns="0" rIns="0" bIns="0" rtlCol="0" anchor="ctr"/>
          <a:lstStyle/>
          <a:p>
            <a:pPr algn="ctr" indent="0" marL="0">
              <a:buNone/>
            </a:pPr>
            <a:r>
              <a:rPr lang="en-US" sz="6000" b="1" dirty="0">
                <a:solidFill>
                  <a:srgbClr val="4B1248"/>
                </a:solidFill>
                <a:latin typeface="Arial" pitchFamily="34" charset="0"/>
                <a:ea typeface="Arial" pitchFamily="34" charset="-122"/>
                <a:cs typeface="Arial" pitchFamily="34" charset="-120"/>
              </a:rPr>
              <a:t>Price Confidence</a:t>
            </a:r>
            <a:endParaRPr lang="en-US" sz="6000" dirty="0"/>
          </a:p>
        </p:txBody>
      </p:sp>
      <p:sp>
        <p:nvSpPr>
          <p:cNvPr id="3" name="Text 1"/>
          <p:cNvSpPr txBox="1"/>
          <p:nvPr/>
        </p:nvSpPr>
        <p:spPr>
          <a:xfrm>
            <a:off x="1965960" y="7114032"/>
            <a:ext cx="14356080" cy="548640"/>
          </a:xfrm>
          <a:prstGeom prst="rect">
            <a:avLst/>
          </a:prstGeom>
          <a:noFill/>
          <a:ln/>
        </p:spPr>
        <p:txBody>
          <a:bodyPr wrap="square" lIns="0" tIns="0" rIns="0" bIns="0" rtlCol="0" anchor="ctr"/>
          <a:lstStyle/>
          <a:p>
            <a:pPr algn="ctr" indent="0" marL="0">
              <a:buNone/>
            </a:pPr>
            <a:r>
              <a:rPr lang="en-US" sz="2400" dirty="0">
                <a:solidFill>
                  <a:srgbClr val="2A0B2F"/>
                </a:solidFill>
                <a:latin typeface="Arial" pitchFamily="34" charset="0"/>
                <a:ea typeface="Arial" pitchFamily="34" charset="-122"/>
                <a:cs typeface="Arial" pitchFamily="34" charset="-120"/>
              </a:rPr>
              <a:t>How a new-to-online seller should set a price on Meesho, and keep resetting it</a:t>
            </a:r>
            <a:endParaRPr lang="en-US" sz="2400" dirty="0"/>
          </a:p>
        </p:txBody>
      </p:sp>
      <p:sp>
        <p:nvSpPr>
          <p:cNvPr id="4" name="Text 2"/>
          <p:cNvSpPr txBox="1"/>
          <p:nvPr/>
        </p:nvSpPr>
        <p:spPr>
          <a:xfrm>
            <a:off x="1965960" y="8001000"/>
            <a:ext cx="14356080" cy="502920"/>
          </a:xfrm>
          <a:prstGeom prst="rect">
            <a:avLst/>
          </a:prstGeom>
          <a:noFill/>
          <a:ln/>
        </p:spPr>
        <p:txBody>
          <a:bodyPr wrap="square" lIns="0" tIns="0" rIns="0" bIns="0" rtlCol="0" anchor="ctr"/>
          <a:lstStyle/>
          <a:p>
            <a:pPr algn="ctr" indent="0" marL="0">
              <a:buNone/>
            </a:pPr>
            <a:r>
              <a:rPr lang="en-US" sz="2600" b="1" dirty="0">
                <a:solidFill>
                  <a:srgbClr val="4B1248"/>
                </a:solidFill>
                <a:latin typeface="Arial" pitchFamily="34" charset="0"/>
                <a:ea typeface="Arial" pitchFamily="34" charset="-122"/>
                <a:cs typeface="Arial" pitchFamily="34" charset="-120"/>
              </a:rPr>
              <a:t>Team Edge Case, IIT Roorkee</a:t>
            </a:r>
            <a:endParaRPr lang="en-US" sz="2600" dirty="0"/>
          </a:p>
        </p:txBody>
      </p:sp>
      <p:sp>
        <p:nvSpPr>
          <p:cNvPr id="5" name="Text 3"/>
          <p:cNvSpPr txBox="1"/>
          <p:nvPr/>
        </p:nvSpPr>
        <p:spPr>
          <a:xfrm>
            <a:off x="1965960" y="8531352"/>
            <a:ext cx="14356080" cy="457200"/>
          </a:xfrm>
          <a:prstGeom prst="rect">
            <a:avLst/>
          </a:prstGeom>
          <a:noFill/>
          <a:ln/>
        </p:spPr>
        <p:txBody>
          <a:bodyPr wrap="square" lIns="0" tIns="0" rIns="0" bIns="0" rtlCol="0" anchor="ctr"/>
          <a:lstStyle/>
          <a:p>
            <a:pPr algn="ctr" indent="0" marL="0">
              <a:buNone/>
            </a:pPr>
            <a:r>
              <a:rPr lang="en-US" sz="2100" dirty="0">
                <a:solidFill>
                  <a:srgbClr val="2A0B2F"/>
                </a:solidFill>
                <a:latin typeface="Arial" pitchFamily="34" charset="0"/>
                <a:ea typeface="Arial" pitchFamily="34" charset="-122"/>
                <a:cs typeface="Arial" pitchFamily="34" charset="-120"/>
              </a:rPr>
              <a:t>Ishan Tandon   |   Malav Sanghvi   |   Niviti Sharma</a:t>
            </a:r>
            <a:endParaRPr lang="en-US" sz="2100" dirty="0"/>
          </a:p>
        </p:txBody>
      </p:sp>
      <p:sp>
        <p:nvSpPr>
          <p:cNvPr id="6" name="Text 4"/>
          <p:cNvSpPr txBox="1"/>
          <p:nvPr/>
        </p:nvSpPr>
        <p:spPr>
          <a:xfrm>
            <a:off x="1965960" y="9070848"/>
            <a:ext cx="14356080" cy="365760"/>
          </a:xfrm>
          <a:prstGeom prst="rect">
            <a:avLst/>
          </a:prstGeom>
          <a:noFill/>
          <a:ln/>
        </p:spPr>
        <p:txBody>
          <a:bodyPr wrap="square" lIns="0" tIns="0" rIns="0" bIns="0" rtlCol="0" anchor="ctr"/>
          <a:lstStyle/>
          <a:p>
            <a:pPr algn="ctr" indent="0" marL="0">
              <a:buNone/>
            </a:pPr>
            <a:r>
              <a:rPr lang="en-US" sz="1500" dirty="0">
                <a:solidFill>
                  <a:srgbClr val="67516B"/>
                </a:solidFill>
                <a:latin typeface="Arial" pitchFamily="34" charset="0"/>
                <a:ea typeface="Arial" pitchFamily="34" charset="-122"/>
                <a:cs typeface="Arial" pitchFamily="34" charset="-120"/>
              </a:rPr>
              <a:t>Detailed deck, Round 2</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indent="0" marL="0">
              <a:buNone/>
            </a:pPr>
            <a:r>
              <a:rPr lang="en-US" sz="3600" b="1" dirty="0">
                <a:solidFill>
                  <a:srgbClr val="4B1248"/>
                </a:solidFill>
                <a:latin typeface="Arial" pitchFamily="34" charset="0"/>
                <a:ea typeface="Arial" pitchFamily="34" charset="-122"/>
                <a:cs typeface="Arial" pitchFamily="34" charset="-120"/>
              </a:rPr>
              <a:t>Sellers price the parcel once, and leave out what selling online costs</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indent="0" marL="0">
              <a:buNone/>
            </a:pPr>
            <a:r>
              <a:rPr lang="en-US" sz="1700" i="1" dirty="0">
                <a:solidFill>
                  <a:srgbClr val="67516B"/>
                </a:solidFill>
                <a:latin typeface="Arial" pitchFamily="34" charset="0"/>
                <a:ea typeface="Arial" pitchFamily="34" charset="-122"/>
                <a:cs typeface="Arial" pitchFamily="34" charset="-120"/>
              </a:rPr>
              <a:t>Round 1 research: 7 detailed seller interviews, tested against 307 live Meesho listings across 8 categories</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indent="0" marL="0">
              <a:buNone/>
            </a:pPr>
            <a:r>
              <a:rPr lang="en-US" sz="1200" dirty="0">
                <a:solidFill>
                  <a:srgbClr val="67516B"/>
                </a:solidFill>
                <a:latin typeface="Arial" pitchFamily="34" charset="0"/>
                <a:ea typeface="Arial" pitchFamily="34" charset="-122"/>
                <a:cs typeface="Arial" pitchFamily="34" charset="-120"/>
              </a:rPr>
              <a:t>Sources: seller outreach on Instagram (n = 7); 307 live meesho.com listings scraped for Round 1.</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2</a:t>
            </a:r>
            <a:endParaRPr lang="en-US" sz="1200" dirty="0"/>
          </a:p>
        </p:txBody>
      </p:sp>
      <p:sp>
        <p:nvSpPr>
          <p:cNvPr id="6" name="Shape 4"/>
          <p:cNvSpPr/>
          <p:nvPr/>
        </p:nvSpPr>
        <p:spPr>
          <a:xfrm>
            <a:off x="731520" y="3886200"/>
            <a:ext cx="7040880" cy="5166360"/>
          </a:xfrm>
          <a:prstGeom prst="roundRect">
            <a:avLst>
              <a:gd name="adj" fmla="val 2124"/>
            </a:avLst>
          </a:prstGeom>
          <a:solidFill>
            <a:srgbClr val="F6EEF7"/>
          </a:solidFill>
          <a:ln w="12700">
            <a:solidFill>
              <a:srgbClr val="F6EEF7"/>
            </a:solidFill>
            <a:prstDash val="solid"/>
          </a:ln>
        </p:spPr>
      </p:sp>
      <p:sp>
        <p:nvSpPr>
          <p:cNvPr id="7" name="Text 5"/>
          <p:cNvSpPr txBox="1"/>
          <p:nvPr/>
        </p:nvSpPr>
        <p:spPr>
          <a:xfrm>
            <a:off x="1005840" y="4069080"/>
            <a:ext cx="6492240" cy="457200"/>
          </a:xfrm>
          <a:prstGeom prst="rect">
            <a:avLst/>
          </a:prstGeom>
          <a:noFill/>
          <a:ln/>
        </p:spPr>
        <p:txBody>
          <a:bodyPr wrap="square" lIns="0" tIns="0" rIns="0" bIns="0" rtlCol="0" anchor="t"/>
          <a:lstStyle/>
          <a:p>
            <a:pPr indent="0" marL="0">
              <a:buNone/>
            </a:pPr>
            <a:r>
              <a:rPr lang="en-US" sz="1700" b="1" dirty="0">
                <a:solidFill>
                  <a:srgbClr val="4B1248"/>
                </a:solidFill>
                <a:latin typeface="Arial" pitchFamily="34" charset="0"/>
                <a:ea typeface="Arial" pitchFamily="34" charset="-122"/>
                <a:cs typeface="Arial" pitchFamily="34" charset="-120"/>
              </a:rPr>
              <a:t>What each seller costed in when asked how they set a price</a:t>
            </a:r>
            <a:endParaRPr lang="en-US" sz="17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005840" y="4617720"/>
          <a:ext cx="6492240" cy="914400"/>
        </p:xfrm>
        <a:graphic>
          <a:graphicData uri="http://schemas.openxmlformats.org/drawingml/2006/table">
            <a:tbl>
              <a:tblPr/>
              <a:tblGrid>
                <a:gridCol w="2651760"/>
                <a:gridCol w="548640"/>
                <a:gridCol w="548640"/>
                <a:gridCol w="548640"/>
                <a:gridCol w="548640"/>
                <a:gridCol w="548640"/>
                <a:gridCol w="548640"/>
                <a:gridCol w="548640"/>
              </a:tblGrid>
              <a:tr h="384048">
                <a:tc>
                  <a:txBody>
                    <a:bodyPr/>
                    <a:lstStyle/>
                    <a:p>
                      <a:pPr algn="l" indent="0" marL="0">
                        <a:buNone/>
                      </a:pP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b="1" dirty="0">
                          <a:solidFill>
                            <a:srgbClr val="67516B"/>
                          </a:solidFill>
                          <a:latin typeface="Arial" pitchFamily="34" charset="0"/>
                          <a:ea typeface="Arial" pitchFamily="34" charset="-122"/>
                          <a:cs typeface="Arial" pitchFamily="34" charset="-120"/>
                        </a:rPr>
                        <a:t>S1</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b="1" dirty="0">
                          <a:solidFill>
                            <a:srgbClr val="67516B"/>
                          </a:solidFill>
                          <a:latin typeface="Arial" pitchFamily="34" charset="0"/>
                          <a:ea typeface="Arial" pitchFamily="34" charset="-122"/>
                          <a:cs typeface="Arial" pitchFamily="34" charset="-120"/>
                        </a:rPr>
                        <a:t>S2</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b="1" dirty="0">
                          <a:solidFill>
                            <a:srgbClr val="67516B"/>
                          </a:solidFill>
                          <a:latin typeface="Arial" pitchFamily="34" charset="0"/>
                          <a:ea typeface="Arial" pitchFamily="34" charset="-122"/>
                          <a:cs typeface="Arial" pitchFamily="34" charset="-120"/>
                        </a:rPr>
                        <a:t>S3</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b="1" dirty="0">
                          <a:solidFill>
                            <a:srgbClr val="67516B"/>
                          </a:solidFill>
                          <a:latin typeface="Arial" pitchFamily="34" charset="0"/>
                          <a:ea typeface="Arial" pitchFamily="34" charset="-122"/>
                          <a:cs typeface="Arial" pitchFamily="34" charset="-120"/>
                        </a:rPr>
                        <a:t>S4</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b="1" dirty="0">
                          <a:solidFill>
                            <a:srgbClr val="67516B"/>
                          </a:solidFill>
                          <a:latin typeface="Arial" pitchFamily="34" charset="0"/>
                          <a:ea typeface="Arial" pitchFamily="34" charset="-122"/>
                          <a:cs typeface="Arial" pitchFamily="34" charset="-120"/>
                        </a:rPr>
                        <a:t>S5</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b="1" dirty="0">
                          <a:solidFill>
                            <a:srgbClr val="67516B"/>
                          </a:solidFill>
                          <a:latin typeface="Arial" pitchFamily="34" charset="0"/>
                          <a:ea typeface="Arial" pitchFamily="34" charset="-122"/>
                          <a:cs typeface="Arial" pitchFamily="34" charset="-120"/>
                        </a:rPr>
                        <a:t>S6</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b="1" dirty="0">
                          <a:solidFill>
                            <a:srgbClr val="67516B"/>
                          </a:solidFill>
                          <a:latin typeface="Arial" pitchFamily="34" charset="0"/>
                          <a:ea typeface="Arial" pitchFamily="34" charset="-122"/>
                          <a:cs typeface="Arial" pitchFamily="34" charset="-120"/>
                        </a:rPr>
                        <a:t>S7</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84048">
                <a:tc>
                  <a:txBody>
                    <a:bodyPr/>
                    <a:lstStyle/>
                    <a:p>
                      <a:pPr algn="l" indent="0" marL="0">
                        <a:buNone/>
                      </a:pPr>
                      <a:r>
                        <a:rPr lang="en-US" sz="1400" dirty="0">
                          <a:solidFill>
                            <a:srgbClr val="2A0B2F"/>
                          </a:solidFill>
                          <a:latin typeface="Arial" pitchFamily="34" charset="0"/>
                          <a:ea typeface="Arial" pitchFamily="34" charset="-122"/>
                          <a:cs typeface="Arial" pitchFamily="34" charset="-120"/>
                        </a:rPr>
                        <a:t>Material / product cost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84048">
                <a:tc>
                  <a:txBody>
                    <a:bodyPr/>
                    <a:lstStyle/>
                    <a:p>
                      <a:pPr algn="l" indent="0" marL="0">
                        <a:buNone/>
                      </a:pPr>
                      <a:r>
                        <a:rPr lang="en-US" sz="1400" dirty="0">
                          <a:solidFill>
                            <a:srgbClr val="2A0B2F"/>
                          </a:solidFill>
                          <a:latin typeface="Arial" pitchFamily="34" charset="0"/>
                          <a:ea typeface="Arial" pitchFamily="34" charset="-122"/>
                          <a:cs typeface="Arial" pitchFamily="34" charset="-120"/>
                        </a:rPr>
                        <a:t>Labour / time</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84048">
                <a:tc>
                  <a:txBody>
                    <a:bodyPr/>
                    <a:lstStyle/>
                    <a:p>
                      <a:pPr algn="l" indent="0" marL="0">
                        <a:buNone/>
                      </a:pPr>
                      <a:r>
                        <a:rPr lang="en-US" sz="1400" dirty="0">
                          <a:solidFill>
                            <a:srgbClr val="2A0B2F"/>
                          </a:solidFill>
                          <a:latin typeface="Arial" pitchFamily="34" charset="0"/>
                          <a:ea typeface="Arial" pitchFamily="34" charset="-122"/>
                          <a:cs typeface="Arial" pitchFamily="34" charset="-120"/>
                        </a:rPr>
                        <a:t>Packaging</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84048">
                <a:tc>
                  <a:txBody>
                    <a:bodyPr/>
                    <a:lstStyle/>
                    <a:p>
                      <a:pPr algn="l" indent="0" marL="0">
                        <a:buNone/>
                      </a:pPr>
                      <a:r>
                        <a:rPr lang="en-US" sz="1400" dirty="0">
                          <a:solidFill>
                            <a:srgbClr val="2A0B2F"/>
                          </a:solidFill>
                          <a:latin typeface="Arial" pitchFamily="34" charset="0"/>
                          <a:ea typeface="Arial" pitchFamily="34" charset="-122"/>
                          <a:cs typeface="Arial" pitchFamily="34" charset="-120"/>
                        </a:rPr>
                        <a:t>Shipping / overheads</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84048">
                <a:tc>
                  <a:txBody>
                    <a:bodyPr/>
                    <a:lstStyle/>
                    <a:p>
                      <a:pPr algn="l" indent="0" marL="0">
                        <a:buNone/>
                      </a:pPr>
                      <a:r>
                        <a:rPr lang="en-US" sz="1400" dirty="0">
                          <a:solidFill>
                            <a:srgbClr val="2A0B2F"/>
                          </a:solidFill>
                          <a:latin typeface="Arial" pitchFamily="34" charset="0"/>
                          <a:ea typeface="Arial" pitchFamily="34" charset="-122"/>
                          <a:cs typeface="Arial" pitchFamily="34" charset="-120"/>
                        </a:rPr>
                        <a:t>Competitor price check</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5B2A8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84048">
                <a:tc>
                  <a:txBody>
                    <a:bodyPr/>
                    <a:lstStyle/>
                    <a:p>
                      <a:pPr algn="l" indent="0" marL="0">
                        <a:buNone/>
                      </a:pPr>
                      <a:r>
                        <a:rPr lang="en-US" sz="1400" b="1" dirty="0">
                          <a:solidFill>
                            <a:srgbClr val="C2185B"/>
                          </a:solidFill>
                          <a:latin typeface="Arial" pitchFamily="34" charset="0"/>
                          <a:ea typeface="Arial" pitchFamily="34" charset="-122"/>
                          <a:cs typeface="Arial" pitchFamily="34" charset="-120"/>
                        </a:rPr>
                        <a:t>Returns / RTO costed</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C2185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C2185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84048">
                <a:tc>
                  <a:txBody>
                    <a:bodyPr/>
                    <a:lstStyle/>
                    <a:p>
                      <a:pPr algn="l" indent="0" marL="0">
                        <a:buNone/>
                      </a:pPr>
                      <a:r>
                        <a:rPr lang="en-US" sz="1400" b="1" dirty="0">
                          <a:solidFill>
                            <a:srgbClr val="C2185B"/>
                          </a:solidFill>
                          <a:latin typeface="Arial" pitchFamily="34" charset="0"/>
                          <a:ea typeface="Arial" pitchFamily="34" charset="-122"/>
                          <a:cs typeface="Arial" pitchFamily="34" charset="-120"/>
                        </a:rPr>
                        <a:t>Advertising per order</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C2185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C2185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ctr" indent="0" marL="0">
                        <a:buNone/>
                      </a:pPr>
                      <a:r>
                        <a:rPr lang="en-US" sz="1400" dirty="0">
                          <a:solidFill>
                            <a:srgbClr val="B8A9B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bl>
          </a:graphicData>
        </a:graphic>
      </p:graphicFrame>
      <p:sp>
        <p:nvSpPr>
          <p:cNvPr id="9" name="Text 6"/>
          <p:cNvSpPr txBox="1"/>
          <p:nvPr/>
        </p:nvSpPr>
        <p:spPr>
          <a:xfrm>
            <a:off x="1005840" y="7772400"/>
            <a:ext cx="6492240" cy="274320"/>
          </a:xfrm>
          <a:prstGeom prst="rect">
            <a:avLst/>
          </a:prstGeom>
          <a:noFill/>
          <a:ln/>
        </p:spPr>
        <p:txBody>
          <a:bodyPr wrap="square" lIns="0" tIns="0" rIns="0" bIns="0" rtlCol="0" anchor="t"/>
          <a:lstStyle/>
          <a:p>
            <a:pPr indent="0" marL="0">
              <a:buNone/>
            </a:pPr>
            <a:r>
              <a:rPr lang="en-US" sz="1150" dirty="0">
                <a:solidFill>
                  <a:srgbClr val="67516B"/>
                </a:solidFill>
                <a:latin typeface="Arial" pitchFamily="34" charset="0"/>
                <a:ea typeface="Arial" pitchFamily="34" charset="-122"/>
                <a:cs typeface="Arial" pitchFamily="34" charset="-120"/>
              </a:rPr>
              <a:t>S1, S2 apparel; S3 decor; S4, S5 crochet; S6 handmade soap; S7 custom crafts</a:t>
            </a:r>
            <a:endParaRPr lang="en-US" sz="1150" dirty="0"/>
          </a:p>
        </p:txBody>
      </p:sp>
      <p:sp>
        <p:nvSpPr>
          <p:cNvPr id="10" name="Text 7"/>
          <p:cNvSpPr txBox="1"/>
          <p:nvPr/>
        </p:nvSpPr>
        <p:spPr>
          <a:xfrm>
            <a:off x="1005840" y="8138160"/>
            <a:ext cx="6492240" cy="731520"/>
          </a:xfrm>
          <a:prstGeom prst="rect">
            <a:avLst/>
          </a:prstGeom>
          <a:noFill/>
          <a:ln/>
        </p:spPr>
        <p:txBody>
          <a:bodyPr wrap="square" lIns="0" tIns="0" rIns="0" bIns="0" rtlCol="0" anchor="t"/>
          <a:lstStyle/>
          <a:p>
            <a:pPr indent="0" marL="0">
              <a:buNone/>
            </a:pPr>
            <a:r>
              <a:rPr lang="en-US" sz="1450" b="1" dirty="0">
                <a:solidFill>
                  <a:srgbClr val="4B1248"/>
                </a:solidFill>
                <a:latin typeface="Arial" pitchFamily="34" charset="0"/>
                <a:ea typeface="Arial" pitchFamily="34" charset="-122"/>
                <a:cs typeface="Arial" pitchFamily="34" charset="-120"/>
              </a:rPr>
              <a:t>Only Seller 1 priced in both returns and advertising. 5 of 7 priced in no returns; 5 of 7 no advertising.</a:t>
            </a:r>
            <a:endParaRPr lang="en-US" sz="1450" dirty="0"/>
          </a:p>
        </p:txBody>
      </p:sp>
      <p:sp>
        <p:nvSpPr>
          <p:cNvPr id="11" name="Shape 8"/>
          <p:cNvSpPr/>
          <p:nvPr/>
        </p:nvSpPr>
        <p:spPr>
          <a:xfrm>
            <a:off x="8092440" y="3886200"/>
            <a:ext cx="4480560" cy="5166360"/>
          </a:xfrm>
          <a:prstGeom prst="roundRect">
            <a:avLst>
              <a:gd name="adj" fmla="val 2449"/>
            </a:avLst>
          </a:prstGeom>
          <a:solidFill>
            <a:srgbClr val="F6EEF7"/>
          </a:solidFill>
          <a:ln w="12700">
            <a:solidFill>
              <a:srgbClr val="F6EEF7"/>
            </a:solidFill>
            <a:prstDash val="solid"/>
          </a:ln>
        </p:spPr>
      </p:sp>
      <p:sp>
        <p:nvSpPr>
          <p:cNvPr id="12" name="Text 9"/>
          <p:cNvSpPr txBox="1"/>
          <p:nvPr/>
        </p:nvSpPr>
        <p:spPr>
          <a:xfrm>
            <a:off x="8366760" y="4069080"/>
            <a:ext cx="3931920" cy="457200"/>
          </a:xfrm>
          <a:prstGeom prst="rect">
            <a:avLst/>
          </a:prstGeom>
          <a:noFill/>
          <a:ln/>
        </p:spPr>
        <p:txBody>
          <a:bodyPr wrap="square" lIns="0" tIns="0" rIns="0" bIns="0" rtlCol="0" anchor="t"/>
          <a:lstStyle/>
          <a:p>
            <a:pPr indent="0" marL="0">
              <a:buNone/>
            </a:pPr>
            <a:r>
              <a:rPr lang="en-US" sz="1700" b="1" dirty="0">
                <a:solidFill>
                  <a:srgbClr val="4B1248"/>
                </a:solidFill>
                <a:latin typeface="Arial" pitchFamily="34" charset="0"/>
                <a:ea typeface="Arial" pitchFamily="34" charset="-122"/>
                <a:cs typeface="Arial" pitchFamily="34" charset="-120"/>
              </a:rPr>
              <a:t>Seller 1's cost stack, in his words</a:t>
            </a:r>
            <a:endParaRPr lang="en-US" sz="17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8366760" y="4617720"/>
          <a:ext cx="3931920" cy="914400"/>
        </p:xfrm>
        <a:graphic>
          <a:graphicData uri="http://schemas.openxmlformats.org/drawingml/2006/table">
            <a:tbl>
              <a:tblPr/>
              <a:tblGrid>
                <a:gridCol w="2651760"/>
                <a:gridCol w="1280160"/>
              </a:tblGrid>
              <a:tr h="365760">
                <a:tc>
                  <a:txBody>
                    <a:bodyPr/>
                    <a:lstStyle/>
                    <a:p>
                      <a:pPr algn="l" indent="0" marL="0">
                        <a:buNone/>
                      </a:pPr>
                      <a:r>
                        <a:rPr lang="en-US" sz="1450" dirty="0">
                          <a:solidFill>
                            <a:srgbClr val="2A0B2F"/>
                          </a:solidFill>
                          <a:latin typeface="Arial" pitchFamily="34" charset="0"/>
                          <a:ea typeface="Arial" pitchFamily="34" charset="-122"/>
                          <a:cs typeface="Arial" pitchFamily="34" charset="-120"/>
                        </a:rPr>
                        <a:t>Product cost</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dirty="0">
                          <a:solidFill>
                            <a:srgbClr val="2A0B2F"/>
                          </a:solidFill>
                          <a:latin typeface="Arial" pitchFamily="34" charset="0"/>
                          <a:ea typeface="Arial" pitchFamily="34" charset="-122"/>
                          <a:cs typeface="Arial" pitchFamily="34" charset="-120"/>
                        </a:rPr>
                        <a:t>₹250</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algn="l" indent="0" marL="0">
                        <a:buNone/>
                      </a:pPr>
                      <a:r>
                        <a:rPr lang="en-US" sz="1450" dirty="0">
                          <a:solidFill>
                            <a:srgbClr val="2A0B2F"/>
                          </a:solidFill>
                          <a:latin typeface="Arial" pitchFamily="34" charset="0"/>
                          <a:ea typeface="Arial" pitchFamily="34" charset="-122"/>
                          <a:cs typeface="Arial" pitchFamily="34" charset="-120"/>
                        </a:rPr>
                        <a:t>Packaging</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dirty="0">
                          <a:solidFill>
                            <a:srgbClr val="2A0B2F"/>
                          </a:solidFill>
                          <a:latin typeface="Arial" pitchFamily="34" charset="0"/>
                          <a:ea typeface="Arial" pitchFamily="34" charset="-122"/>
                          <a:cs typeface="Arial" pitchFamily="34" charset="-120"/>
                        </a:rPr>
                        <a:t>₹15</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algn="l" indent="0" marL="0">
                        <a:buNone/>
                      </a:pPr>
                      <a:r>
                        <a:rPr lang="en-US" sz="1450" dirty="0">
                          <a:solidFill>
                            <a:srgbClr val="2A0B2F"/>
                          </a:solidFill>
                          <a:latin typeface="Arial" pitchFamily="34" charset="0"/>
                          <a:ea typeface="Arial" pitchFamily="34" charset="-122"/>
                          <a:cs typeface="Arial" pitchFamily="34" charset="-120"/>
                        </a:rPr>
                        <a:t>Shipping</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dirty="0">
                          <a:solidFill>
                            <a:srgbClr val="2A0B2F"/>
                          </a:solidFill>
                          <a:latin typeface="Arial" pitchFamily="34" charset="0"/>
                          <a:ea typeface="Arial" pitchFamily="34" charset="-122"/>
                          <a:cs typeface="Arial" pitchFamily="34" charset="-120"/>
                        </a:rPr>
                        <a:t>₹70</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algn="l" indent="0" marL="0">
                        <a:buNone/>
                      </a:pPr>
                      <a:r>
                        <a:rPr lang="en-US" sz="1450" b="1" dirty="0">
                          <a:solidFill>
                            <a:srgbClr val="C2185B"/>
                          </a:solidFill>
                          <a:latin typeface="Arial" pitchFamily="34" charset="0"/>
                          <a:ea typeface="Arial" pitchFamily="34" charset="-122"/>
                          <a:cs typeface="Arial" pitchFamily="34" charset="-120"/>
                        </a:rPr>
                        <a:t>Return / RTO</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b="1" dirty="0">
                          <a:solidFill>
                            <a:srgbClr val="C2185B"/>
                          </a:solidFill>
                          <a:latin typeface="Arial" pitchFamily="34" charset="0"/>
                          <a:ea typeface="Arial" pitchFamily="34" charset="-122"/>
                          <a:cs typeface="Arial" pitchFamily="34" charset="-120"/>
                        </a:rPr>
                        <a:t>₹30</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algn="l" indent="0" marL="0">
                        <a:buNone/>
                      </a:pPr>
                      <a:r>
                        <a:rPr lang="en-US" sz="1450" b="1" dirty="0">
                          <a:solidFill>
                            <a:srgbClr val="C2185B"/>
                          </a:solidFill>
                          <a:latin typeface="Arial" pitchFamily="34" charset="0"/>
                          <a:ea typeface="Arial" pitchFamily="34" charset="-122"/>
                          <a:cs typeface="Arial" pitchFamily="34" charset="-120"/>
                        </a:rPr>
                        <a:t>Advertising per order</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b="1" dirty="0">
                          <a:solidFill>
                            <a:srgbClr val="C2185B"/>
                          </a:solidFill>
                          <a:latin typeface="Arial" pitchFamily="34" charset="0"/>
                          <a:ea typeface="Arial" pitchFamily="34" charset="-122"/>
                          <a:cs typeface="Arial" pitchFamily="34" charset="-120"/>
                        </a:rPr>
                        <a:t>₹20</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algn="l" indent="0" marL="0">
                        <a:buNone/>
                      </a:pPr>
                      <a:r>
                        <a:rPr lang="en-US" sz="1450" dirty="0">
                          <a:solidFill>
                            <a:srgbClr val="2A0B2F"/>
                          </a:solidFill>
                          <a:latin typeface="Arial" pitchFamily="34" charset="0"/>
                          <a:ea typeface="Arial" pitchFamily="34" charset="-122"/>
                          <a:cs typeface="Arial" pitchFamily="34" charset="-120"/>
                        </a:rPr>
                        <a:t>Profit</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dirty="0">
                          <a:solidFill>
                            <a:srgbClr val="2A0B2F"/>
                          </a:solidFill>
                          <a:latin typeface="Arial" pitchFamily="34" charset="0"/>
                          <a:ea typeface="Arial" pitchFamily="34" charset="-122"/>
                          <a:cs typeface="Arial" pitchFamily="34" charset="-120"/>
                        </a:rPr>
                        <a:t>₹100</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algn="l" indent="0" marL="0">
                        <a:buNone/>
                      </a:pPr>
                      <a:r>
                        <a:rPr lang="en-US" sz="1450" b="1" dirty="0">
                          <a:solidFill>
                            <a:srgbClr val="2A0B2F"/>
                          </a:solidFill>
                          <a:latin typeface="Arial" pitchFamily="34" charset="0"/>
                          <a:ea typeface="Arial" pitchFamily="34" charset="-122"/>
                          <a:cs typeface="Arial" pitchFamily="34" charset="-120"/>
                        </a:rPr>
                        <a:t>Required revenue</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b="1" dirty="0">
                          <a:solidFill>
                            <a:srgbClr val="2A0B2F"/>
                          </a:solidFill>
                          <a:latin typeface="Arial" pitchFamily="34" charset="0"/>
                          <a:ea typeface="Arial" pitchFamily="34" charset="-122"/>
                          <a:cs typeface="Arial" pitchFamily="34" charset="-120"/>
                        </a:rPr>
                        <a:t>₹485</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bl>
          </a:graphicData>
        </a:graphic>
      </p:graphicFrame>
      <p:sp>
        <p:nvSpPr>
          <p:cNvPr id="14" name="Shape 10"/>
          <p:cNvSpPr/>
          <p:nvPr/>
        </p:nvSpPr>
        <p:spPr>
          <a:xfrm>
            <a:off x="8366760" y="7406640"/>
            <a:ext cx="3931920" cy="1417320"/>
          </a:xfrm>
          <a:prstGeom prst="roundRect">
            <a:avLst>
              <a:gd name="adj" fmla="val 7742"/>
            </a:avLst>
          </a:prstGeom>
          <a:solidFill>
            <a:srgbClr val="4B1248"/>
          </a:solidFill>
          <a:ln w="12700">
            <a:solidFill>
              <a:srgbClr val="4B1248"/>
            </a:solidFill>
            <a:prstDash val="solid"/>
          </a:ln>
        </p:spPr>
      </p:sp>
      <p:sp>
        <p:nvSpPr>
          <p:cNvPr id="15" name="Text 11"/>
          <p:cNvSpPr txBox="1"/>
          <p:nvPr/>
        </p:nvSpPr>
        <p:spPr>
          <a:xfrm>
            <a:off x="8549640" y="7543800"/>
            <a:ext cx="3566160" cy="11887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₹70 + ₹15 + ₹30 + ₹20 = ₹135</a:t>
            </a:r>
            <a:endParaRPr lang="en-US" sz="1600" dirty="0"/>
          </a:p>
          <a:p>
            <a:pPr indent="0" marL="0">
              <a:buNone/>
            </a:pPr>
            <a:r>
              <a:rPr lang="en-US" sz="1450" dirty="0">
                <a:solidFill>
                  <a:srgbClr val="FFFFFF"/>
                </a:solidFill>
                <a:latin typeface="Arial" pitchFamily="34" charset="0"/>
                <a:ea typeface="Arial" pitchFamily="34" charset="-122"/>
                <a:cs typeface="Arial" pitchFamily="34" charset="-120"/>
              </a:rPr>
              <a:t>of every order never becomes product or profit.</a:t>
            </a:r>
            <a:endParaRPr lang="en-US" sz="1600" dirty="0"/>
          </a:p>
        </p:txBody>
      </p:sp>
      <p:sp>
        <p:nvSpPr>
          <p:cNvPr id="16" name="Shape 12"/>
          <p:cNvSpPr/>
          <p:nvPr/>
        </p:nvSpPr>
        <p:spPr>
          <a:xfrm>
            <a:off x="12893040" y="3886200"/>
            <a:ext cx="4663440" cy="2514600"/>
          </a:xfrm>
          <a:prstGeom prst="roundRect">
            <a:avLst>
              <a:gd name="adj" fmla="val 4364"/>
            </a:avLst>
          </a:prstGeom>
          <a:solidFill>
            <a:srgbClr val="4B1248"/>
          </a:solidFill>
          <a:ln w="12700">
            <a:solidFill>
              <a:srgbClr val="4B1248"/>
            </a:solidFill>
            <a:prstDash val="solid"/>
          </a:ln>
        </p:spPr>
      </p:sp>
      <p:sp>
        <p:nvSpPr>
          <p:cNvPr id="17" name="Text 13"/>
          <p:cNvSpPr txBox="1"/>
          <p:nvPr/>
        </p:nvSpPr>
        <p:spPr>
          <a:xfrm>
            <a:off x="13167360" y="4069080"/>
            <a:ext cx="4114800" cy="2194560"/>
          </a:xfrm>
          <a:prstGeom prst="rect">
            <a:avLst/>
          </a:prstGeom>
          <a:noFill/>
          <a:ln/>
        </p:spPr>
        <p:txBody>
          <a:bodyPr wrap="square" lIns="0" tIns="0" rIns="0" bIns="0" rtlCol="0" anchor="ctr"/>
          <a:lstStyle/>
          <a:p>
            <a:pPr indent="0" marL="0">
              <a:spcAft>
                <a:spcPts val="600"/>
              </a:spcAft>
              <a:buNone/>
            </a:pPr>
            <a:r>
              <a:rPr lang="en-US" sz="1500" i="1" dirty="0">
                <a:solidFill>
                  <a:srgbClr val="FFFFFF"/>
                </a:solidFill>
                <a:latin typeface="Arial" pitchFamily="34" charset="0"/>
                <a:ea typeface="Arial" pitchFamily="34" charset="-122"/>
                <a:cs typeface="Arial" pitchFamily="34" charset="-120"/>
              </a:rPr>
              <a:t>“Currently we charge only manufacturing cost plus delivery cost. Zero profit. First want to increase sales and achieve good rating over e-commerce.”</a:t>
            </a:r>
            <a:endParaRPr lang="en-US" sz="1500" dirty="0"/>
          </a:p>
          <a:p>
            <a:pPr indent="0" marL="0">
              <a:spcAft>
                <a:spcPts val="600"/>
              </a:spcAft>
              <a:buNone/>
            </a:pPr>
            <a:r>
              <a:rPr lang="en-US" sz="1300" dirty="0">
                <a:solidFill>
                  <a:srgbClr val="F7C6DC"/>
                </a:solidFill>
                <a:latin typeface="Arial" pitchFamily="34" charset="0"/>
                <a:ea typeface="Arial" pitchFamily="34" charset="-122"/>
                <a:cs typeface="Arial" pitchFamily="34" charset="-120"/>
              </a:rPr>
              <a:t>Seller 6, handmade soap</a:t>
            </a:r>
            <a:endParaRPr lang="en-US" sz="1500" dirty="0"/>
          </a:p>
        </p:txBody>
      </p:sp>
      <p:sp>
        <p:nvSpPr>
          <p:cNvPr id="18" name="Text 14"/>
          <p:cNvSpPr txBox="1"/>
          <p:nvPr/>
        </p:nvSpPr>
        <p:spPr>
          <a:xfrm>
            <a:off x="12893040" y="6583680"/>
            <a:ext cx="4663440" cy="365760"/>
          </a:xfrm>
          <a:prstGeom prst="rect">
            <a:avLst/>
          </a:prstGeom>
          <a:noFill/>
          <a:ln/>
        </p:spPr>
        <p:txBody>
          <a:bodyPr wrap="square" lIns="0" tIns="0" rIns="0" bIns="0" rtlCol="0" anchor="t"/>
          <a:lstStyle/>
          <a:p>
            <a:pPr indent="0" marL="0">
              <a:buNone/>
            </a:pPr>
            <a:r>
              <a:rPr lang="en-US" sz="1600" b="1" dirty="0">
                <a:solidFill>
                  <a:srgbClr val="4B1248"/>
                </a:solidFill>
                <a:latin typeface="Arial" pitchFamily="34" charset="0"/>
                <a:ea typeface="Arial" pitchFamily="34" charset="-122"/>
                <a:cs typeface="Arial" pitchFamily="34" charset="-120"/>
              </a:rPr>
              <a:t>His ₹134 price leaves out</a:t>
            </a:r>
            <a:endParaRPr lang="en-US" sz="1600" dirty="0"/>
          </a:p>
        </p:txBody>
      </p:sp>
      <p:sp>
        <p:nvSpPr>
          <p:cNvPr id="19" name="Text 15"/>
          <p:cNvSpPr txBox="1"/>
          <p:nvPr/>
        </p:nvSpPr>
        <p:spPr>
          <a:xfrm>
            <a:off x="12893040" y="6967728"/>
            <a:ext cx="4663440" cy="109728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Packaging, which he never named</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A buffer for returns</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The free bar he adds to every parcel as “advertising”</a:t>
            </a:r>
            <a:endParaRPr lang="en-US" sz="1450" dirty="0"/>
          </a:p>
        </p:txBody>
      </p:sp>
      <p:sp>
        <p:nvSpPr>
          <p:cNvPr id="20" name="Text 16"/>
          <p:cNvSpPr txBox="1"/>
          <p:nvPr/>
        </p:nvSpPr>
        <p:spPr>
          <a:xfrm>
            <a:off x="12893040" y="8183880"/>
            <a:ext cx="4663440" cy="822960"/>
          </a:xfrm>
          <a:prstGeom prst="rect">
            <a:avLst/>
          </a:prstGeom>
          <a:noFill/>
          <a:ln/>
        </p:spPr>
        <p:txBody>
          <a:bodyPr wrap="square" lIns="0" tIns="0" rIns="0" bIns="0" rtlCol="0" anchor="t"/>
          <a:lstStyle/>
          <a:p>
            <a:pPr indent="0" marL="0">
              <a:buNone/>
            </a:pPr>
            <a:r>
              <a:rPr lang="en-US" sz="1500" b="1" dirty="0">
                <a:solidFill>
                  <a:srgbClr val="C2185B"/>
                </a:solidFill>
                <a:latin typeface="Arial" pitchFamily="34" charset="0"/>
                <a:ea typeface="Arial" pitchFamily="34" charset="-122"/>
                <a:cs typeface="Arial" pitchFamily="34" charset="-120"/>
              </a:rPr>
              <a:t>After listing, only discounts move, stacked on a price that is never recomputed.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indent="0" marL="0">
              <a:buNone/>
            </a:pPr>
            <a:r>
              <a:rPr lang="en-US" sz="3600" b="1" dirty="0">
                <a:solidFill>
                  <a:srgbClr val="4B1248"/>
                </a:solidFill>
                <a:latin typeface="Arial" pitchFamily="34" charset="0"/>
                <a:ea typeface="Arial" pitchFamily="34" charset="-122"/>
                <a:cs typeface="Arial" pitchFamily="34" charset="-120"/>
              </a:rPr>
              <a:t>A seller reaches a price in four steps: floor, band, position, launch</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indent="0" marL="0">
              <a:buNone/>
            </a:pPr>
            <a:r>
              <a:rPr lang="en-US" sz="1700" i="1" dirty="0">
                <a:solidFill>
                  <a:srgbClr val="67516B"/>
                </a:solidFill>
                <a:latin typeface="Arial" pitchFamily="34" charset="0"/>
                <a:ea typeface="Arial" pitchFamily="34" charset="-122"/>
                <a:cs typeface="Arial" pitchFamily="34" charset="-120"/>
              </a:rPr>
              <a:t>The floor comes from the seller's own costs plus what Meesho already knows; everything above it comes from the market and the product</a:t>
            </a:r>
            <a:endParaRPr lang="en-US" sz="1700" dirty="0"/>
          </a:p>
        </p:txBody>
      </p:sp>
      <p:sp>
        <p:nvSpPr>
          <p:cNvPr id="4" name="Text 2"/>
          <p:cNvSpPr txBox="1"/>
          <p:nvPr/>
        </p:nvSpPr>
        <p:spPr>
          <a:xfrm>
            <a:off x="17007840" y="9198864"/>
            <a:ext cx="548640" cy="329184"/>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3</a:t>
            </a:r>
            <a:endParaRPr lang="en-US" sz="1200" dirty="0"/>
          </a:p>
        </p:txBody>
      </p:sp>
      <p:sp>
        <p:nvSpPr>
          <p:cNvPr id="5" name="Shape 3"/>
          <p:cNvSpPr/>
          <p:nvPr/>
        </p:nvSpPr>
        <p:spPr>
          <a:xfrm>
            <a:off x="731520" y="3886200"/>
            <a:ext cx="4000500" cy="1965960"/>
          </a:xfrm>
          <a:prstGeom prst="roundRect">
            <a:avLst>
              <a:gd name="adj" fmla="val 5581"/>
            </a:avLst>
          </a:prstGeom>
          <a:solidFill>
            <a:srgbClr val="F6EEF7"/>
          </a:solidFill>
          <a:ln w="12700">
            <a:solidFill>
              <a:srgbClr val="F6EEF7"/>
            </a:solidFill>
            <a:prstDash val="solid"/>
          </a:ln>
        </p:spPr>
      </p:sp>
      <p:sp>
        <p:nvSpPr>
          <p:cNvPr id="6" name="Text 4"/>
          <p:cNvSpPr txBox="1"/>
          <p:nvPr/>
        </p:nvSpPr>
        <p:spPr>
          <a:xfrm>
            <a:off x="1005840" y="4023360"/>
            <a:ext cx="3451860" cy="502920"/>
          </a:xfrm>
          <a:prstGeom prst="rect">
            <a:avLst/>
          </a:prstGeom>
          <a:noFill/>
          <a:ln/>
        </p:spPr>
        <p:txBody>
          <a:bodyPr wrap="square" lIns="0" tIns="0" rIns="0" bIns="0" rtlCol="0" anchor="ctr"/>
          <a:lstStyle/>
          <a:p>
            <a:pPr indent="0" marL="0">
              <a:buNone/>
            </a:pPr>
            <a:r>
              <a:rPr lang="en-US" sz="2600" b="1" dirty="0">
                <a:solidFill>
                  <a:srgbClr val="D9780A"/>
                </a:solidFill>
                <a:latin typeface="Arial" pitchFamily="34" charset="0"/>
                <a:ea typeface="Arial" pitchFamily="34" charset="-122"/>
                <a:cs typeface="Arial" pitchFamily="34" charset="-120"/>
              </a:rPr>
              <a:t>01  </a:t>
            </a:r>
            <a:pPr indent="0" marL="0">
              <a:buNone/>
            </a:pPr>
            <a:r>
              <a:rPr lang="en-US" sz="2200" b="1" dirty="0">
                <a:solidFill>
                  <a:srgbClr val="4B1248"/>
                </a:solidFill>
                <a:latin typeface="Arial" pitchFamily="34" charset="0"/>
                <a:ea typeface="Arial" pitchFamily="34" charset="-122"/>
                <a:cs typeface="Arial" pitchFamily="34" charset="-120"/>
              </a:rPr>
              <a:t>Floor</a:t>
            </a:r>
            <a:endParaRPr lang="en-US" sz="2600" dirty="0"/>
          </a:p>
        </p:txBody>
      </p:sp>
      <p:sp>
        <p:nvSpPr>
          <p:cNvPr id="7" name="Text 5"/>
          <p:cNvSpPr txBox="1"/>
          <p:nvPr/>
        </p:nvSpPr>
        <p:spPr>
          <a:xfrm>
            <a:off x="1005840" y="4590288"/>
            <a:ext cx="3451860" cy="1188720"/>
          </a:xfrm>
          <a:prstGeom prst="rect">
            <a:avLst/>
          </a:prstGeom>
          <a:noFill/>
          <a:ln/>
        </p:spPr>
        <p:txBody>
          <a:bodyPr wrap="square" lIns="0" tIns="0" rIns="0" bIns="0" rtlCol="0" anchor="t"/>
          <a:lstStyle/>
          <a:p>
            <a:pPr indent="0" marL="0">
              <a:buNone/>
            </a:pPr>
            <a:r>
              <a:rPr lang="en-US" sz="1600" dirty="0">
                <a:solidFill>
                  <a:srgbClr val="2A0B2F"/>
                </a:solidFill>
                <a:latin typeface="Arial" pitchFamily="34" charset="0"/>
                <a:ea typeface="Arial" pitchFamily="34" charset="-122"/>
                <a:cs typeface="Arial" pitchFamily="34" charset="-120"/>
              </a:rPr>
              <a:t>Lowest price where the paid orders cover every parcel sent: cost of all parcels ÷ parcels paid for, plus GST.</a:t>
            </a:r>
            <a:endParaRPr lang="en-US" sz="1600" dirty="0"/>
          </a:p>
        </p:txBody>
      </p:sp>
      <p:sp>
        <p:nvSpPr>
          <p:cNvPr id="8" name="Shape 6"/>
          <p:cNvSpPr/>
          <p:nvPr/>
        </p:nvSpPr>
        <p:spPr>
          <a:xfrm>
            <a:off x="5006340" y="3886200"/>
            <a:ext cx="4000500" cy="1965960"/>
          </a:xfrm>
          <a:prstGeom prst="roundRect">
            <a:avLst>
              <a:gd name="adj" fmla="val 5581"/>
            </a:avLst>
          </a:prstGeom>
          <a:solidFill>
            <a:srgbClr val="F6EEF7"/>
          </a:solidFill>
          <a:ln w="12700">
            <a:solidFill>
              <a:srgbClr val="F6EEF7"/>
            </a:solidFill>
            <a:prstDash val="solid"/>
          </a:ln>
        </p:spPr>
      </p:sp>
      <p:sp>
        <p:nvSpPr>
          <p:cNvPr id="9" name="Text 7"/>
          <p:cNvSpPr txBox="1"/>
          <p:nvPr/>
        </p:nvSpPr>
        <p:spPr>
          <a:xfrm>
            <a:off x="5280660" y="4023360"/>
            <a:ext cx="3451860" cy="502920"/>
          </a:xfrm>
          <a:prstGeom prst="rect">
            <a:avLst/>
          </a:prstGeom>
          <a:noFill/>
          <a:ln/>
        </p:spPr>
        <p:txBody>
          <a:bodyPr wrap="square" lIns="0" tIns="0" rIns="0" bIns="0" rtlCol="0" anchor="ctr"/>
          <a:lstStyle/>
          <a:p>
            <a:pPr indent="0" marL="0">
              <a:buNone/>
            </a:pPr>
            <a:r>
              <a:rPr lang="en-US" sz="2600" b="1" dirty="0">
                <a:solidFill>
                  <a:srgbClr val="D9780A"/>
                </a:solidFill>
                <a:latin typeface="Arial" pitchFamily="34" charset="0"/>
                <a:ea typeface="Arial" pitchFamily="34" charset="-122"/>
                <a:cs typeface="Arial" pitchFamily="34" charset="-120"/>
              </a:rPr>
              <a:t>02  </a:t>
            </a:r>
            <a:pPr indent="0" marL="0">
              <a:buNone/>
            </a:pPr>
            <a:r>
              <a:rPr lang="en-US" sz="2200" b="1" dirty="0">
                <a:solidFill>
                  <a:srgbClr val="4B1248"/>
                </a:solidFill>
                <a:latin typeface="Arial" pitchFamily="34" charset="0"/>
                <a:ea typeface="Arial" pitchFamily="34" charset="-122"/>
                <a:cs typeface="Arial" pitchFamily="34" charset="-120"/>
              </a:rPr>
              <a:t>Band</a:t>
            </a:r>
            <a:endParaRPr lang="en-US" sz="2600" dirty="0"/>
          </a:p>
        </p:txBody>
      </p:sp>
      <p:sp>
        <p:nvSpPr>
          <p:cNvPr id="10" name="Text 8"/>
          <p:cNvSpPr txBox="1"/>
          <p:nvPr/>
        </p:nvSpPr>
        <p:spPr>
          <a:xfrm>
            <a:off x="5280660" y="4590288"/>
            <a:ext cx="3451860" cy="1188720"/>
          </a:xfrm>
          <a:prstGeom prst="rect">
            <a:avLst/>
          </a:prstGeom>
          <a:noFill/>
          <a:ln/>
        </p:spPr>
        <p:txBody>
          <a:bodyPr wrap="square" lIns="0" tIns="0" rIns="0" bIns="0" rtlCol="0" anchor="t"/>
          <a:lstStyle/>
          <a:p>
            <a:pPr indent="0" marL="0">
              <a:buNone/>
            </a:pPr>
            <a:r>
              <a:rPr lang="en-US" sz="1600" dirty="0">
                <a:solidFill>
                  <a:srgbClr val="2A0B2F"/>
                </a:solidFill>
                <a:latin typeface="Arial" pitchFamily="34" charset="0"/>
                <a:ea typeface="Arial" pitchFamily="34" charset="-122"/>
                <a:cs typeface="Arial" pitchFamily="34" charset="-120"/>
              </a:rPr>
              <a:t>What close substitutes sell for right now, with recent weeks weighted most. Not the category average.</a:t>
            </a:r>
            <a:endParaRPr lang="en-US" sz="1600" dirty="0"/>
          </a:p>
        </p:txBody>
      </p:sp>
      <p:sp>
        <p:nvSpPr>
          <p:cNvPr id="11" name="Shape 9"/>
          <p:cNvSpPr/>
          <p:nvPr/>
        </p:nvSpPr>
        <p:spPr>
          <a:xfrm>
            <a:off x="9281160" y="3886200"/>
            <a:ext cx="4000500" cy="1965960"/>
          </a:xfrm>
          <a:prstGeom prst="roundRect">
            <a:avLst>
              <a:gd name="adj" fmla="val 5581"/>
            </a:avLst>
          </a:prstGeom>
          <a:solidFill>
            <a:srgbClr val="F6EEF7"/>
          </a:solidFill>
          <a:ln w="12700">
            <a:solidFill>
              <a:srgbClr val="F6EEF7"/>
            </a:solidFill>
            <a:prstDash val="solid"/>
          </a:ln>
        </p:spPr>
      </p:sp>
      <p:sp>
        <p:nvSpPr>
          <p:cNvPr id="12" name="Text 10"/>
          <p:cNvSpPr txBox="1"/>
          <p:nvPr/>
        </p:nvSpPr>
        <p:spPr>
          <a:xfrm>
            <a:off x="9555480" y="4023360"/>
            <a:ext cx="3451860" cy="502920"/>
          </a:xfrm>
          <a:prstGeom prst="rect">
            <a:avLst/>
          </a:prstGeom>
          <a:noFill/>
          <a:ln/>
        </p:spPr>
        <p:txBody>
          <a:bodyPr wrap="square" lIns="0" tIns="0" rIns="0" bIns="0" rtlCol="0" anchor="ctr"/>
          <a:lstStyle/>
          <a:p>
            <a:pPr indent="0" marL="0">
              <a:buNone/>
            </a:pPr>
            <a:r>
              <a:rPr lang="en-US" sz="2600" b="1" dirty="0">
                <a:solidFill>
                  <a:srgbClr val="D9780A"/>
                </a:solidFill>
                <a:latin typeface="Arial" pitchFamily="34" charset="0"/>
                <a:ea typeface="Arial" pitchFamily="34" charset="-122"/>
                <a:cs typeface="Arial" pitchFamily="34" charset="-120"/>
              </a:rPr>
              <a:t>03  </a:t>
            </a:r>
            <a:pPr indent="0" marL="0">
              <a:buNone/>
            </a:pPr>
            <a:r>
              <a:rPr lang="en-US" sz="2200" b="1" dirty="0">
                <a:solidFill>
                  <a:srgbClr val="4B1248"/>
                </a:solidFill>
                <a:latin typeface="Arial" pitchFamily="34" charset="0"/>
                <a:ea typeface="Arial" pitchFamily="34" charset="-122"/>
                <a:cs typeface="Arial" pitchFamily="34" charset="-120"/>
              </a:rPr>
              <a:t>Position</a:t>
            </a:r>
            <a:endParaRPr lang="en-US" sz="2600" dirty="0"/>
          </a:p>
        </p:txBody>
      </p:sp>
      <p:sp>
        <p:nvSpPr>
          <p:cNvPr id="13" name="Text 11"/>
          <p:cNvSpPr txBox="1"/>
          <p:nvPr/>
        </p:nvSpPr>
        <p:spPr>
          <a:xfrm>
            <a:off x="9555480" y="4590288"/>
            <a:ext cx="3451860" cy="1188720"/>
          </a:xfrm>
          <a:prstGeom prst="rect">
            <a:avLst/>
          </a:prstGeom>
          <a:noFill/>
          <a:ln/>
        </p:spPr>
        <p:txBody>
          <a:bodyPr wrap="square" lIns="0" tIns="0" rIns="0" bIns="0" rtlCol="0" anchor="t"/>
          <a:lstStyle/>
          <a:p>
            <a:pPr indent="0" marL="0">
              <a:buNone/>
            </a:pPr>
            <a:r>
              <a:rPr lang="en-US" sz="1600" dirty="0">
                <a:solidFill>
                  <a:srgbClr val="2A0B2F"/>
                </a:solidFill>
                <a:latin typeface="Arial" pitchFamily="34" charset="0"/>
                <a:ea typeface="Arial" pitchFamily="34" charset="-122"/>
                <a:cs typeface="Arial" pitchFamily="34" charset="-120"/>
              </a:rPr>
              <a:t>Where to sit in the band: reviews, rating, genuine differences, listing quality. No reviews yet: the lower half.</a:t>
            </a:r>
            <a:endParaRPr lang="en-US" sz="1600" dirty="0"/>
          </a:p>
        </p:txBody>
      </p:sp>
      <p:sp>
        <p:nvSpPr>
          <p:cNvPr id="14" name="Shape 12"/>
          <p:cNvSpPr/>
          <p:nvPr/>
        </p:nvSpPr>
        <p:spPr>
          <a:xfrm>
            <a:off x="13555980" y="3886200"/>
            <a:ext cx="4000500" cy="1965960"/>
          </a:xfrm>
          <a:prstGeom prst="roundRect">
            <a:avLst>
              <a:gd name="adj" fmla="val 5581"/>
            </a:avLst>
          </a:prstGeom>
          <a:solidFill>
            <a:srgbClr val="F6EEF7"/>
          </a:solidFill>
          <a:ln w="12700">
            <a:solidFill>
              <a:srgbClr val="F6EEF7"/>
            </a:solidFill>
            <a:prstDash val="solid"/>
          </a:ln>
        </p:spPr>
      </p:sp>
      <p:sp>
        <p:nvSpPr>
          <p:cNvPr id="15" name="Text 13"/>
          <p:cNvSpPr txBox="1"/>
          <p:nvPr/>
        </p:nvSpPr>
        <p:spPr>
          <a:xfrm>
            <a:off x="13830300" y="4023360"/>
            <a:ext cx="3451860" cy="502920"/>
          </a:xfrm>
          <a:prstGeom prst="rect">
            <a:avLst/>
          </a:prstGeom>
          <a:noFill/>
          <a:ln/>
        </p:spPr>
        <p:txBody>
          <a:bodyPr wrap="square" lIns="0" tIns="0" rIns="0" bIns="0" rtlCol="0" anchor="ctr"/>
          <a:lstStyle/>
          <a:p>
            <a:pPr indent="0" marL="0">
              <a:buNone/>
            </a:pPr>
            <a:r>
              <a:rPr lang="en-US" sz="2600" b="1" dirty="0">
                <a:solidFill>
                  <a:srgbClr val="D9780A"/>
                </a:solidFill>
                <a:latin typeface="Arial" pitchFamily="34" charset="0"/>
                <a:ea typeface="Arial" pitchFamily="34" charset="-122"/>
                <a:cs typeface="Arial" pitchFamily="34" charset="-120"/>
              </a:rPr>
              <a:t>04  </a:t>
            </a:r>
            <a:pPr indent="0" marL="0">
              <a:buNone/>
            </a:pPr>
            <a:r>
              <a:rPr lang="en-US" sz="2200" b="1" dirty="0">
                <a:solidFill>
                  <a:srgbClr val="4B1248"/>
                </a:solidFill>
                <a:latin typeface="Arial" pitchFamily="34" charset="0"/>
                <a:ea typeface="Arial" pitchFamily="34" charset="-122"/>
                <a:cs typeface="Arial" pitchFamily="34" charset="-120"/>
              </a:rPr>
              <a:t>Launch</a:t>
            </a:r>
            <a:endParaRPr lang="en-US" sz="2600" dirty="0"/>
          </a:p>
        </p:txBody>
      </p:sp>
      <p:sp>
        <p:nvSpPr>
          <p:cNvPr id="16" name="Text 14"/>
          <p:cNvSpPr txBox="1"/>
          <p:nvPr/>
        </p:nvSpPr>
        <p:spPr>
          <a:xfrm>
            <a:off x="13830300" y="4590288"/>
            <a:ext cx="3451860" cy="1188720"/>
          </a:xfrm>
          <a:prstGeom prst="rect">
            <a:avLst/>
          </a:prstGeom>
          <a:noFill/>
          <a:ln/>
        </p:spPr>
        <p:txBody>
          <a:bodyPr wrap="square" lIns="0" tIns="0" rIns="0" bIns="0" rtlCol="0" anchor="t"/>
          <a:lstStyle/>
          <a:p>
            <a:pPr indent="0" marL="0">
              <a:buNone/>
            </a:pPr>
            <a:r>
              <a:rPr lang="en-US" sz="1600" dirty="0">
                <a:solidFill>
                  <a:srgbClr val="2A0B2F"/>
                </a:solidFill>
                <a:latin typeface="Arial" pitchFamily="34" charset="0"/>
                <a:ea typeface="Arial" pitchFamily="34" charset="-122"/>
                <a:cs typeface="Arial" pitchFamily="34" charset="-120"/>
              </a:rPr>
              <a:t>The price with the best expected 12-week profit. Going below the floor is a budgeted choice, with a stop.</a:t>
            </a:r>
            <a:endParaRPr lang="en-US" sz="1600" dirty="0"/>
          </a:p>
        </p:txBody>
      </p:sp>
      <p:sp>
        <p:nvSpPr>
          <p:cNvPr id="17" name="Text 15"/>
          <p:cNvSpPr txBox="1"/>
          <p:nvPr/>
        </p:nvSpPr>
        <p:spPr>
          <a:xfrm>
            <a:off x="731520" y="6053328"/>
            <a:ext cx="11338560" cy="411480"/>
          </a:xfrm>
          <a:prstGeom prst="rect">
            <a:avLst/>
          </a:prstGeom>
          <a:noFill/>
          <a:ln/>
        </p:spPr>
        <p:txBody>
          <a:bodyPr wrap="square" lIns="0" tIns="0" rIns="0" bIns="0" rtlCol="0" anchor="t"/>
          <a:lstStyle/>
          <a:p>
            <a:pPr indent="0" marL="0">
              <a:buNone/>
            </a:pPr>
            <a:r>
              <a:rPr lang="en-US" sz="1800" b="1" dirty="0">
                <a:solidFill>
                  <a:srgbClr val="4B1248"/>
                </a:solidFill>
                <a:latin typeface="Arial" pitchFamily="34" charset="0"/>
                <a:ea typeface="Arial" pitchFamily="34" charset="-122"/>
                <a:cs typeface="Arial" pitchFamily="34" charset="-120"/>
              </a:rPr>
              <a:t>What goes into the floor, why online is different, and who provides it</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6510528"/>
          <a:ext cx="11338560" cy="914400"/>
        </p:xfrm>
        <a:graphic>
          <a:graphicData uri="http://schemas.openxmlformats.org/drawingml/2006/table">
            <a:tbl>
              <a:tblPr/>
              <a:tblGrid>
                <a:gridCol w="2926080"/>
                <a:gridCol w="5715000"/>
                <a:gridCol w="2697480"/>
              </a:tblGrid>
              <a:tr h="365760">
                <a:tc>
                  <a:txBody>
                    <a:bodyPr/>
                    <a:lstStyle/>
                    <a:p>
                      <a:pPr indent="0" marL="0">
                        <a:buNone/>
                      </a:pPr>
                      <a:r>
                        <a:rPr lang="en-US" sz="1400" b="1" dirty="0">
                          <a:solidFill>
                            <a:srgbClr val="67516B"/>
                          </a:solidFill>
                          <a:latin typeface="Arial" pitchFamily="34" charset="0"/>
                          <a:ea typeface="Arial" pitchFamily="34" charset="-122"/>
                          <a:cs typeface="Arial" pitchFamily="34" charset="-120"/>
                        </a:rPr>
                        <a:t>Cost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b="1" dirty="0">
                          <a:solidFill>
                            <a:srgbClr val="67516B"/>
                          </a:solidFill>
                          <a:latin typeface="Arial" pitchFamily="34" charset="0"/>
                          <a:ea typeface="Arial" pitchFamily="34" charset="-122"/>
                          <a:cs typeface="Arial" pitchFamily="34" charset="-120"/>
                        </a:rPr>
                        <a:t>Why it matters online</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b="1" dirty="0">
                          <a:solidFill>
                            <a:srgbClr val="67516B"/>
                          </a:solidFill>
                          <a:latin typeface="Arial" pitchFamily="34" charset="0"/>
                          <a:ea typeface="Arial" pitchFamily="34" charset="-122"/>
                          <a:cs typeface="Arial" pitchFamily="34" charset="-120"/>
                        </a:rPr>
                        <a:t>Comes from</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indent="0" marL="0">
                        <a:buNone/>
                      </a:pPr>
                      <a:r>
                        <a:rPr lang="en-US" sz="1400" b="1" dirty="0">
                          <a:solidFill>
                            <a:srgbClr val="2A0B2F"/>
                          </a:solidFill>
                          <a:latin typeface="Arial" pitchFamily="34" charset="0"/>
                          <a:ea typeface="Arial" pitchFamily="34" charset="-122"/>
                          <a:cs typeface="Arial" pitchFamily="34" charset="-120"/>
                        </a:rPr>
                        <a:t>Making cost and packaging</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dirty="0">
                          <a:solidFill>
                            <a:srgbClr val="2A0B2F"/>
                          </a:solidFill>
                          <a:latin typeface="Arial" pitchFamily="34" charset="0"/>
                          <a:ea typeface="Arial" pitchFamily="34" charset="-122"/>
                          <a:cs typeface="Arial" pitchFamily="34" charset="-120"/>
                        </a:rPr>
                        <a:t>The only costs most offline sellers already count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b="1" dirty="0">
                          <a:solidFill>
                            <a:srgbClr val="C2185B"/>
                          </a:solidFill>
                          <a:latin typeface="Arial" pitchFamily="34" charset="0"/>
                          <a:ea typeface="Arial" pitchFamily="34" charset="-122"/>
                          <a:cs typeface="Arial" pitchFamily="34" charset="-120"/>
                        </a:rPr>
                        <a:t>Seller types it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indent="0" marL="0">
                        <a:buNone/>
                      </a:pPr>
                      <a:r>
                        <a:rPr lang="en-US" sz="1400" b="1" dirty="0">
                          <a:solidFill>
                            <a:srgbClr val="2A0B2F"/>
                          </a:solidFill>
                          <a:latin typeface="Arial" pitchFamily="34" charset="0"/>
                          <a:ea typeface="Arial" pitchFamily="34" charset="-122"/>
                          <a:cs typeface="Arial" pitchFamily="34" charset="-120"/>
                        </a:rPr>
                        <a:t>Delivery on every parcel</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dirty="0">
                          <a:solidFill>
                            <a:srgbClr val="2A0B2F"/>
                          </a:solidFill>
                          <a:latin typeface="Arial" pitchFamily="34" charset="0"/>
                          <a:ea typeface="Arial" pitchFamily="34" charset="-122"/>
                          <a:cs typeface="Arial" pitchFamily="34" charset="-120"/>
                        </a:rPr>
                        <a:t>Paid even on parcels that come back as RTO or returns</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b="1" dirty="0">
                          <a:solidFill>
                            <a:srgbClr val="5B2A86"/>
                          </a:solidFill>
                          <a:latin typeface="Arial" pitchFamily="34" charset="0"/>
                          <a:ea typeface="Arial" pitchFamily="34" charset="-122"/>
                          <a:cs typeface="Arial" pitchFamily="34" charset="-120"/>
                        </a:rPr>
                        <a:t>Meesho: fee by weight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indent="0" marL="0">
                        <a:buNone/>
                      </a:pPr>
                      <a:r>
                        <a:rPr lang="en-US" sz="1400" b="1" dirty="0">
                          <a:solidFill>
                            <a:srgbClr val="2A0B2F"/>
                          </a:solidFill>
                          <a:latin typeface="Arial" pitchFamily="34" charset="0"/>
                          <a:ea typeface="Arial" pitchFamily="34" charset="-122"/>
                          <a:cs typeface="Arial" pitchFamily="34" charset="-120"/>
                        </a:rPr>
                        <a:t>Customer returns</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dirty="0">
                          <a:solidFill>
                            <a:srgbClr val="2A0B2F"/>
                          </a:solidFill>
                          <a:latin typeface="Arial" pitchFamily="34" charset="0"/>
                          <a:ea typeface="Arial" pitchFamily="34" charset="-122"/>
                          <a:cs typeface="Arial" pitchFamily="34" charset="-120"/>
                        </a:rPr>
                        <a:t>Refund plus pickup; a returned soap cannot be resold</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b="1" dirty="0">
                          <a:solidFill>
                            <a:srgbClr val="5B2A86"/>
                          </a:solidFill>
                          <a:latin typeface="Arial" pitchFamily="34" charset="0"/>
                          <a:ea typeface="Arial" pitchFamily="34" charset="-122"/>
                          <a:cs typeface="Arial" pitchFamily="34" charset="-120"/>
                        </a:rPr>
                        <a:t>Meesho: category history</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indent="0" marL="0">
                        <a:buNone/>
                      </a:pPr>
                      <a:r>
                        <a:rPr lang="en-US" sz="1400" b="1" dirty="0">
                          <a:solidFill>
                            <a:srgbClr val="2A0B2F"/>
                          </a:solidFill>
                          <a:latin typeface="Arial" pitchFamily="34" charset="0"/>
                          <a:ea typeface="Arial" pitchFamily="34" charset="-122"/>
                          <a:cs typeface="Arial" pitchFamily="34" charset="-120"/>
                        </a:rPr>
                        <a:t>RTO</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dirty="0">
                          <a:solidFill>
                            <a:srgbClr val="2A0B2F"/>
                          </a:solidFill>
                          <a:latin typeface="Arial" pitchFamily="34" charset="0"/>
                          <a:ea typeface="Arial" pitchFamily="34" charset="-122"/>
                          <a:cs typeface="Arial" pitchFamily="34" charset="-120"/>
                        </a:rPr>
                        <a:t>Buyer refuses or can't be reached, mostly cash on delivery</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b="1" dirty="0">
                          <a:solidFill>
                            <a:srgbClr val="5B2A86"/>
                          </a:solidFill>
                          <a:latin typeface="Arial" pitchFamily="34" charset="0"/>
                          <a:ea typeface="Arial" pitchFamily="34" charset="-122"/>
                          <a:cs typeface="Arial" pitchFamily="34" charset="-120"/>
                        </a:rPr>
                        <a:t>Meesho: category, COD mix</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indent="0" marL="0">
                        <a:buNone/>
                      </a:pPr>
                      <a:r>
                        <a:rPr lang="en-US" sz="1400" b="1" dirty="0">
                          <a:solidFill>
                            <a:srgbClr val="2A0B2F"/>
                          </a:solidFill>
                          <a:latin typeface="Arial" pitchFamily="34" charset="0"/>
                          <a:ea typeface="Arial" pitchFamily="34" charset="-122"/>
                          <a:cs typeface="Arial" pitchFamily="34" charset="-120"/>
                        </a:rPr>
                        <a:t>Free gifts and ads per order</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dirty="0">
                          <a:solidFill>
                            <a:srgbClr val="2A0B2F"/>
                          </a:solidFill>
                          <a:latin typeface="Arial" pitchFamily="34" charset="0"/>
                          <a:ea typeface="Arial" pitchFamily="34" charset="-122"/>
                          <a:cs typeface="Arial" pitchFamily="34" charset="-120"/>
                        </a:rPr>
                        <a:t>A free sample costs nothing on paper offline; online it is in every parcel</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b="1" dirty="0">
                          <a:solidFill>
                            <a:srgbClr val="C2185B"/>
                          </a:solidFill>
                          <a:latin typeface="Arial" pitchFamily="34" charset="0"/>
                          <a:ea typeface="Arial" pitchFamily="34" charset="-122"/>
                          <a:cs typeface="Arial" pitchFamily="34" charset="-120"/>
                        </a:rPr>
                        <a:t>Seller types it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65760">
                <a:tc>
                  <a:txBody>
                    <a:bodyPr/>
                    <a:lstStyle/>
                    <a:p>
                      <a:pPr indent="0" marL="0">
                        <a:buNone/>
                      </a:pPr>
                      <a:r>
                        <a:rPr lang="en-US" sz="1400" b="1" dirty="0">
                          <a:solidFill>
                            <a:srgbClr val="2A0B2F"/>
                          </a:solidFill>
                          <a:latin typeface="Arial" pitchFamily="34" charset="0"/>
                          <a:ea typeface="Arial" pitchFamily="34" charset="-122"/>
                          <a:cs typeface="Arial" pitchFamily="34" charset="-120"/>
                        </a:rPr>
                        <a:t>GST</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dirty="0">
                          <a:solidFill>
                            <a:srgbClr val="2A0B2F"/>
                          </a:solidFill>
                          <a:latin typeface="Arial" pitchFamily="34" charset="0"/>
                          <a:ea typeface="Arial" pitchFamily="34" charset="-122"/>
                          <a:cs typeface="Arial" pitchFamily="34" charset="-120"/>
                        </a:rPr>
                        <a:t>Part of the listed price that never reaches the seller</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00" b="1" dirty="0">
                          <a:solidFill>
                            <a:srgbClr val="5B2A86"/>
                          </a:solidFill>
                          <a:latin typeface="Arial" pitchFamily="34" charset="0"/>
                          <a:ea typeface="Arial" pitchFamily="34" charset="-122"/>
                          <a:cs typeface="Arial" pitchFamily="34" charset="-120"/>
                        </a:rPr>
                        <a:t>Meesho: rate by category</a:t>
                      </a:r>
                      <a:endParaRPr lang="en-US" sz="140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bl>
          </a:graphicData>
        </a:graphic>
      </p:graphicFrame>
      <p:sp>
        <p:nvSpPr>
          <p:cNvPr id="19" name="Shape 16"/>
          <p:cNvSpPr/>
          <p:nvPr/>
        </p:nvSpPr>
        <p:spPr>
          <a:xfrm>
            <a:off x="12390120" y="6053328"/>
            <a:ext cx="5166360" cy="3017520"/>
          </a:xfrm>
          <a:prstGeom prst="roundRect">
            <a:avLst>
              <a:gd name="adj" fmla="val 3636"/>
            </a:avLst>
          </a:prstGeom>
          <a:solidFill>
            <a:srgbClr val="4B1248"/>
          </a:solidFill>
          <a:ln w="12700">
            <a:solidFill>
              <a:srgbClr val="4B1248"/>
            </a:solidFill>
            <a:prstDash val="solid"/>
          </a:ln>
        </p:spPr>
      </p:sp>
      <p:sp>
        <p:nvSpPr>
          <p:cNvPr id="20" name="Text 17"/>
          <p:cNvSpPr txBox="1"/>
          <p:nvPr/>
        </p:nvSpPr>
        <p:spPr>
          <a:xfrm>
            <a:off x="12664440" y="6217920"/>
            <a:ext cx="4617720" cy="2697480"/>
          </a:xfrm>
          <a:prstGeom prst="rect">
            <a:avLst/>
          </a:prstGeom>
          <a:noFill/>
          <a:ln/>
        </p:spPr>
        <p:txBody>
          <a:bodyPr wrap="square" lIns="0" tIns="0" rIns="0" bIns="0" rtlCol="0" anchor="ctr"/>
          <a:lstStyle/>
          <a:p>
            <a:pPr indent="0" marL="0">
              <a:spcAft>
                <a:spcPts val="1200"/>
              </a:spcAft>
              <a:buNone/>
            </a:pPr>
            <a:r>
              <a:rPr lang="en-US" sz="1800" b="1" dirty="0">
                <a:solidFill>
                  <a:srgbClr val="FFFFFF"/>
                </a:solidFill>
                <a:latin typeface="Arial" pitchFamily="34" charset="0"/>
                <a:ea typeface="Arial" pitchFamily="34" charset="-122"/>
                <a:cs typeface="Arial" pitchFamily="34" charset="-120"/>
              </a:rPr>
              <a:t>The floor, in one line</a:t>
            </a:r>
            <a:endParaRPr lang="en-US" sz="1800" dirty="0"/>
          </a:p>
          <a:p>
            <a:pPr indent="0" marL="0">
              <a:spcAft>
                <a:spcPts val="1200"/>
              </a:spcAft>
              <a:buNone/>
            </a:pPr>
            <a:r>
              <a:rPr lang="en-US" sz="1600" dirty="0">
                <a:solidFill>
                  <a:srgbClr val="FFFFFF"/>
                </a:solidFill>
                <a:latin typeface="Arial" pitchFamily="34" charset="0"/>
                <a:ea typeface="Arial" pitchFamily="34" charset="-122"/>
                <a:cs typeface="Arial" pitchFamily="34" charset="-120"/>
              </a:rPr>
              <a:t>Add up the cost of 100 parcels sent, divide by the parcels actually paid for, then add GST.</a:t>
            </a:r>
            <a:endParaRPr lang="en-US" sz="1800" dirty="0"/>
          </a:p>
          <a:p>
            <a:pPr indent="0" marL="0">
              <a:spcAft>
                <a:spcPts val="1200"/>
              </a:spcAft>
              <a:buNone/>
            </a:pPr>
            <a:r>
              <a:rPr lang="en-US" sz="1450" dirty="0">
                <a:solidFill>
                  <a:srgbClr val="F7C6DC"/>
                </a:solidFill>
                <a:latin typeface="Arial" pitchFamily="34" charset="0"/>
                <a:ea typeface="Arial" pitchFamily="34" charset="-122"/>
                <a:cs typeface="Arial" pitchFamily="34" charset="-120"/>
              </a:rPr>
              <a:t>If the floor sits above the band, don't cut below it. Sell a pack, lighten packaging, find a cheaper supplier, or don't list.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indent="0" marL="0">
              <a:buNone/>
            </a:pPr>
            <a:r>
              <a:rPr lang="en-US" sz="3600" b="1" dirty="0">
                <a:solidFill>
                  <a:srgbClr val="4B1248"/>
                </a:solidFill>
                <a:latin typeface="Arial" pitchFamily="34" charset="0"/>
                <a:ea typeface="Arial" pitchFamily="34" charset="-122"/>
                <a:cs typeface="Arial" pitchFamily="34" charset="-120"/>
              </a:rPr>
              <a:t>Seller 6's soap: his ₹134 loses money; ₹209 is where to start</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indent="0" marL="0">
              <a:buNone/>
            </a:pPr>
            <a:r>
              <a:rPr lang="en-US" sz="1700" i="1" dirty="0">
                <a:solidFill>
                  <a:srgbClr val="67516B"/>
                </a:solidFill>
                <a:latin typeface="Arial" pitchFamily="34" charset="0"/>
                <a:ea typeface="Arial" pitchFamily="34" charset="-122"/>
                <a:cs typeface="Arial" pitchFamily="34" charset="-120"/>
              </a:rPr>
              <a:t>Handmade herbal soap, 200 g: materials ₹64, packaging ₹12, a free bar worth ₹15. Demo assumptions: ₹30 delivery, 5% GST, synthetic market data</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indent="0" marL="0">
              <a:buNone/>
            </a:pPr>
            <a:r>
              <a:rPr lang="en-US" sz="1200" dirty="0">
                <a:solidFill>
                  <a:srgbClr val="67516B"/>
                </a:solidFill>
                <a:latin typeface="Arial" pitchFamily="34" charset="0"/>
                <a:ea typeface="Arial" pitchFamily="34" charset="-122"/>
                <a:cs typeface="Arial" pitchFamily="34" charset="-120"/>
              </a:rPr>
              <a:t>Numbers from the Price Confidence demo, trained on 150 synthetic soap listings. Orders placed include parcels that come back; paid orders are those kept.</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4</a:t>
            </a:r>
            <a:endParaRPr lang="en-US" sz="1200" dirty="0"/>
          </a:p>
        </p:txBody>
      </p:sp>
      <p:sp>
        <p:nvSpPr>
          <p:cNvPr id="6" name="Shape 4"/>
          <p:cNvSpPr/>
          <p:nvPr/>
        </p:nvSpPr>
        <p:spPr>
          <a:xfrm>
            <a:off x="731520" y="3886200"/>
            <a:ext cx="5577840" cy="5166360"/>
          </a:xfrm>
          <a:prstGeom prst="roundRect">
            <a:avLst>
              <a:gd name="adj" fmla="val 2124"/>
            </a:avLst>
          </a:prstGeom>
          <a:solidFill>
            <a:srgbClr val="F6EEF7"/>
          </a:solidFill>
          <a:ln w="12700">
            <a:solidFill>
              <a:srgbClr val="F6EEF7"/>
            </a:solidFill>
            <a:prstDash val="solid"/>
          </a:ln>
        </p:spPr>
      </p:sp>
      <p:sp>
        <p:nvSpPr>
          <p:cNvPr id="7" name="Text 5"/>
          <p:cNvSpPr txBox="1"/>
          <p:nvPr/>
        </p:nvSpPr>
        <p:spPr>
          <a:xfrm>
            <a:off x="1005840" y="4041648"/>
            <a:ext cx="5029200" cy="411480"/>
          </a:xfrm>
          <a:prstGeom prst="rect">
            <a:avLst/>
          </a:prstGeom>
          <a:noFill/>
          <a:ln/>
        </p:spPr>
        <p:txBody>
          <a:bodyPr wrap="square" lIns="0" tIns="0" rIns="0" bIns="0" rtlCol="0" anchor="t"/>
          <a:lstStyle/>
          <a:p>
            <a:pPr indent="0" marL="0">
              <a:buNone/>
            </a:pPr>
            <a:r>
              <a:rPr lang="en-US" sz="1700" b="1" dirty="0">
                <a:solidFill>
                  <a:srgbClr val="4B1248"/>
                </a:solidFill>
                <a:latin typeface="Arial" pitchFamily="34" charset="0"/>
                <a:ea typeface="Arial" pitchFamily="34" charset="-122"/>
                <a:cs typeface="Arial" pitchFamily="34" charset="-120"/>
              </a:rPr>
              <a:t>What one paid order really costs him</a:t>
            </a:r>
            <a:endParaRPr lang="en-US" sz="1700" dirty="0"/>
          </a:p>
        </p:txBody>
      </p:sp>
      <p:sp>
        <p:nvSpPr>
          <p:cNvPr id="8" name="Text 6"/>
          <p:cNvSpPr txBox="1"/>
          <p:nvPr/>
        </p:nvSpPr>
        <p:spPr>
          <a:xfrm>
            <a:off x="1005840" y="4498848"/>
            <a:ext cx="5029200" cy="914400"/>
          </a:xfrm>
          <a:prstGeom prst="rect">
            <a:avLst/>
          </a:prstGeom>
          <a:noFill/>
          <a:ln/>
        </p:spPr>
        <p:txBody>
          <a:bodyPr wrap="square" lIns="0" tIns="0" rIns="0" bIns="0" rtlCol="0" anchor="t"/>
          <a:lstStyle/>
          <a:p>
            <a:pPr indent="0" marL="0">
              <a:buNone/>
            </a:pPr>
            <a:r>
              <a:rPr lang="en-US" sz="1350" dirty="0">
                <a:solidFill>
                  <a:srgbClr val="67516B"/>
                </a:solidFill>
                <a:latin typeface="Arial" pitchFamily="34" charset="0"/>
                <a:ea typeface="Arial" pitchFamily="34" charset="-122"/>
                <a:cs typeface="Arial" pitchFamily="34" charset="-120"/>
              </a:rPr>
              <a:t>Of 100 parcels, about 10 come back undelivered and 6% of the delivered ones are returned. Only about 84 get paid for, so they carry the cost of all 100.</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005840" y="5486400"/>
          <a:ext cx="5029200" cy="914400"/>
        </p:xfrm>
        <a:graphic>
          <a:graphicData uri="http://schemas.openxmlformats.org/drawingml/2006/table">
            <a:tbl>
              <a:tblPr/>
              <a:tblGrid>
                <a:gridCol w="3931920"/>
                <a:gridCol w="1097280"/>
              </a:tblGrid>
              <a:tr h="393192">
                <a:tc>
                  <a:txBody>
                    <a:bodyPr/>
                    <a:lstStyle/>
                    <a:p>
                      <a:pPr algn="l" indent="0" marL="0">
                        <a:buNone/>
                      </a:pPr>
                      <a:r>
                        <a:rPr lang="en-US" sz="1450" dirty="0">
                          <a:solidFill>
                            <a:srgbClr val="2A0B2F"/>
                          </a:solidFill>
                          <a:latin typeface="Arial" pitchFamily="34" charset="0"/>
                          <a:ea typeface="Arial" pitchFamily="34" charset="-122"/>
                          <a:cs typeface="Arial" pitchFamily="34" charset="-120"/>
                        </a:rPr>
                        <a:t>Making cost, incl. pieces lost in returns</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dirty="0">
                          <a:solidFill>
                            <a:srgbClr val="2A0B2F"/>
                          </a:solidFill>
                          <a:latin typeface="Arial" pitchFamily="34" charset="0"/>
                          <a:ea typeface="Arial" pitchFamily="34" charset="-122"/>
                          <a:cs typeface="Arial" pitchFamily="34" charset="-120"/>
                        </a:rPr>
                        <a:t>₹68</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93192">
                <a:tc>
                  <a:txBody>
                    <a:bodyPr/>
                    <a:lstStyle/>
                    <a:p>
                      <a:pPr algn="l" indent="0" marL="0">
                        <a:buNone/>
                      </a:pPr>
                      <a:r>
                        <a:rPr lang="en-US" sz="1450" dirty="0">
                          <a:solidFill>
                            <a:srgbClr val="2A0B2F"/>
                          </a:solidFill>
                          <a:latin typeface="Arial" pitchFamily="34" charset="0"/>
                          <a:ea typeface="Arial" pitchFamily="34" charset="-122"/>
                          <a:cs typeface="Arial" pitchFamily="34" charset="-120"/>
                        </a:rPr>
                        <a:t>Packaging</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dirty="0">
                          <a:solidFill>
                            <a:srgbClr val="2A0B2F"/>
                          </a:solidFill>
                          <a:latin typeface="Arial" pitchFamily="34" charset="0"/>
                          <a:ea typeface="Arial" pitchFamily="34" charset="-122"/>
                          <a:cs typeface="Arial" pitchFamily="34" charset="-120"/>
                        </a:rPr>
                        <a:t>₹14</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93192">
                <a:tc>
                  <a:txBody>
                    <a:bodyPr/>
                    <a:lstStyle/>
                    <a:p>
                      <a:pPr algn="l" indent="0" marL="0">
                        <a:buNone/>
                      </a:pPr>
                      <a:r>
                        <a:rPr lang="en-US" sz="1450" dirty="0">
                          <a:solidFill>
                            <a:srgbClr val="2A0B2F"/>
                          </a:solidFill>
                          <a:latin typeface="Arial" pitchFamily="34" charset="0"/>
                          <a:ea typeface="Arial" pitchFamily="34" charset="-122"/>
                          <a:cs typeface="Arial" pitchFamily="34" charset="-120"/>
                        </a:rPr>
                        <a:t>Meesho delivery</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dirty="0">
                          <a:solidFill>
                            <a:srgbClr val="2A0B2F"/>
                          </a:solidFill>
                          <a:latin typeface="Arial" pitchFamily="34" charset="0"/>
                          <a:ea typeface="Arial" pitchFamily="34" charset="-122"/>
                          <a:cs typeface="Arial" pitchFamily="34" charset="-120"/>
                        </a:rPr>
                        <a:t>₹36</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93192">
                <a:tc>
                  <a:txBody>
                    <a:bodyPr/>
                    <a:lstStyle/>
                    <a:p>
                      <a:pPr algn="l" indent="0" marL="0">
                        <a:buNone/>
                      </a:pPr>
                      <a:r>
                        <a:rPr lang="en-US" sz="1450" dirty="0">
                          <a:solidFill>
                            <a:srgbClr val="2A0B2F"/>
                          </a:solidFill>
                          <a:latin typeface="Arial" pitchFamily="34" charset="0"/>
                          <a:ea typeface="Arial" pitchFamily="34" charset="-122"/>
                          <a:cs typeface="Arial" pitchFamily="34" charset="-120"/>
                        </a:rPr>
                        <a:t>Return pickups</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dirty="0">
                          <a:solidFill>
                            <a:srgbClr val="2A0B2F"/>
                          </a:solidFill>
                          <a:latin typeface="Arial" pitchFamily="34" charset="0"/>
                          <a:ea typeface="Arial" pitchFamily="34" charset="-122"/>
                          <a:cs typeface="Arial" pitchFamily="34" charset="-120"/>
                        </a:rPr>
                        <a:t>₹2</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93192">
                <a:tc>
                  <a:txBody>
                    <a:bodyPr/>
                    <a:lstStyle/>
                    <a:p>
                      <a:pPr algn="l" indent="0" marL="0">
                        <a:buNone/>
                      </a:pPr>
                      <a:r>
                        <a:rPr lang="en-US" sz="1450" dirty="0">
                          <a:solidFill>
                            <a:srgbClr val="2A0B2F"/>
                          </a:solidFill>
                          <a:latin typeface="Arial" pitchFamily="34" charset="0"/>
                          <a:ea typeface="Arial" pitchFamily="34" charset="-122"/>
                          <a:cs typeface="Arial" pitchFamily="34" charset="-120"/>
                        </a:rPr>
                        <a:t>Free bar</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dirty="0">
                          <a:solidFill>
                            <a:srgbClr val="2A0B2F"/>
                          </a:solidFill>
                          <a:latin typeface="Arial" pitchFamily="34" charset="0"/>
                          <a:ea typeface="Arial" pitchFamily="34" charset="-122"/>
                          <a:cs typeface="Arial" pitchFamily="34" charset="-120"/>
                        </a:rPr>
                        <a:t>₹18</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93192">
                <a:tc>
                  <a:txBody>
                    <a:bodyPr/>
                    <a:lstStyle/>
                    <a:p>
                      <a:pPr algn="l" indent="0" marL="0">
                        <a:buNone/>
                      </a:pPr>
                      <a:r>
                        <a:rPr lang="en-US" sz="1450" b="1" dirty="0">
                          <a:solidFill>
                            <a:srgbClr val="2A0B2F"/>
                          </a:solidFill>
                          <a:latin typeface="Arial" pitchFamily="34" charset="0"/>
                          <a:ea typeface="Arial" pitchFamily="34" charset="-122"/>
                          <a:cs typeface="Arial" pitchFamily="34" charset="-120"/>
                        </a:rPr>
                        <a:t>Cost of one paid order</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b="1" dirty="0">
                          <a:solidFill>
                            <a:srgbClr val="2A0B2F"/>
                          </a:solidFill>
                          <a:latin typeface="Arial" pitchFamily="34" charset="0"/>
                          <a:ea typeface="Arial" pitchFamily="34" charset="-122"/>
                          <a:cs typeface="Arial" pitchFamily="34" charset="-120"/>
                        </a:rPr>
                        <a:t>₹138</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93192">
                <a:tc>
                  <a:txBody>
                    <a:bodyPr/>
                    <a:lstStyle/>
                    <a:p>
                      <a:pPr algn="l" indent="0" marL="0">
                        <a:buNone/>
                      </a:pPr>
                      <a:r>
                        <a:rPr lang="en-US" sz="1450" dirty="0">
                          <a:solidFill>
                            <a:srgbClr val="2A0B2F"/>
                          </a:solidFill>
                          <a:latin typeface="Arial" pitchFamily="34" charset="0"/>
                          <a:ea typeface="Arial" pitchFamily="34" charset="-122"/>
                          <a:cs typeface="Arial" pitchFamily="34" charset="-120"/>
                        </a:rPr>
                        <a:t>GST (5%)</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450" dirty="0">
                          <a:solidFill>
                            <a:srgbClr val="2A0B2F"/>
                          </a:solidFill>
                          <a:latin typeface="Arial" pitchFamily="34" charset="0"/>
                          <a:ea typeface="Arial" pitchFamily="34" charset="-122"/>
                          <a:cs typeface="Arial" pitchFamily="34" charset="-120"/>
                        </a:rPr>
                        <a:t>₹7</a:t>
                      </a:r>
                      <a:endParaRPr lang="en-US" sz="145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393192">
                <a:tc>
                  <a:txBody>
                    <a:bodyPr/>
                    <a:lstStyle/>
                    <a:p>
                      <a:pPr algn="l" indent="0" marL="0">
                        <a:buNone/>
                      </a:pPr>
                      <a:r>
                        <a:rPr lang="en-US" sz="1700" b="1" dirty="0">
                          <a:solidFill>
                            <a:srgbClr val="B42318"/>
                          </a:solidFill>
                          <a:latin typeface="Arial" pitchFamily="34" charset="0"/>
                          <a:ea typeface="Arial" pitchFamily="34" charset="-122"/>
                          <a:cs typeface="Arial" pitchFamily="34" charset="-120"/>
                        </a:rPr>
                        <a:t>Floor price</a:t>
                      </a:r>
                      <a:endParaRPr lang="en-US" sz="17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algn="r" indent="0" marL="0">
                        <a:buNone/>
                      </a:pPr>
                      <a:r>
                        <a:rPr lang="en-US" sz="1700" b="1" dirty="0">
                          <a:solidFill>
                            <a:srgbClr val="B42318"/>
                          </a:solidFill>
                          <a:latin typeface="Arial" pitchFamily="34" charset="0"/>
                          <a:ea typeface="Arial" pitchFamily="34" charset="-122"/>
                          <a:cs typeface="Arial" pitchFamily="34" charset="-120"/>
                        </a:rPr>
                        <a:t>₹145</a:t>
                      </a:r>
                      <a:endParaRPr lang="en-US" sz="1700" dirty="0">
                        <a:latin typeface="Arial" charset="0"/>
                        <a:ea typeface="Arial" charset="0"/>
                        <a:cs typeface="Arial" charset="0"/>
                      </a:endParaRPr>
                    </a:p>
                  </a:txBody>
                  <a:tcPr marL="64008" marR="64008"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bl>
          </a:graphicData>
        </a:graphic>
      </p:graphicFrame>
      <p:sp>
        <p:nvSpPr>
          <p:cNvPr id="10" name="Shape 7"/>
          <p:cNvSpPr/>
          <p:nvPr/>
        </p:nvSpPr>
        <p:spPr>
          <a:xfrm>
            <a:off x="6629400" y="3886200"/>
            <a:ext cx="4754880" cy="3611880"/>
          </a:xfrm>
          <a:prstGeom prst="roundRect">
            <a:avLst>
              <a:gd name="adj" fmla="val 5063"/>
            </a:avLst>
          </a:prstGeom>
          <a:solidFill>
            <a:srgbClr val="FFF4F9"/>
          </a:solidFill>
          <a:ln w="31750">
            <a:solidFill>
              <a:srgbClr val="C2185B"/>
            </a:solidFill>
            <a:prstDash val="solid"/>
          </a:ln>
        </p:spPr>
      </p:sp>
      <p:sp>
        <p:nvSpPr>
          <p:cNvPr id="11" name="Shape 8"/>
          <p:cNvSpPr/>
          <p:nvPr/>
        </p:nvSpPr>
        <p:spPr>
          <a:xfrm>
            <a:off x="6903720" y="4114800"/>
            <a:ext cx="256032" cy="256032"/>
          </a:xfrm>
          <a:prstGeom prst="ellipse">
            <a:avLst/>
          </a:prstGeom>
          <a:solidFill>
            <a:srgbClr val="FFFFFF"/>
          </a:solidFill>
          <a:ln w="25400">
            <a:solidFill>
              <a:srgbClr val="C2185B"/>
            </a:solidFill>
            <a:prstDash val="solid"/>
          </a:ln>
        </p:spPr>
      </p:sp>
      <p:sp>
        <p:nvSpPr>
          <p:cNvPr id="12" name="Text 9"/>
          <p:cNvSpPr txBox="1"/>
          <p:nvPr/>
        </p:nvSpPr>
        <p:spPr>
          <a:xfrm>
            <a:off x="7360920" y="4069080"/>
            <a:ext cx="3200400" cy="411480"/>
          </a:xfrm>
          <a:prstGeom prst="rect">
            <a:avLst/>
          </a:prstGeom>
          <a:noFill/>
          <a:ln/>
        </p:spPr>
        <p:txBody>
          <a:bodyPr wrap="square" lIns="0" tIns="0" rIns="0" bIns="0" rtlCol="0" anchor="ctr"/>
          <a:lstStyle/>
          <a:p>
            <a:pPr indent="0" marL="0">
              <a:buNone/>
            </a:pPr>
            <a:r>
              <a:rPr lang="en-US" sz="1900" b="1" dirty="0">
                <a:solidFill>
                  <a:srgbClr val="67516B"/>
                </a:solidFill>
                <a:latin typeface="Arial" pitchFamily="34" charset="0"/>
                <a:ea typeface="Arial" pitchFamily="34" charset="-122"/>
                <a:cs typeface="Arial" pitchFamily="34" charset="-120"/>
              </a:rPr>
              <a:t>Start at</a:t>
            </a:r>
            <a:endParaRPr lang="en-US" sz="1900" dirty="0"/>
          </a:p>
        </p:txBody>
      </p:sp>
      <p:sp>
        <p:nvSpPr>
          <p:cNvPr id="13" name="Text 10"/>
          <p:cNvSpPr txBox="1"/>
          <p:nvPr/>
        </p:nvSpPr>
        <p:spPr>
          <a:xfrm>
            <a:off x="7315200" y="4480560"/>
            <a:ext cx="3840480" cy="1325880"/>
          </a:xfrm>
          <a:prstGeom prst="rect">
            <a:avLst/>
          </a:prstGeom>
          <a:noFill/>
          <a:ln/>
        </p:spPr>
        <p:txBody>
          <a:bodyPr wrap="square" lIns="0" tIns="0" rIns="0" bIns="0" rtlCol="0" anchor="ctr"/>
          <a:lstStyle/>
          <a:p>
            <a:pPr indent="0" marL="0">
              <a:buNone/>
            </a:pPr>
            <a:r>
              <a:rPr lang="en-US" sz="8800" b="1" dirty="0">
                <a:solidFill>
                  <a:srgbClr val="4B1248"/>
                </a:solidFill>
                <a:latin typeface="Arial" pitchFamily="34" charset="0"/>
                <a:ea typeface="Arial" pitchFamily="34" charset="-122"/>
                <a:cs typeface="Arial" pitchFamily="34" charset="-120"/>
              </a:rPr>
              <a:t>₹209</a:t>
            </a:r>
            <a:endParaRPr lang="en-US" sz="8800" dirty="0"/>
          </a:p>
        </p:txBody>
      </p:sp>
      <p:sp>
        <p:nvSpPr>
          <p:cNvPr id="14" name="Text 11"/>
          <p:cNvSpPr txBox="1"/>
          <p:nvPr/>
        </p:nvSpPr>
        <p:spPr>
          <a:xfrm>
            <a:off x="7360920" y="5897880"/>
            <a:ext cx="3840480" cy="777240"/>
          </a:xfrm>
          <a:prstGeom prst="rect">
            <a:avLst/>
          </a:prstGeom>
          <a:noFill/>
          <a:ln/>
        </p:spPr>
        <p:txBody>
          <a:bodyPr wrap="square" lIns="0" tIns="0" rIns="0" bIns="0" rtlCol="0" anchor="t"/>
          <a:lstStyle/>
          <a:p>
            <a:pPr indent="0" marL="0">
              <a:spcAft>
                <a:spcPts val="400"/>
              </a:spcAft>
              <a:buNone/>
            </a:pPr>
            <a:r>
              <a:rPr lang="en-US" sz="1600" b="1" dirty="0">
                <a:solidFill>
                  <a:srgbClr val="2A0B2F"/>
                </a:solidFill>
                <a:latin typeface="Arial" pitchFamily="34" charset="0"/>
                <a:ea typeface="Arial" pitchFamily="34" charset="-122"/>
                <a:cs typeface="Arial" pitchFamily="34" charset="-120"/>
              </a:rPr>
              <a:t>Good range ₹189 to ₹229</a:t>
            </a:r>
            <a:endParaRPr lang="en-US" sz="1600" dirty="0"/>
          </a:p>
          <a:p>
            <a:pPr indent="0" marL="0">
              <a:spcAft>
                <a:spcPts val="400"/>
              </a:spcAft>
              <a:buNone/>
            </a:pPr>
            <a:r>
              <a:rPr lang="en-US" sz="1600" dirty="0">
                <a:solidFill>
                  <a:srgbClr val="2A0B2F"/>
                </a:solidFill>
                <a:latin typeface="Arial" pitchFamily="34" charset="0"/>
                <a:ea typeface="Arial" pitchFamily="34" charset="-122"/>
                <a:cs typeface="Arial" pitchFamily="34" charset="-120"/>
              </a:rPr>
              <a:t>Keeps about ₹61 on each paid order</a:t>
            </a:r>
            <a:endParaRPr lang="en-US" sz="1600" dirty="0"/>
          </a:p>
        </p:txBody>
      </p:sp>
      <p:sp>
        <p:nvSpPr>
          <p:cNvPr id="15" name="Text 12"/>
          <p:cNvSpPr txBox="1"/>
          <p:nvPr/>
        </p:nvSpPr>
        <p:spPr>
          <a:xfrm>
            <a:off x="7360920" y="6812280"/>
            <a:ext cx="3840480" cy="457200"/>
          </a:xfrm>
          <a:prstGeom prst="rect">
            <a:avLst/>
          </a:prstGeom>
          <a:noFill/>
          <a:ln/>
        </p:spPr>
        <p:txBody>
          <a:bodyPr wrap="square" lIns="0" tIns="0" rIns="0" bIns="0" rtlCol="0" anchor="ctr"/>
          <a:lstStyle/>
          <a:p>
            <a:pPr indent="0" marL="0">
              <a:buNone/>
            </a:pPr>
            <a:r>
              <a:rPr lang="en-US" sz="1700" b="1" dirty="0">
                <a:solidFill>
                  <a:srgbClr val="B42318"/>
                </a:solidFill>
                <a:latin typeface="Arial" pitchFamily="34" charset="0"/>
                <a:ea typeface="Arial" pitchFamily="34" charset="-122"/>
                <a:cs typeface="Arial" pitchFamily="34" charset="-120"/>
              </a:rPr>
              <a:t>Never list below ₹145</a:t>
            </a:r>
            <a:endParaRPr lang="en-US" sz="1700" dirty="0"/>
          </a:p>
        </p:txBody>
      </p:sp>
      <p:sp>
        <p:nvSpPr>
          <p:cNvPr id="16" name="Text 13"/>
          <p:cNvSpPr txBox="1"/>
          <p:nvPr/>
        </p:nvSpPr>
        <p:spPr>
          <a:xfrm>
            <a:off x="11750040" y="3886200"/>
            <a:ext cx="5806440" cy="411480"/>
          </a:xfrm>
          <a:prstGeom prst="rect">
            <a:avLst/>
          </a:prstGeom>
          <a:noFill/>
          <a:ln/>
        </p:spPr>
        <p:txBody>
          <a:bodyPr wrap="square" lIns="0" tIns="0" rIns="0" bIns="0" rtlCol="0" anchor="t"/>
          <a:lstStyle/>
          <a:p>
            <a:pPr indent="0" marL="0">
              <a:buNone/>
            </a:pPr>
            <a:r>
              <a:rPr lang="en-US" sz="1800" b="1" dirty="0">
                <a:solidFill>
                  <a:srgbClr val="4B1248"/>
                </a:solidFill>
                <a:latin typeface="Arial" pitchFamily="34" charset="0"/>
                <a:ea typeface="Arial" pitchFamily="34" charset="-122"/>
                <a:cs typeface="Arial" pitchFamily="34" charset="-120"/>
              </a:rPr>
              <a:t>Why ₹209</a:t>
            </a:r>
            <a:endParaRPr lang="en-US" sz="1800" dirty="0"/>
          </a:p>
        </p:txBody>
      </p:sp>
      <p:sp>
        <p:nvSpPr>
          <p:cNvPr id="17" name="Text 14"/>
          <p:cNvSpPr txBox="1"/>
          <p:nvPr/>
        </p:nvSpPr>
        <p:spPr>
          <a:xfrm>
            <a:off x="11750040" y="4315968"/>
            <a:ext cx="5806440" cy="324612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Most soaps sell for ₹149 to ₹228, typically ₹186; demand rose 2% in the last 4 weeks.</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12 weeks at ₹209: about 69 orders placed, 58 of them paid. 58 × ₹61 ≈ ₹3,537 profit.</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At ₹179: 107 orders placed but only ₹2,973. ₹229 earns a little more (₹3,627); within 5%, we take the lower price for faster reviews.</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At this price level 44% of negative reviews mention price, against 27% near ₹186.</a:t>
            </a:r>
            <a:endParaRPr lang="en-US" sz="1450" dirty="0"/>
          </a:p>
          <a:p>
            <a:pPr marL="203200" indent="-203200">
              <a:spcAft>
                <a:spcPts val="600"/>
              </a:spcAft>
              <a:buSzPct val="100000"/>
              <a:buChar char="•"/>
            </a:pPr>
            <a:r>
              <a:rPr lang="en-US" sz="1450" dirty="0">
                <a:solidFill>
                  <a:srgbClr val="2A0B2F"/>
                </a:solidFill>
                <a:latin typeface="Arial" pitchFamily="34" charset="0"/>
                <a:ea typeface="Arial" pitchFamily="34" charset="-122"/>
                <a:cs typeface="Arial" pitchFamily="34" charset="-120"/>
              </a:rPr>
              <a:t>His offline ₹134 loses about ₹10 on every paid order.</a:t>
            </a:r>
            <a:endParaRPr lang="en-US" sz="1450" dirty="0"/>
          </a:p>
        </p:txBody>
      </p:sp>
      <p:sp>
        <p:nvSpPr>
          <p:cNvPr id="18" name="Shape 15"/>
          <p:cNvSpPr/>
          <p:nvPr/>
        </p:nvSpPr>
        <p:spPr>
          <a:xfrm>
            <a:off x="6812280" y="8247888"/>
            <a:ext cx="10607040" cy="109728"/>
          </a:xfrm>
          <a:prstGeom prst="roundRect">
            <a:avLst>
              <a:gd name="adj" fmla="val 50000"/>
            </a:avLst>
          </a:prstGeom>
          <a:solidFill>
            <a:srgbClr val="E3D5E6"/>
          </a:solidFill>
          <a:ln w="12700">
            <a:solidFill>
              <a:srgbClr val="E3D5E6"/>
            </a:solidFill>
            <a:prstDash val="solid"/>
          </a:ln>
        </p:spPr>
      </p:sp>
      <p:sp>
        <p:nvSpPr>
          <p:cNvPr id="19" name="Shape 16"/>
          <p:cNvSpPr/>
          <p:nvPr/>
        </p:nvSpPr>
        <p:spPr>
          <a:xfrm>
            <a:off x="9273113" y="8174736"/>
            <a:ext cx="6703649" cy="256032"/>
          </a:xfrm>
          <a:prstGeom prst="roundRect">
            <a:avLst>
              <a:gd name="adj" fmla="val 50000"/>
            </a:avLst>
          </a:prstGeom>
          <a:solidFill>
            <a:srgbClr val="EBD6EE"/>
          </a:solidFill>
          <a:ln w="12700">
            <a:solidFill>
              <a:srgbClr val="EBD6EE"/>
            </a:solidFill>
            <a:prstDash val="solid"/>
          </a:ln>
        </p:spPr>
      </p:sp>
      <p:sp>
        <p:nvSpPr>
          <p:cNvPr id="20" name="Shape 17"/>
          <p:cNvSpPr/>
          <p:nvPr/>
        </p:nvSpPr>
        <p:spPr>
          <a:xfrm>
            <a:off x="12667366" y="8211312"/>
            <a:ext cx="3394253" cy="182880"/>
          </a:xfrm>
          <a:prstGeom prst="roundRect">
            <a:avLst>
              <a:gd name="adj" fmla="val 50000"/>
            </a:avLst>
          </a:prstGeom>
          <a:solidFill>
            <a:srgbClr val="C2185B"/>
          </a:solidFill>
          <a:ln w="12700">
            <a:solidFill>
              <a:srgbClr val="C2185B"/>
            </a:solidFill>
            <a:prstDash val="solid"/>
          </a:ln>
        </p:spPr>
      </p:sp>
      <p:sp>
        <p:nvSpPr>
          <p:cNvPr id="21" name="Shape 18"/>
          <p:cNvSpPr/>
          <p:nvPr/>
        </p:nvSpPr>
        <p:spPr>
          <a:xfrm>
            <a:off x="12399081" y="8065008"/>
            <a:ext cx="27432" cy="475488"/>
          </a:xfrm>
          <a:prstGeom prst="rect">
            <a:avLst/>
          </a:prstGeom>
          <a:solidFill>
            <a:srgbClr val="67516B"/>
          </a:solidFill>
          <a:ln w="12700">
            <a:solidFill>
              <a:srgbClr val="67516B"/>
            </a:solidFill>
            <a:prstDash val="solid"/>
          </a:ln>
        </p:spPr>
      </p:sp>
      <p:sp>
        <p:nvSpPr>
          <p:cNvPr id="22" name="Shape 19"/>
          <p:cNvSpPr/>
          <p:nvPr/>
        </p:nvSpPr>
        <p:spPr>
          <a:xfrm>
            <a:off x="7986552" y="8065008"/>
            <a:ext cx="27432" cy="475488"/>
          </a:xfrm>
          <a:prstGeom prst="rect">
            <a:avLst/>
          </a:prstGeom>
          <a:solidFill>
            <a:srgbClr val="9C8AA0"/>
          </a:solidFill>
          <a:ln w="12700">
            <a:solidFill>
              <a:srgbClr val="9C8AA0"/>
            </a:solidFill>
            <a:prstDash val="solid"/>
          </a:ln>
        </p:spPr>
      </p:sp>
      <p:sp>
        <p:nvSpPr>
          <p:cNvPr id="23" name="Shape 20"/>
          <p:cNvSpPr/>
          <p:nvPr/>
        </p:nvSpPr>
        <p:spPr>
          <a:xfrm>
            <a:off x="8906256" y="7955280"/>
            <a:ext cx="54864" cy="694944"/>
          </a:xfrm>
          <a:prstGeom prst="rect">
            <a:avLst/>
          </a:prstGeom>
          <a:solidFill>
            <a:srgbClr val="B42318"/>
          </a:solidFill>
          <a:ln w="12700">
            <a:solidFill>
              <a:srgbClr val="B42318"/>
            </a:solidFill>
            <a:prstDash val="solid"/>
          </a:ln>
        </p:spPr>
      </p:sp>
      <p:sp>
        <p:nvSpPr>
          <p:cNvPr id="24" name="Shape 21"/>
          <p:cNvSpPr/>
          <p:nvPr/>
        </p:nvSpPr>
        <p:spPr>
          <a:xfrm>
            <a:off x="14227332" y="8165592"/>
            <a:ext cx="274320" cy="274320"/>
          </a:xfrm>
          <a:prstGeom prst="ellipse">
            <a:avLst/>
          </a:prstGeom>
          <a:solidFill>
            <a:srgbClr val="C2185B"/>
          </a:solidFill>
          <a:ln w="25400">
            <a:solidFill>
              <a:srgbClr val="FFFFFF"/>
            </a:solidFill>
            <a:prstDash val="solid"/>
          </a:ln>
        </p:spPr>
      </p:sp>
      <p:sp>
        <p:nvSpPr>
          <p:cNvPr id="25" name="Text 22"/>
          <p:cNvSpPr txBox="1"/>
          <p:nvPr/>
        </p:nvSpPr>
        <p:spPr>
          <a:xfrm>
            <a:off x="6994428" y="7680960"/>
            <a:ext cx="2011680" cy="292608"/>
          </a:xfrm>
          <a:prstGeom prst="rect">
            <a:avLst/>
          </a:prstGeom>
          <a:noFill/>
          <a:ln/>
        </p:spPr>
        <p:txBody>
          <a:bodyPr wrap="square" lIns="0" tIns="0" rIns="0" bIns="0" rtlCol="0" anchor="ctr"/>
          <a:lstStyle/>
          <a:p>
            <a:pPr algn="ctr" indent="0" marL="0">
              <a:buNone/>
            </a:pPr>
            <a:r>
              <a:rPr lang="en-US" sz="1300" dirty="0">
                <a:solidFill>
                  <a:srgbClr val="67516B"/>
                </a:solidFill>
                <a:latin typeface="Arial" pitchFamily="34" charset="0"/>
                <a:ea typeface="Arial" pitchFamily="34" charset="-122"/>
                <a:cs typeface="Arial" pitchFamily="34" charset="-120"/>
              </a:rPr>
              <a:t>Offline ₹134</a:t>
            </a:r>
            <a:endParaRPr lang="en-US" sz="1300" dirty="0"/>
          </a:p>
        </p:txBody>
      </p:sp>
      <p:sp>
        <p:nvSpPr>
          <p:cNvPr id="26" name="Text 23"/>
          <p:cNvSpPr txBox="1"/>
          <p:nvPr/>
        </p:nvSpPr>
        <p:spPr>
          <a:xfrm>
            <a:off x="13358652" y="7680960"/>
            <a:ext cx="2011680" cy="292608"/>
          </a:xfrm>
          <a:prstGeom prst="rect">
            <a:avLst/>
          </a:prstGeom>
          <a:noFill/>
          <a:ln/>
        </p:spPr>
        <p:txBody>
          <a:bodyPr wrap="square" lIns="0" tIns="0" rIns="0" bIns="0" rtlCol="0" anchor="ctr"/>
          <a:lstStyle/>
          <a:p>
            <a:pPr algn="ctr" indent="0" marL="0">
              <a:buNone/>
            </a:pPr>
            <a:r>
              <a:rPr lang="en-US" sz="1300" b="1" dirty="0">
                <a:solidFill>
                  <a:srgbClr val="C2185B"/>
                </a:solidFill>
                <a:latin typeface="Arial" pitchFamily="34" charset="0"/>
                <a:ea typeface="Arial" pitchFamily="34" charset="-122"/>
                <a:cs typeface="Arial" pitchFamily="34" charset="-120"/>
              </a:rPr>
              <a:t>Start ₹209</a:t>
            </a:r>
            <a:endParaRPr lang="en-US" sz="1300" dirty="0"/>
          </a:p>
        </p:txBody>
      </p:sp>
      <p:sp>
        <p:nvSpPr>
          <p:cNvPr id="27" name="Text 24"/>
          <p:cNvSpPr txBox="1"/>
          <p:nvPr/>
        </p:nvSpPr>
        <p:spPr>
          <a:xfrm>
            <a:off x="7927848" y="8705088"/>
            <a:ext cx="2011680" cy="292608"/>
          </a:xfrm>
          <a:prstGeom prst="rect">
            <a:avLst/>
          </a:prstGeom>
          <a:noFill/>
          <a:ln/>
        </p:spPr>
        <p:txBody>
          <a:bodyPr wrap="square" lIns="0" tIns="0" rIns="0" bIns="0" rtlCol="0" anchor="ctr"/>
          <a:lstStyle/>
          <a:p>
            <a:pPr algn="ctr" indent="0" marL="0">
              <a:buNone/>
            </a:pPr>
            <a:r>
              <a:rPr lang="en-US" sz="1300" b="1" dirty="0">
                <a:solidFill>
                  <a:srgbClr val="B42318"/>
                </a:solidFill>
                <a:latin typeface="Arial" pitchFamily="34" charset="0"/>
                <a:ea typeface="Arial" pitchFamily="34" charset="-122"/>
                <a:cs typeface="Arial" pitchFamily="34" charset="-120"/>
              </a:rPr>
              <a:t>Floor ₹145</a:t>
            </a:r>
            <a:endParaRPr lang="en-US" sz="1300" dirty="0"/>
          </a:p>
        </p:txBody>
      </p:sp>
      <p:sp>
        <p:nvSpPr>
          <p:cNvPr id="28" name="Text 25"/>
          <p:cNvSpPr txBox="1"/>
          <p:nvPr/>
        </p:nvSpPr>
        <p:spPr>
          <a:xfrm>
            <a:off x="11406957" y="8705088"/>
            <a:ext cx="2011680" cy="292608"/>
          </a:xfrm>
          <a:prstGeom prst="rect">
            <a:avLst/>
          </a:prstGeom>
          <a:noFill/>
          <a:ln/>
        </p:spPr>
        <p:txBody>
          <a:bodyPr wrap="square" lIns="0" tIns="0" rIns="0" bIns="0" rtlCol="0" anchor="ctr"/>
          <a:lstStyle/>
          <a:p>
            <a:pPr algn="ctr" indent="0" marL="0">
              <a:buNone/>
            </a:pPr>
            <a:r>
              <a:rPr lang="en-US" sz="1300" dirty="0">
                <a:solidFill>
                  <a:srgbClr val="67516B"/>
                </a:solidFill>
                <a:latin typeface="Arial" pitchFamily="34" charset="0"/>
                <a:ea typeface="Arial" pitchFamily="34" charset="-122"/>
                <a:cs typeface="Arial" pitchFamily="34" charset="-120"/>
              </a:rPr>
              <a:t>Typical ₹186</a:t>
            </a:r>
            <a:endParaRPr lang="en-US" sz="1300" dirty="0"/>
          </a:p>
        </p:txBody>
      </p:sp>
      <p:sp>
        <p:nvSpPr>
          <p:cNvPr id="29" name="Text 26"/>
          <p:cNvSpPr txBox="1"/>
          <p:nvPr/>
        </p:nvSpPr>
        <p:spPr>
          <a:xfrm>
            <a:off x="13600786" y="8705088"/>
            <a:ext cx="3566160" cy="292608"/>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Shaded: where most soaps sell, ₹149 to ₹228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indent="0" marL="0">
              <a:buNone/>
            </a:pPr>
            <a:r>
              <a:rPr lang="en-US" sz="3600" b="1" dirty="0">
                <a:solidFill>
                  <a:srgbClr val="4B1248"/>
                </a:solidFill>
                <a:latin typeface="Arial" pitchFamily="34" charset="0"/>
                <a:ea typeface="Arial" pitchFamily="34" charset="-122"/>
                <a:cs typeface="Arial" pitchFamily="34" charset="-120"/>
              </a:rPr>
              <a:t>Five moments when the price should move, and the signals that say why</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indent="0" marL="0">
              <a:buNone/>
            </a:pPr>
            <a:r>
              <a:rPr lang="en-US" sz="1700" i="1" dirty="0">
                <a:solidFill>
                  <a:srgbClr val="67516B"/>
                </a:solidFill>
                <a:latin typeface="Arial" pitchFamily="34" charset="0"/>
                <a:ea typeface="Arial" pitchFamily="34" charset="-122"/>
                <a:cs typeface="Arial" pitchFamily="34" charset="-120"/>
              </a:rPr>
              <a:t>Meesho sees every step of the funnel and every review; the seller sees only “no orders”. Example: Seller 6's soap, demo data</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indent="0" marL="0">
              <a:buNone/>
            </a:pPr>
            <a:r>
              <a:rPr lang="en-US" sz="1200" dirty="0">
                <a:solidFill>
                  <a:srgbClr val="67516B"/>
                </a:solidFill>
                <a:latin typeface="Arial" pitchFamily="34" charset="0"/>
                <a:ea typeface="Arial" pitchFamily="34" charset="-122"/>
                <a:cs typeface="Arial" pitchFamily="34" charset="-120"/>
              </a:rPr>
              <a:t>Review split from 28,639 synthetic reviews in the demo data; the 8% rating premium is a demo-data finding, to be validated on Meesho data.</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5</a:t>
            </a:r>
            <a:endParaRPr lang="en-US" sz="1200" dirty="0"/>
          </a:p>
        </p:txBody>
      </p:sp>
      <p:sp>
        <p:nvSpPr>
          <p:cNvPr id="6" name="Shape 4"/>
          <p:cNvSpPr/>
          <p:nvPr/>
        </p:nvSpPr>
        <p:spPr>
          <a:xfrm>
            <a:off x="731520" y="3886200"/>
            <a:ext cx="3204058" cy="2103120"/>
          </a:xfrm>
          <a:prstGeom prst="roundRect">
            <a:avLst>
              <a:gd name="adj" fmla="val 5217"/>
            </a:avLst>
          </a:prstGeom>
          <a:solidFill>
            <a:srgbClr val="F6EEF7"/>
          </a:solidFill>
          <a:ln w="12700">
            <a:solidFill>
              <a:srgbClr val="F6EEF7"/>
            </a:solidFill>
            <a:prstDash val="solid"/>
          </a:ln>
        </p:spPr>
      </p:sp>
      <p:sp>
        <p:nvSpPr>
          <p:cNvPr id="7" name="Shape 5"/>
          <p:cNvSpPr/>
          <p:nvPr/>
        </p:nvSpPr>
        <p:spPr>
          <a:xfrm>
            <a:off x="731520" y="3886200"/>
            <a:ext cx="3204058" cy="566928"/>
          </a:xfrm>
          <a:prstGeom prst="roundRect">
            <a:avLst>
              <a:gd name="adj" fmla="val 19355"/>
            </a:avLst>
          </a:prstGeom>
          <a:solidFill>
            <a:srgbClr val="4B1248"/>
          </a:solidFill>
          <a:ln w="12700">
            <a:solidFill>
              <a:srgbClr val="4B1248"/>
            </a:solidFill>
            <a:prstDash val="solid"/>
          </a:ln>
        </p:spPr>
      </p:sp>
      <p:sp>
        <p:nvSpPr>
          <p:cNvPr id="8" name="Text 6"/>
          <p:cNvSpPr txBox="1"/>
          <p:nvPr/>
        </p:nvSpPr>
        <p:spPr>
          <a:xfrm>
            <a:off x="914400" y="3886200"/>
            <a:ext cx="2929738" cy="566928"/>
          </a:xfrm>
          <a:prstGeom prst="rect">
            <a:avLst/>
          </a:prstGeom>
          <a:noFill/>
          <a:ln/>
        </p:spPr>
        <p:txBody>
          <a:bodyPr wrap="square" lIns="0" tIns="0" rIns="0" bIns="0" rtlCol="0" anchor="ctr"/>
          <a:lstStyle/>
          <a:p>
            <a:pPr indent="0" marL="0">
              <a:buNone/>
            </a:pPr>
            <a:r>
              <a:rPr lang="en-US" sz="1600" b="1" dirty="0">
                <a:solidFill>
                  <a:srgbClr val="F5A623"/>
                </a:solidFill>
                <a:latin typeface="Arial" pitchFamily="34" charset="0"/>
                <a:ea typeface="Arial" pitchFamily="34" charset="-122"/>
                <a:cs typeface="Arial" pitchFamily="34" charset="-120"/>
              </a:rPr>
              <a:t>01  </a:t>
            </a:r>
            <a:pPr indent="0" marL="0">
              <a:buNone/>
            </a:pPr>
            <a:r>
              <a:rPr lang="en-US" sz="1600" b="1" dirty="0">
                <a:solidFill>
                  <a:srgbClr val="FFFFFF"/>
                </a:solidFill>
                <a:latin typeface="Arial" pitchFamily="34" charset="0"/>
                <a:ea typeface="Arial" pitchFamily="34" charset="-122"/>
                <a:cs typeface="Arial" pitchFamily="34" charset="-120"/>
              </a:rPr>
              <a:t>Launch</a:t>
            </a:r>
            <a:endParaRPr lang="en-US" sz="1600" dirty="0"/>
          </a:p>
        </p:txBody>
      </p:sp>
      <p:sp>
        <p:nvSpPr>
          <p:cNvPr id="9" name="Text 7"/>
          <p:cNvSpPr txBox="1"/>
          <p:nvPr/>
        </p:nvSpPr>
        <p:spPr>
          <a:xfrm>
            <a:off x="914400" y="4572000"/>
            <a:ext cx="2838298" cy="1600200"/>
          </a:xfrm>
          <a:prstGeom prst="rect">
            <a:avLst/>
          </a:prstGeom>
          <a:noFill/>
          <a:ln/>
        </p:spPr>
        <p:txBody>
          <a:bodyPr wrap="square" lIns="0" tIns="0" rIns="0" bIns="0" rtlCol="0" anchor="t"/>
          <a:lstStyle/>
          <a:p>
            <a:pPr indent="0" marL="0">
              <a:spcAft>
                <a:spcPts val="800"/>
              </a:spcAft>
              <a:buNone/>
            </a:pPr>
            <a:r>
              <a:rPr lang="en-US" sz="1400" dirty="0">
                <a:solidFill>
                  <a:srgbClr val="2A0B2F"/>
                </a:solidFill>
                <a:latin typeface="Arial" pitchFamily="34" charset="0"/>
                <a:ea typeface="Arial" pitchFamily="34" charset="-122"/>
                <a:cs typeface="Arial" pitchFamily="34" charset="-120"/>
              </a:rPr>
              <a:t>Set the floor from costs and the start from the band.</a:t>
            </a:r>
            <a:endParaRPr lang="en-US" sz="1400" dirty="0"/>
          </a:p>
          <a:p>
            <a:pPr indent="0" marL="0">
              <a:buNone/>
            </a:pPr>
            <a:r>
              <a:rPr lang="en-US" sz="1400" b="1" dirty="0">
                <a:solidFill>
                  <a:srgbClr val="4B1248"/>
                </a:solidFill>
                <a:latin typeface="Arial" pitchFamily="34" charset="0"/>
                <a:ea typeface="Arial" pitchFamily="34" charset="-122"/>
                <a:cs typeface="Arial" pitchFamily="34" charset="-120"/>
              </a:rPr>
              <a:t>Floor ₹145, start ₹209</a:t>
            </a:r>
            <a:endParaRPr lang="en-US" sz="1400" dirty="0"/>
          </a:p>
        </p:txBody>
      </p:sp>
      <p:sp>
        <p:nvSpPr>
          <p:cNvPr id="10" name="Shape 8"/>
          <p:cNvSpPr/>
          <p:nvPr/>
        </p:nvSpPr>
        <p:spPr>
          <a:xfrm>
            <a:off x="4136746" y="3886200"/>
            <a:ext cx="3204058" cy="2103120"/>
          </a:xfrm>
          <a:prstGeom prst="roundRect">
            <a:avLst>
              <a:gd name="adj" fmla="val 5217"/>
            </a:avLst>
          </a:prstGeom>
          <a:solidFill>
            <a:srgbClr val="F6EEF7"/>
          </a:solidFill>
          <a:ln w="12700">
            <a:solidFill>
              <a:srgbClr val="F6EEF7"/>
            </a:solidFill>
            <a:prstDash val="solid"/>
          </a:ln>
        </p:spPr>
      </p:sp>
      <p:sp>
        <p:nvSpPr>
          <p:cNvPr id="11" name="Shape 9"/>
          <p:cNvSpPr/>
          <p:nvPr/>
        </p:nvSpPr>
        <p:spPr>
          <a:xfrm>
            <a:off x="4136746" y="3886200"/>
            <a:ext cx="3204058" cy="566928"/>
          </a:xfrm>
          <a:prstGeom prst="roundRect">
            <a:avLst>
              <a:gd name="adj" fmla="val 19355"/>
            </a:avLst>
          </a:prstGeom>
          <a:solidFill>
            <a:srgbClr val="4B1248"/>
          </a:solidFill>
          <a:ln w="12700">
            <a:solidFill>
              <a:srgbClr val="4B1248"/>
            </a:solidFill>
            <a:prstDash val="solid"/>
          </a:ln>
        </p:spPr>
      </p:sp>
      <p:sp>
        <p:nvSpPr>
          <p:cNvPr id="12" name="Text 10"/>
          <p:cNvSpPr txBox="1"/>
          <p:nvPr/>
        </p:nvSpPr>
        <p:spPr>
          <a:xfrm>
            <a:off x="4319626" y="3886200"/>
            <a:ext cx="2929738" cy="566928"/>
          </a:xfrm>
          <a:prstGeom prst="rect">
            <a:avLst/>
          </a:prstGeom>
          <a:noFill/>
          <a:ln/>
        </p:spPr>
        <p:txBody>
          <a:bodyPr wrap="square" lIns="0" tIns="0" rIns="0" bIns="0" rtlCol="0" anchor="ctr"/>
          <a:lstStyle/>
          <a:p>
            <a:pPr indent="0" marL="0">
              <a:buNone/>
            </a:pPr>
            <a:r>
              <a:rPr lang="en-US" sz="1600" b="1" dirty="0">
                <a:solidFill>
                  <a:srgbClr val="F5A623"/>
                </a:solidFill>
                <a:latin typeface="Arial" pitchFamily="34" charset="0"/>
                <a:ea typeface="Arial" pitchFamily="34" charset="-122"/>
                <a:cs typeface="Arial" pitchFamily="34" charset="-120"/>
              </a:rPr>
              <a:t>02  </a:t>
            </a:r>
            <a:pPr indent="0" marL="0">
              <a:buNone/>
            </a:pPr>
            <a:r>
              <a:rPr lang="en-US" sz="1600" b="1" dirty="0">
                <a:solidFill>
                  <a:srgbClr val="FFFFFF"/>
                </a:solidFill>
                <a:latin typeface="Arial" pitchFamily="34" charset="0"/>
                <a:ea typeface="Arial" pitchFamily="34" charset="-122"/>
                <a:cs typeface="Arial" pitchFamily="34" charset="-120"/>
              </a:rPr>
              <a:t>Discovery</a:t>
            </a:r>
            <a:endParaRPr lang="en-US" sz="1600" dirty="0"/>
          </a:p>
        </p:txBody>
      </p:sp>
      <p:sp>
        <p:nvSpPr>
          <p:cNvPr id="13" name="Text 11"/>
          <p:cNvSpPr txBox="1"/>
          <p:nvPr/>
        </p:nvSpPr>
        <p:spPr>
          <a:xfrm>
            <a:off x="4319626" y="4572000"/>
            <a:ext cx="2838298" cy="1600200"/>
          </a:xfrm>
          <a:prstGeom prst="rect">
            <a:avLst/>
          </a:prstGeom>
          <a:noFill/>
          <a:ln/>
        </p:spPr>
        <p:txBody>
          <a:bodyPr wrap="square" lIns="0" tIns="0" rIns="0" bIns="0" rtlCol="0" anchor="t"/>
          <a:lstStyle/>
          <a:p>
            <a:pPr indent="0" marL="0">
              <a:spcAft>
                <a:spcPts val="800"/>
              </a:spcAft>
              <a:buNone/>
            </a:pPr>
            <a:r>
              <a:rPr lang="en-US" sz="1400" dirty="0">
                <a:solidFill>
                  <a:srgbClr val="2A0B2F"/>
                </a:solidFill>
                <a:latin typeface="Arial" pitchFamily="34" charset="0"/>
                <a:ea typeface="Arial" pitchFamily="34" charset="-122"/>
                <a:cs typeface="Arial" pitchFamily="34" charset="-120"/>
              </a:rPr>
              <a:t>Views but no orders for 2 weeks: read the funnel below before cutting.</a:t>
            </a:r>
            <a:endParaRPr lang="en-US" sz="1400" dirty="0"/>
          </a:p>
          <a:p>
            <a:pPr indent="0" marL="0">
              <a:buNone/>
            </a:pPr>
            <a:r>
              <a:rPr lang="en-US" sz="1400" b="1" dirty="0">
                <a:solidFill>
                  <a:srgbClr val="4B1248"/>
                </a:solidFill>
                <a:latin typeface="Arial" pitchFamily="34" charset="0"/>
                <a:ea typeface="Arial" pitchFamily="34" charset="-122"/>
                <a:cs typeface="Arial" pitchFamily="34" charset="-120"/>
              </a:rPr>
              <a:t>Toward ₹186, never below ₹145</a:t>
            </a:r>
            <a:endParaRPr lang="en-US" sz="1400" dirty="0"/>
          </a:p>
        </p:txBody>
      </p:sp>
      <p:sp>
        <p:nvSpPr>
          <p:cNvPr id="14" name="Shape 12"/>
          <p:cNvSpPr/>
          <p:nvPr/>
        </p:nvSpPr>
        <p:spPr>
          <a:xfrm>
            <a:off x="7541971" y="3886200"/>
            <a:ext cx="3204058" cy="2103120"/>
          </a:xfrm>
          <a:prstGeom prst="roundRect">
            <a:avLst>
              <a:gd name="adj" fmla="val 5217"/>
            </a:avLst>
          </a:prstGeom>
          <a:solidFill>
            <a:srgbClr val="F6EEF7"/>
          </a:solidFill>
          <a:ln w="12700">
            <a:solidFill>
              <a:srgbClr val="F6EEF7"/>
            </a:solidFill>
            <a:prstDash val="solid"/>
          </a:ln>
        </p:spPr>
      </p:sp>
      <p:sp>
        <p:nvSpPr>
          <p:cNvPr id="15" name="Shape 13"/>
          <p:cNvSpPr/>
          <p:nvPr/>
        </p:nvSpPr>
        <p:spPr>
          <a:xfrm>
            <a:off x="7541971" y="3886200"/>
            <a:ext cx="3204058" cy="566928"/>
          </a:xfrm>
          <a:prstGeom prst="roundRect">
            <a:avLst>
              <a:gd name="adj" fmla="val 19355"/>
            </a:avLst>
          </a:prstGeom>
          <a:solidFill>
            <a:srgbClr val="4B1248"/>
          </a:solidFill>
          <a:ln w="12700">
            <a:solidFill>
              <a:srgbClr val="4B1248"/>
            </a:solidFill>
            <a:prstDash val="solid"/>
          </a:ln>
        </p:spPr>
      </p:sp>
      <p:sp>
        <p:nvSpPr>
          <p:cNvPr id="16" name="Text 14"/>
          <p:cNvSpPr txBox="1"/>
          <p:nvPr/>
        </p:nvSpPr>
        <p:spPr>
          <a:xfrm>
            <a:off x="7724851" y="3886200"/>
            <a:ext cx="2929738" cy="566928"/>
          </a:xfrm>
          <a:prstGeom prst="rect">
            <a:avLst/>
          </a:prstGeom>
          <a:noFill/>
          <a:ln/>
        </p:spPr>
        <p:txBody>
          <a:bodyPr wrap="square" lIns="0" tIns="0" rIns="0" bIns="0" rtlCol="0" anchor="ctr"/>
          <a:lstStyle/>
          <a:p>
            <a:pPr indent="0" marL="0">
              <a:buNone/>
            </a:pPr>
            <a:r>
              <a:rPr lang="en-US" sz="1600" b="1" dirty="0">
                <a:solidFill>
                  <a:srgbClr val="F5A623"/>
                </a:solidFill>
                <a:latin typeface="Arial" pitchFamily="34" charset="0"/>
                <a:ea typeface="Arial" pitchFamily="34" charset="-122"/>
                <a:cs typeface="Arial" pitchFamily="34" charset="-120"/>
              </a:rPr>
              <a:t>03  </a:t>
            </a:r>
            <a:pPr indent="0" marL="0">
              <a:buNone/>
            </a:pPr>
            <a:r>
              <a:rPr lang="en-US" sz="1600" b="1" dirty="0">
                <a:solidFill>
                  <a:srgbClr val="FFFFFF"/>
                </a:solidFill>
                <a:latin typeface="Arial" pitchFamily="34" charset="0"/>
                <a:ea typeface="Arial" pitchFamily="34" charset="-122"/>
                <a:cs typeface="Arial" pitchFamily="34" charset="-120"/>
              </a:rPr>
              <a:t>Growth</a:t>
            </a:r>
            <a:endParaRPr lang="en-US" sz="1600" dirty="0"/>
          </a:p>
        </p:txBody>
      </p:sp>
      <p:sp>
        <p:nvSpPr>
          <p:cNvPr id="17" name="Text 15"/>
          <p:cNvSpPr txBox="1"/>
          <p:nvPr/>
        </p:nvSpPr>
        <p:spPr>
          <a:xfrm>
            <a:off x="7724851" y="4572000"/>
            <a:ext cx="2838298" cy="1600200"/>
          </a:xfrm>
          <a:prstGeom prst="rect">
            <a:avLst/>
          </a:prstGeom>
          <a:noFill/>
          <a:ln/>
        </p:spPr>
        <p:txBody>
          <a:bodyPr wrap="square" lIns="0" tIns="0" rIns="0" bIns="0" rtlCol="0" anchor="t"/>
          <a:lstStyle/>
          <a:p>
            <a:pPr indent="0" marL="0">
              <a:spcAft>
                <a:spcPts val="800"/>
              </a:spcAft>
              <a:buNone/>
            </a:pPr>
            <a:r>
              <a:rPr lang="en-US" sz="1400" dirty="0">
                <a:solidFill>
                  <a:srgbClr val="2A0B2F"/>
                </a:solidFill>
                <a:latin typeface="Arial" pitchFamily="34" charset="0"/>
                <a:ea typeface="Arial" pitchFamily="34" charset="-122"/>
                <a:cs typeface="Arial" pitchFamily="34" charset="-120"/>
              </a:rPr>
              <a:t>4.1 stars with 30+ reviews: in our demo data, sales hold at about 8% more.</a:t>
            </a:r>
            <a:endParaRPr lang="en-US" sz="1400" dirty="0"/>
          </a:p>
          <a:p>
            <a:pPr indent="0" marL="0">
              <a:buNone/>
            </a:pPr>
            <a:r>
              <a:rPr lang="en-US" sz="1400" b="1" dirty="0">
                <a:solidFill>
                  <a:srgbClr val="4B1248"/>
                </a:solidFill>
                <a:latin typeface="Arial" pitchFamily="34" charset="0"/>
                <a:ea typeface="Arial" pitchFamily="34" charset="-122"/>
                <a:cs typeface="Arial" pitchFamily="34" charset="-120"/>
              </a:rPr>
              <a:t>Try ₹229; keep it if orders hold</a:t>
            </a:r>
            <a:endParaRPr lang="en-US" sz="1400" dirty="0"/>
          </a:p>
        </p:txBody>
      </p:sp>
      <p:sp>
        <p:nvSpPr>
          <p:cNvPr id="18" name="Shape 16"/>
          <p:cNvSpPr/>
          <p:nvPr/>
        </p:nvSpPr>
        <p:spPr>
          <a:xfrm>
            <a:off x="10947197" y="3886200"/>
            <a:ext cx="3204058" cy="2103120"/>
          </a:xfrm>
          <a:prstGeom prst="roundRect">
            <a:avLst>
              <a:gd name="adj" fmla="val 5217"/>
            </a:avLst>
          </a:prstGeom>
          <a:solidFill>
            <a:srgbClr val="F6EEF7"/>
          </a:solidFill>
          <a:ln w="12700">
            <a:solidFill>
              <a:srgbClr val="F6EEF7"/>
            </a:solidFill>
            <a:prstDash val="solid"/>
          </a:ln>
        </p:spPr>
      </p:sp>
      <p:sp>
        <p:nvSpPr>
          <p:cNvPr id="19" name="Shape 17"/>
          <p:cNvSpPr/>
          <p:nvPr/>
        </p:nvSpPr>
        <p:spPr>
          <a:xfrm>
            <a:off x="10947197" y="3886200"/>
            <a:ext cx="3204058" cy="566928"/>
          </a:xfrm>
          <a:prstGeom prst="roundRect">
            <a:avLst>
              <a:gd name="adj" fmla="val 19355"/>
            </a:avLst>
          </a:prstGeom>
          <a:solidFill>
            <a:srgbClr val="4B1248"/>
          </a:solidFill>
          <a:ln w="12700">
            <a:solidFill>
              <a:srgbClr val="4B1248"/>
            </a:solidFill>
            <a:prstDash val="solid"/>
          </a:ln>
        </p:spPr>
      </p:sp>
      <p:sp>
        <p:nvSpPr>
          <p:cNvPr id="20" name="Text 18"/>
          <p:cNvSpPr txBox="1"/>
          <p:nvPr/>
        </p:nvSpPr>
        <p:spPr>
          <a:xfrm>
            <a:off x="11130077" y="3886200"/>
            <a:ext cx="2929738" cy="566928"/>
          </a:xfrm>
          <a:prstGeom prst="rect">
            <a:avLst/>
          </a:prstGeom>
          <a:noFill/>
          <a:ln/>
        </p:spPr>
        <p:txBody>
          <a:bodyPr wrap="square" lIns="0" tIns="0" rIns="0" bIns="0" rtlCol="0" anchor="ctr"/>
          <a:lstStyle/>
          <a:p>
            <a:pPr indent="0" marL="0">
              <a:buNone/>
            </a:pPr>
            <a:r>
              <a:rPr lang="en-US" sz="1600" b="1" dirty="0">
                <a:solidFill>
                  <a:srgbClr val="F5A623"/>
                </a:solidFill>
                <a:latin typeface="Arial" pitchFamily="34" charset="0"/>
                <a:ea typeface="Arial" pitchFamily="34" charset="-122"/>
                <a:cs typeface="Arial" pitchFamily="34" charset="-120"/>
              </a:rPr>
              <a:t>04  </a:t>
            </a:r>
            <a:pPr indent="0" marL="0">
              <a:buNone/>
            </a:pPr>
            <a:r>
              <a:rPr lang="en-US" sz="1600" b="1" dirty="0">
                <a:solidFill>
                  <a:srgbClr val="FFFFFF"/>
                </a:solidFill>
                <a:latin typeface="Arial" pitchFamily="34" charset="0"/>
                <a:ea typeface="Arial" pitchFamily="34" charset="-122"/>
                <a:cs typeface="Arial" pitchFamily="34" charset="-120"/>
              </a:rPr>
              <a:t>Sales and festivals</a:t>
            </a:r>
            <a:endParaRPr lang="en-US" sz="1600" dirty="0"/>
          </a:p>
        </p:txBody>
      </p:sp>
      <p:sp>
        <p:nvSpPr>
          <p:cNvPr id="21" name="Text 19"/>
          <p:cNvSpPr txBox="1"/>
          <p:nvPr/>
        </p:nvSpPr>
        <p:spPr>
          <a:xfrm>
            <a:off x="11130077" y="4572000"/>
            <a:ext cx="2838298" cy="1600200"/>
          </a:xfrm>
          <a:prstGeom prst="rect">
            <a:avLst/>
          </a:prstGeom>
          <a:noFill/>
          <a:ln/>
        </p:spPr>
        <p:txBody>
          <a:bodyPr wrap="square" lIns="0" tIns="0" rIns="0" bIns="0" rtlCol="0" anchor="t"/>
          <a:lstStyle/>
          <a:p>
            <a:pPr indent="0" marL="0">
              <a:spcAft>
                <a:spcPts val="800"/>
              </a:spcAft>
              <a:buNone/>
            </a:pPr>
            <a:r>
              <a:rPr lang="en-US" sz="1400" dirty="0">
                <a:solidFill>
                  <a:srgbClr val="2A0B2F"/>
                </a:solidFill>
                <a:latin typeface="Arial" pitchFamily="34" charset="0"/>
                <a:ea typeface="Arial" pitchFamily="34" charset="-122"/>
                <a:cs typeface="Arial" pitchFamily="34" charset="-120"/>
              </a:rPr>
              <a:t>Check the price after the discount against the floor. Festival spikes are flagged, not trends.</a:t>
            </a:r>
            <a:endParaRPr lang="en-US" sz="1400" dirty="0"/>
          </a:p>
          <a:p>
            <a:pPr indent="0" marL="0">
              <a:buNone/>
            </a:pPr>
            <a:r>
              <a:rPr lang="en-US" sz="1400" b="1" dirty="0">
                <a:solidFill>
                  <a:srgbClr val="4B1248"/>
                </a:solidFill>
                <a:latin typeface="Arial" pitchFamily="34" charset="0"/>
                <a:ea typeface="Arial" pitchFamily="34" charset="-122"/>
                <a:cs typeface="Arial" pitchFamily="34" charset="-120"/>
              </a:rPr>
              <a:t>20% off: ₹167, above ₹145</a:t>
            </a:r>
            <a:endParaRPr lang="en-US" sz="1400" dirty="0"/>
          </a:p>
        </p:txBody>
      </p:sp>
      <p:sp>
        <p:nvSpPr>
          <p:cNvPr id="22" name="Shape 20"/>
          <p:cNvSpPr/>
          <p:nvPr/>
        </p:nvSpPr>
        <p:spPr>
          <a:xfrm>
            <a:off x="14352422" y="3886200"/>
            <a:ext cx="3204058" cy="2103120"/>
          </a:xfrm>
          <a:prstGeom prst="roundRect">
            <a:avLst>
              <a:gd name="adj" fmla="val 5217"/>
            </a:avLst>
          </a:prstGeom>
          <a:solidFill>
            <a:srgbClr val="F6EEF7"/>
          </a:solidFill>
          <a:ln w="12700">
            <a:solidFill>
              <a:srgbClr val="F6EEF7"/>
            </a:solidFill>
            <a:prstDash val="solid"/>
          </a:ln>
        </p:spPr>
      </p:sp>
      <p:sp>
        <p:nvSpPr>
          <p:cNvPr id="23" name="Shape 21"/>
          <p:cNvSpPr/>
          <p:nvPr/>
        </p:nvSpPr>
        <p:spPr>
          <a:xfrm>
            <a:off x="14352422" y="3886200"/>
            <a:ext cx="3204058" cy="566928"/>
          </a:xfrm>
          <a:prstGeom prst="roundRect">
            <a:avLst>
              <a:gd name="adj" fmla="val 19355"/>
            </a:avLst>
          </a:prstGeom>
          <a:solidFill>
            <a:srgbClr val="4B1248"/>
          </a:solidFill>
          <a:ln w="12700">
            <a:solidFill>
              <a:srgbClr val="4B1248"/>
            </a:solidFill>
            <a:prstDash val="solid"/>
          </a:ln>
        </p:spPr>
      </p:sp>
      <p:sp>
        <p:nvSpPr>
          <p:cNvPr id="24" name="Text 22"/>
          <p:cNvSpPr txBox="1"/>
          <p:nvPr/>
        </p:nvSpPr>
        <p:spPr>
          <a:xfrm>
            <a:off x="14535302" y="3886200"/>
            <a:ext cx="2929738" cy="566928"/>
          </a:xfrm>
          <a:prstGeom prst="rect">
            <a:avLst/>
          </a:prstGeom>
          <a:noFill/>
          <a:ln/>
        </p:spPr>
        <p:txBody>
          <a:bodyPr wrap="square" lIns="0" tIns="0" rIns="0" bIns="0" rtlCol="0" anchor="ctr"/>
          <a:lstStyle/>
          <a:p>
            <a:pPr indent="0" marL="0">
              <a:buNone/>
            </a:pPr>
            <a:r>
              <a:rPr lang="en-US" sz="1600" b="1" dirty="0">
                <a:solidFill>
                  <a:srgbClr val="F5A623"/>
                </a:solidFill>
                <a:latin typeface="Arial" pitchFamily="34" charset="0"/>
                <a:ea typeface="Arial" pitchFamily="34" charset="-122"/>
                <a:cs typeface="Arial" pitchFamily="34" charset="-120"/>
              </a:rPr>
              <a:t>05  </a:t>
            </a:r>
            <a:pPr indent="0" marL="0">
              <a:buNone/>
            </a:pPr>
            <a:r>
              <a:rPr lang="en-US" sz="1600" b="1" dirty="0">
                <a:solidFill>
                  <a:srgbClr val="FFFFFF"/>
                </a:solidFill>
                <a:latin typeface="Arial" pitchFamily="34" charset="0"/>
                <a:ea typeface="Arial" pitchFamily="34" charset="-122"/>
                <a:cs typeface="Arial" pitchFamily="34" charset="-120"/>
              </a:rPr>
              <a:t>Mature or slowing</a:t>
            </a:r>
            <a:endParaRPr lang="en-US" sz="1600" dirty="0"/>
          </a:p>
        </p:txBody>
      </p:sp>
      <p:sp>
        <p:nvSpPr>
          <p:cNvPr id="25" name="Text 23"/>
          <p:cNvSpPr txBox="1"/>
          <p:nvPr/>
        </p:nvSpPr>
        <p:spPr>
          <a:xfrm>
            <a:off x="14535302" y="4572000"/>
            <a:ext cx="2838298" cy="1600200"/>
          </a:xfrm>
          <a:prstGeom prst="rect">
            <a:avLst/>
          </a:prstGeom>
          <a:noFill/>
          <a:ln/>
        </p:spPr>
        <p:txBody>
          <a:bodyPr wrap="square" lIns="0" tIns="0" rIns="0" bIns="0" rtlCol="0" anchor="t"/>
          <a:lstStyle/>
          <a:p>
            <a:pPr indent="0" marL="0">
              <a:spcAft>
                <a:spcPts val="800"/>
              </a:spcAft>
              <a:buNone/>
            </a:pPr>
            <a:r>
              <a:rPr lang="en-US" sz="1400" dirty="0">
                <a:solidFill>
                  <a:srgbClr val="2A0B2F"/>
                </a:solidFill>
                <a:latin typeface="Arial" pitchFamily="34" charset="0"/>
                <a:ea typeface="Arial" pitchFamily="34" charset="-122"/>
                <a:cs typeface="Arial" pitchFamily="34" charset="-120"/>
              </a:rPr>
              <a:t>Returns above 9% raise the floor; read the reasons before cutting.</a:t>
            </a:r>
            <a:endParaRPr lang="en-US" sz="1400" dirty="0"/>
          </a:p>
          <a:p>
            <a:pPr indent="0" marL="0">
              <a:buNone/>
            </a:pPr>
            <a:r>
              <a:rPr lang="en-US" sz="1400" b="1" dirty="0">
                <a:solidFill>
                  <a:srgbClr val="4B1248"/>
                </a:solidFill>
                <a:latin typeface="Arial" pitchFamily="34" charset="0"/>
                <a:ea typeface="Arial" pitchFamily="34" charset="-122"/>
                <a:cs typeface="Arial" pitchFamily="34" charset="-120"/>
              </a:rPr>
              <a:t>“It melts”: fix the product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6217920"/>
          <a:ext cx="11247120" cy="914400"/>
        </p:xfrm>
        <a:graphic>
          <a:graphicData uri="http://schemas.openxmlformats.org/drawingml/2006/table">
            <a:tbl>
              <a:tblPr/>
              <a:tblGrid>
                <a:gridCol w="3429000"/>
                <a:gridCol w="3931920"/>
                <a:gridCol w="3886200"/>
              </a:tblGrid>
              <a:tr h="365760">
                <a:tc>
                  <a:txBody>
                    <a:bodyPr/>
                    <a:lstStyle/>
                    <a:p>
                      <a:pPr indent="0" marL="0">
                        <a:buNone/>
                      </a:pPr>
                      <a:r>
                        <a:rPr lang="en-US" sz="1350" b="1" dirty="0">
                          <a:solidFill>
                            <a:srgbClr val="FFFFFF"/>
                          </a:solidFill>
                          <a:latin typeface="Arial" pitchFamily="34" charset="0"/>
                          <a:ea typeface="Arial" pitchFamily="34" charset="-122"/>
                          <a:cs typeface="Arial" pitchFamily="34" charset="-120"/>
                        </a:rPr>
                        <a:t>Where buyers drop off</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solidFill>
                      <a:srgbClr val="4B1248"/>
                    </a:solidFill>
                  </a:tcPr>
                </a:tc>
                <a:tc>
                  <a:txBody>
                    <a:bodyPr/>
                    <a:lstStyle/>
                    <a:p>
                      <a:pPr indent="0" marL="0">
                        <a:buNone/>
                      </a:pPr>
                      <a:r>
                        <a:rPr lang="en-US" sz="1350" b="1" dirty="0">
                          <a:solidFill>
                            <a:srgbClr val="FFFFFF"/>
                          </a:solidFill>
                          <a:latin typeface="Arial" pitchFamily="34" charset="0"/>
                          <a:ea typeface="Arial" pitchFamily="34" charset="-122"/>
                          <a:cs typeface="Arial" pitchFamily="34" charset="-120"/>
                        </a:rPr>
                        <a:t>What it usually means</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solidFill>
                      <a:srgbClr val="4B1248"/>
                    </a:solidFill>
                  </a:tcPr>
                </a:tc>
                <a:tc>
                  <a:txBody>
                    <a:bodyPr/>
                    <a:lstStyle/>
                    <a:p>
                      <a:pPr indent="0" marL="0">
                        <a:buNone/>
                      </a:pPr>
                      <a:r>
                        <a:rPr lang="en-US" sz="1350" b="1" dirty="0">
                          <a:solidFill>
                            <a:srgbClr val="FFFFFF"/>
                          </a:solidFill>
                          <a:latin typeface="Arial" pitchFamily="34" charset="0"/>
                          <a:ea typeface="Arial" pitchFamily="34" charset="-122"/>
                          <a:cs typeface="Arial" pitchFamily="34" charset="-120"/>
                        </a:rPr>
                        <a:t>What to do</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solidFill>
                      <a:srgbClr val="4B1248"/>
                    </a:solidFill>
                  </a:tcPr>
                </a:tc>
              </a:tr>
              <a:tr h="484632">
                <a:tc>
                  <a:txBody>
                    <a:bodyPr/>
                    <a:lstStyle/>
                    <a:p>
                      <a:pPr indent="0" marL="0">
                        <a:buNone/>
                      </a:pPr>
                      <a:r>
                        <a:rPr lang="en-US" sz="1350" b="1" dirty="0">
                          <a:solidFill>
                            <a:srgbClr val="4B1248"/>
                          </a:solidFill>
                          <a:latin typeface="Arial" pitchFamily="34" charset="0"/>
                          <a:ea typeface="Arial" pitchFamily="34" charset="-122"/>
                          <a:cs typeface="Arial" pitchFamily="34" charset="-120"/>
                        </a:rPr>
                        <a:t>Many views in the feed, few clicks</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350" dirty="0">
                          <a:solidFill>
                            <a:srgbClr val="2A0B2F"/>
                          </a:solidFill>
                          <a:latin typeface="Arial" pitchFamily="34" charset="0"/>
                          <a:ea typeface="Arial" pitchFamily="34" charset="-122"/>
                          <a:cs typeface="Arial" pitchFamily="34" charset="-120"/>
                        </a:rPr>
                        <a:t>Price looks high next to similar listings, or a weak photo</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350" dirty="0">
                          <a:solidFill>
                            <a:srgbClr val="2A0B2F"/>
                          </a:solidFill>
                          <a:latin typeface="Arial" pitchFamily="34" charset="0"/>
                          <a:ea typeface="Arial" pitchFamily="34" charset="-122"/>
                          <a:cs typeface="Arial" pitchFamily="34" charset="-120"/>
                        </a:rPr>
                        <a:t>Check the photo, then the price against the band</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484632">
                <a:tc>
                  <a:txBody>
                    <a:bodyPr/>
                    <a:lstStyle/>
                    <a:p>
                      <a:pPr indent="0" marL="0">
                        <a:buNone/>
                      </a:pPr>
                      <a:r>
                        <a:rPr lang="en-US" sz="1350" b="1" dirty="0">
                          <a:solidFill>
                            <a:srgbClr val="4B1248"/>
                          </a:solidFill>
                          <a:latin typeface="Arial" pitchFamily="34" charset="0"/>
                          <a:ea typeface="Arial" pitchFamily="34" charset="-122"/>
                          <a:cs typeface="Arial" pitchFamily="34" charset="-120"/>
                        </a:rPr>
                        <a:t>Clicks, but few add to cart</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350" dirty="0">
                          <a:solidFill>
                            <a:srgbClr val="2A0B2F"/>
                          </a:solidFill>
                          <a:latin typeface="Arial" pitchFamily="34" charset="0"/>
                          <a:ea typeface="Arial" pitchFamily="34" charset="-122"/>
                          <a:cs typeface="Arial" pitchFamily="34" charset="-120"/>
                        </a:rPr>
                        <a:t>The product page doesn't justify the price</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350" dirty="0">
                          <a:solidFill>
                            <a:srgbClr val="2A0B2F"/>
                          </a:solidFill>
                          <a:latin typeface="Arial" pitchFamily="34" charset="0"/>
                          <a:ea typeface="Arial" pitchFamily="34" charset="-122"/>
                          <a:cs typeface="Arial" pitchFamily="34" charset="-120"/>
                        </a:rPr>
                        <a:t>Fix the page before touching the price</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484632">
                <a:tc>
                  <a:txBody>
                    <a:bodyPr/>
                    <a:lstStyle/>
                    <a:p>
                      <a:pPr indent="0" marL="0">
                        <a:buNone/>
                      </a:pPr>
                      <a:r>
                        <a:rPr lang="en-US" sz="1350" b="1" dirty="0">
                          <a:solidFill>
                            <a:srgbClr val="4B1248"/>
                          </a:solidFill>
                          <a:latin typeface="Arial" pitchFamily="34" charset="0"/>
                          <a:ea typeface="Arial" pitchFamily="34" charset="-122"/>
                          <a:cs typeface="Arial" pitchFamily="34" charset="-120"/>
                        </a:rPr>
                        <a:t>Cart or wishlist, but no order</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350" dirty="0">
                          <a:solidFill>
                            <a:srgbClr val="2A0B2F"/>
                          </a:solidFill>
                          <a:latin typeface="Arial" pitchFamily="34" charset="0"/>
                          <a:ea typeface="Arial" pitchFamily="34" charset="-122"/>
                          <a:cs typeface="Arial" pitchFamily="34" charset="-120"/>
                        </a:rPr>
                        <a:t>The buyer hesitates on price</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350" dirty="0">
                          <a:solidFill>
                            <a:srgbClr val="2A0B2F"/>
                          </a:solidFill>
                          <a:latin typeface="Arial" pitchFamily="34" charset="0"/>
                          <a:ea typeface="Arial" pitchFamily="34" charset="-122"/>
                          <a:cs typeface="Arial" pitchFamily="34" charset="-120"/>
                        </a:rPr>
                        <a:t>A small cut or a coupon works here</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484632">
                <a:tc>
                  <a:txBody>
                    <a:bodyPr/>
                    <a:lstStyle/>
                    <a:p>
                      <a:pPr indent="0" marL="0">
                        <a:buNone/>
                      </a:pPr>
                      <a:r>
                        <a:rPr lang="en-US" sz="1350" b="1" dirty="0">
                          <a:solidFill>
                            <a:srgbClr val="4B1248"/>
                          </a:solidFill>
                          <a:latin typeface="Arial" pitchFamily="34" charset="0"/>
                          <a:ea typeface="Arial" pitchFamily="34" charset="-122"/>
                          <a:cs typeface="Arial" pitchFamily="34" charset="-120"/>
                        </a:rPr>
                        <a:t>Orders, but returns citing quality or size</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350" dirty="0">
                          <a:solidFill>
                            <a:srgbClr val="2A0B2F"/>
                          </a:solidFill>
                          <a:latin typeface="Arial" pitchFamily="34" charset="0"/>
                          <a:ea typeface="Arial" pitchFamily="34" charset="-122"/>
                          <a:cs typeface="Arial" pitchFamily="34" charset="-120"/>
                        </a:rPr>
                        <a:t>A product problem, not a price problem</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350" dirty="0">
                          <a:solidFill>
                            <a:srgbClr val="2A0B2F"/>
                          </a:solidFill>
                          <a:latin typeface="Arial" pitchFamily="34" charset="0"/>
                          <a:ea typeface="Arial" pitchFamily="34" charset="-122"/>
                          <a:cs typeface="Arial" pitchFamily="34" charset="-120"/>
                        </a:rPr>
                        <a:t>Don't cut the price; fix the product or photos</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484632">
                <a:tc>
                  <a:txBody>
                    <a:bodyPr/>
                    <a:lstStyle/>
                    <a:p>
                      <a:pPr indent="0" marL="0">
                        <a:buNone/>
                      </a:pPr>
                      <a:r>
                        <a:rPr lang="en-US" sz="1350" b="1" dirty="0">
                          <a:solidFill>
                            <a:srgbClr val="4B1248"/>
                          </a:solidFill>
                          <a:latin typeface="Arial" pitchFamily="34" charset="0"/>
                          <a:ea typeface="Arial" pitchFamily="34" charset="-122"/>
                          <a:cs typeface="Arial" pitchFamily="34" charset="-120"/>
                        </a:rPr>
                        <a:t>High RTO on cash on delivery</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350" dirty="0">
                          <a:solidFill>
                            <a:srgbClr val="2A0B2F"/>
                          </a:solidFill>
                          <a:latin typeface="Arial" pitchFamily="34" charset="0"/>
                          <a:ea typeface="Arial" pitchFamily="34" charset="-122"/>
                          <a:cs typeface="Arial" pitchFamily="34" charset="-120"/>
                        </a:rPr>
                        <a:t>COD risk is eating the margin</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350" dirty="0">
                          <a:solidFill>
                            <a:srgbClr val="2A0B2F"/>
                          </a:solidFill>
                          <a:latin typeface="Arial" pitchFamily="34" charset="0"/>
                          <a:ea typeface="Arial" pitchFamily="34" charset="-122"/>
                          <a:cs typeface="Arial" pitchFamily="34" charset="-120"/>
                        </a:rPr>
                        <a:t>Raise the floor, or nudge buyers to prepaid</a:t>
                      </a:r>
                      <a:endParaRPr lang="en-US" sz="1350" dirty="0">
                        <a:latin typeface="Arial" charset="0"/>
                        <a:ea typeface="Arial" charset="0"/>
                        <a:cs typeface="Arial" charset="0"/>
                      </a:endParaRPr>
                    </a:p>
                  </a:txBody>
                  <a:tcPr marL="73152" marR="73152" marT="27432" marB="27432"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bl>
          </a:graphicData>
        </a:graphic>
      </p:graphicFrame>
      <p:graphicFrame>
        <p:nvGraphicFramePr>
          <p:cNvPr id="27" name="Chart 0" descr=""/>
          <p:cNvGraphicFramePr/>
          <p:nvPr/>
        </p:nvGraphicFramePr>
        <p:xfrm>
          <a:off x="12252960" y="6144768"/>
          <a:ext cx="5303520" cy="2331720"/>
        </p:xfrm>
        <a:graphic xmlns:a="http://schemas.openxmlformats.org/drawingml/2006/main">
          <a:graphicData uri="http://schemas.openxmlformats.org/drawingml/2006/chart">
            <c:chart xmlns:c="http://schemas.openxmlformats.org/drawingml/2006/chart" r:id="rId2"/>
          </a:graphicData>
        </a:graphic>
      </p:graphicFrame>
      <p:sp>
        <p:nvSpPr>
          <p:cNvPr id="28" name="Text 24"/>
          <p:cNvSpPr txBox="1"/>
          <p:nvPr/>
        </p:nvSpPr>
        <p:spPr>
          <a:xfrm>
            <a:off x="12252960" y="8549640"/>
            <a:ext cx="5303520" cy="502920"/>
          </a:xfrm>
          <a:prstGeom prst="rect">
            <a:avLst/>
          </a:prstGeom>
          <a:noFill/>
          <a:ln/>
        </p:spPr>
        <p:txBody>
          <a:bodyPr wrap="square" lIns="0" tIns="0" rIns="0" bIns="0" rtlCol="0" anchor="t"/>
          <a:lstStyle/>
          <a:p>
            <a:pPr indent="0" marL="0">
              <a:buNone/>
            </a:pPr>
            <a:r>
              <a:rPr lang="en-US" sz="1150" dirty="0">
                <a:solidFill>
                  <a:srgbClr val="67516B"/>
                </a:solidFill>
                <a:latin typeface="Arial" pitchFamily="34" charset="0"/>
                <a:ea typeface="Arial" pitchFamily="34" charset="-122"/>
                <a:cs typeface="Arial" pitchFamily="34" charset="-120"/>
              </a:rPr>
              <a:t>Price vs the typical price, soap demo data. A review saying “it melts” is a quality problem: a lower price won't help.</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indent="0" marL="0">
              <a:buNone/>
            </a:pPr>
            <a:r>
              <a:rPr lang="en-US" sz="3600" b="1" dirty="0">
                <a:solidFill>
                  <a:srgbClr val="4B1248"/>
                </a:solidFill>
                <a:latin typeface="Arial" pitchFamily="34" charset="0"/>
                <a:ea typeface="Arial" pitchFamily="34" charset="-122"/>
                <a:cs typeface="Arial" pitchFamily="34" charset="-120"/>
              </a:rPr>
              <a:t>Launching below cost buys reviews, but each one costs Seller 6 about ₹235</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indent="0" marL="0">
              <a:buNone/>
            </a:pPr>
            <a:r>
              <a:rPr lang="en-US" sz="1700" i="1" dirty="0">
                <a:solidFill>
                  <a:srgbClr val="67516B"/>
                </a:solidFill>
                <a:latin typeface="Arial" pitchFamily="34" charset="0"/>
                <a:ea typeface="Arial" pitchFamily="34" charset="-122"/>
                <a:cs typeface="Arial" pitchFamily="34" charset="-120"/>
              </a:rPr>
              <a:t>We tested “sell at a loss first, earn later”: ₹129 (10% under his floor) for 4 weeks, then ₹209, over 26 weeks. Figures use the good-product lines</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indent="0" marL="0">
              <a:buNone/>
            </a:pPr>
            <a:r>
              <a:rPr lang="en-US" sz="1200" dirty="0">
                <a:solidFill>
                  <a:srgbClr val="67516B"/>
                </a:solidFill>
                <a:latin typeface="Arial" pitchFamily="34" charset="0"/>
                <a:ea typeface="Arial" pitchFamily="34" charset="-122"/>
                <a:cs typeface="Arial" pitchFamily="34" charset="-120"/>
              </a:rPr>
              <a:t>Demo models. Checked against the simulator that generated the data: it also finds the ₹129 launch loses money for good, typical and weak products.</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6</a:t>
            </a:r>
            <a:endParaRPr lang="en-US" sz="1200" dirty="0"/>
          </a:p>
        </p:txBody>
      </p:sp>
      <p:graphicFrame>
        <p:nvGraphicFramePr>
          <p:cNvPr id="6" name="Chart 0" descr=""/>
          <p:cNvGraphicFramePr/>
          <p:nvPr/>
        </p:nvGraphicFramePr>
        <p:xfrm>
          <a:off x="731520" y="3840480"/>
          <a:ext cx="9326880" cy="5257800"/>
        </p:xfrm>
        <a:graphic xmlns:a="http://schemas.openxmlformats.org/drawingml/2006/main">
          <a:graphicData uri="http://schemas.openxmlformats.org/drawingml/2006/chart">
            <c:chart xmlns:c="http://schemas.openxmlformats.org/drawingml/2006/chart" r:id="rId2"/>
          </a:graphicData>
        </a:graphic>
      </p:graphicFrame>
      <p:sp>
        <p:nvSpPr>
          <p:cNvPr id="7" name="Shape 4"/>
          <p:cNvSpPr/>
          <p:nvPr/>
        </p:nvSpPr>
        <p:spPr>
          <a:xfrm>
            <a:off x="10424160" y="3886200"/>
            <a:ext cx="2255520" cy="1280160"/>
          </a:xfrm>
          <a:prstGeom prst="roundRect">
            <a:avLst>
              <a:gd name="adj" fmla="val 8571"/>
            </a:avLst>
          </a:prstGeom>
          <a:solidFill>
            <a:srgbClr val="F6EEF7"/>
          </a:solidFill>
          <a:ln w="12700">
            <a:solidFill>
              <a:srgbClr val="F6EEF7"/>
            </a:solidFill>
            <a:prstDash val="solid"/>
          </a:ln>
        </p:spPr>
      </p:sp>
      <p:sp>
        <p:nvSpPr>
          <p:cNvPr id="8" name="Text 5"/>
          <p:cNvSpPr txBox="1"/>
          <p:nvPr/>
        </p:nvSpPr>
        <p:spPr>
          <a:xfrm>
            <a:off x="10561320" y="3959352"/>
            <a:ext cx="1981200" cy="548640"/>
          </a:xfrm>
          <a:prstGeom prst="rect">
            <a:avLst/>
          </a:prstGeom>
          <a:noFill/>
          <a:ln/>
        </p:spPr>
        <p:txBody>
          <a:bodyPr wrap="square" lIns="0" tIns="0" rIns="0" bIns="0" rtlCol="0" anchor="ctr"/>
          <a:lstStyle/>
          <a:p>
            <a:pPr algn="ctr" indent="0" marL="0">
              <a:buNone/>
            </a:pPr>
            <a:r>
              <a:rPr lang="en-US" sz="2700" b="1" dirty="0">
                <a:solidFill>
                  <a:srgbClr val="4B1248"/>
                </a:solidFill>
                <a:latin typeface="Arial" pitchFamily="34" charset="0"/>
                <a:ea typeface="Arial" pitchFamily="34" charset="-122"/>
                <a:cs typeface="Arial" pitchFamily="34" charset="-120"/>
              </a:rPr>
              <a:t>26 vs 6</a:t>
            </a:r>
            <a:endParaRPr lang="en-US" sz="2700" dirty="0"/>
          </a:p>
        </p:txBody>
      </p:sp>
      <p:sp>
        <p:nvSpPr>
          <p:cNvPr id="9" name="Text 6"/>
          <p:cNvSpPr txBox="1"/>
          <p:nvPr/>
        </p:nvSpPr>
        <p:spPr>
          <a:xfrm>
            <a:off x="10561320" y="4526280"/>
            <a:ext cx="1981200" cy="594360"/>
          </a:xfrm>
          <a:prstGeom prst="rect">
            <a:avLst/>
          </a:prstGeom>
          <a:noFill/>
          <a:ln/>
        </p:spPr>
        <p:txBody>
          <a:bodyPr wrap="square" lIns="0" tIns="0" rIns="0" bIns="0" rtlCol="0" anchor="t"/>
          <a:lstStyle/>
          <a:p>
            <a:pPr algn="ctr" indent="0" marL="0">
              <a:buNone/>
            </a:pPr>
            <a:r>
              <a:rPr lang="en-US" sz="1200" dirty="0">
                <a:solidFill>
                  <a:srgbClr val="67516B"/>
                </a:solidFill>
                <a:latin typeface="Arial" pitchFamily="34" charset="0"/>
                <a:ea typeface="Arial" pitchFamily="34" charset="-122"/>
                <a:cs typeface="Arial" pitchFamily="34" charset="-120"/>
              </a:rPr>
              <a:t>reviews after 4 weeks</a:t>
            </a:r>
            <a:endParaRPr lang="en-US" sz="1200" dirty="0"/>
          </a:p>
        </p:txBody>
      </p:sp>
      <p:sp>
        <p:nvSpPr>
          <p:cNvPr id="10" name="Shape 7"/>
          <p:cNvSpPr/>
          <p:nvPr/>
        </p:nvSpPr>
        <p:spPr>
          <a:xfrm>
            <a:off x="12862560" y="3886200"/>
            <a:ext cx="2255520" cy="1280160"/>
          </a:xfrm>
          <a:prstGeom prst="roundRect">
            <a:avLst>
              <a:gd name="adj" fmla="val 8571"/>
            </a:avLst>
          </a:prstGeom>
          <a:solidFill>
            <a:srgbClr val="F6EEF7"/>
          </a:solidFill>
          <a:ln w="12700">
            <a:solidFill>
              <a:srgbClr val="F6EEF7"/>
            </a:solidFill>
            <a:prstDash val="solid"/>
          </a:ln>
        </p:spPr>
      </p:sp>
      <p:sp>
        <p:nvSpPr>
          <p:cNvPr id="11" name="Text 8"/>
          <p:cNvSpPr txBox="1"/>
          <p:nvPr/>
        </p:nvSpPr>
        <p:spPr>
          <a:xfrm>
            <a:off x="12999720" y="3959352"/>
            <a:ext cx="1981200" cy="548640"/>
          </a:xfrm>
          <a:prstGeom prst="rect">
            <a:avLst/>
          </a:prstGeom>
          <a:noFill/>
          <a:ln/>
        </p:spPr>
        <p:txBody>
          <a:bodyPr wrap="square" lIns="0" tIns="0" rIns="0" bIns="0" rtlCol="0" anchor="ctr"/>
          <a:lstStyle/>
          <a:p>
            <a:pPr algn="ctr" indent="0" marL="0">
              <a:buNone/>
            </a:pPr>
            <a:r>
              <a:rPr lang="en-US" sz="2700" b="1" dirty="0">
                <a:solidFill>
                  <a:srgbClr val="4B1248"/>
                </a:solidFill>
                <a:latin typeface="Arial" pitchFamily="34" charset="0"/>
                <a:ea typeface="Arial" pitchFamily="34" charset="-122"/>
                <a:cs typeface="Arial" pitchFamily="34" charset="-120"/>
              </a:rPr>
              <a:t>₹235</a:t>
            </a:r>
            <a:endParaRPr lang="en-US" sz="2700" dirty="0"/>
          </a:p>
        </p:txBody>
      </p:sp>
      <p:sp>
        <p:nvSpPr>
          <p:cNvPr id="12" name="Text 9"/>
          <p:cNvSpPr txBox="1"/>
          <p:nvPr/>
        </p:nvSpPr>
        <p:spPr>
          <a:xfrm>
            <a:off x="12999720" y="4526280"/>
            <a:ext cx="1981200" cy="594360"/>
          </a:xfrm>
          <a:prstGeom prst="rect">
            <a:avLst/>
          </a:prstGeom>
          <a:noFill/>
          <a:ln/>
        </p:spPr>
        <p:txBody>
          <a:bodyPr wrap="square" lIns="0" tIns="0" rIns="0" bIns="0" rtlCol="0" anchor="t"/>
          <a:lstStyle/>
          <a:p>
            <a:pPr algn="ctr" indent="0" marL="0">
              <a:buNone/>
            </a:pPr>
            <a:r>
              <a:rPr lang="en-US" sz="1200" dirty="0">
                <a:solidFill>
                  <a:srgbClr val="67516B"/>
                </a:solidFill>
                <a:latin typeface="Arial" pitchFamily="34" charset="0"/>
                <a:ea typeface="Arial" pitchFamily="34" charset="-122"/>
                <a:cs typeface="Arial" pitchFamily="34" charset="-120"/>
              </a:rPr>
              <a:t>per extra review: ₹4,799 ÷ 20</a:t>
            </a:r>
            <a:endParaRPr lang="en-US" sz="1200" dirty="0"/>
          </a:p>
        </p:txBody>
      </p:sp>
      <p:sp>
        <p:nvSpPr>
          <p:cNvPr id="13" name="Shape 10"/>
          <p:cNvSpPr/>
          <p:nvPr/>
        </p:nvSpPr>
        <p:spPr>
          <a:xfrm>
            <a:off x="15300960" y="3886200"/>
            <a:ext cx="2255520" cy="1280160"/>
          </a:xfrm>
          <a:prstGeom prst="roundRect">
            <a:avLst>
              <a:gd name="adj" fmla="val 8571"/>
            </a:avLst>
          </a:prstGeom>
          <a:solidFill>
            <a:srgbClr val="F6EEF7"/>
          </a:solidFill>
          <a:ln w="12700">
            <a:solidFill>
              <a:srgbClr val="F6EEF7"/>
            </a:solidFill>
            <a:prstDash val="solid"/>
          </a:ln>
        </p:spPr>
      </p:sp>
      <p:sp>
        <p:nvSpPr>
          <p:cNvPr id="14" name="Text 11"/>
          <p:cNvSpPr txBox="1"/>
          <p:nvPr/>
        </p:nvSpPr>
        <p:spPr>
          <a:xfrm>
            <a:off x="15438120" y="3959352"/>
            <a:ext cx="1981200" cy="548640"/>
          </a:xfrm>
          <a:prstGeom prst="rect">
            <a:avLst/>
          </a:prstGeom>
          <a:noFill/>
          <a:ln/>
        </p:spPr>
        <p:txBody>
          <a:bodyPr wrap="square" lIns="0" tIns="0" rIns="0" bIns="0" rtlCol="0" anchor="ctr"/>
          <a:lstStyle/>
          <a:p>
            <a:pPr algn="ctr" indent="0" marL="0">
              <a:buNone/>
            </a:pPr>
            <a:r>
              <a:rPr lang="en-US" sz="2700" b="1" dirty="0">
                <a:solidFill>
                  <a:srgbClr val="B42318"/>
                </a:solidFill>
                <a:latin typeface="Arial" pitchFamily="34" charset="0"/>
                <a:ea typeface="Arial" pitchFamily="34" charset="-122"/>
                <a:cs typeface="Arial" pitchFamily="34" charset="-120"/>
              </a:rPr>
              <a:t>−₹2,626</a:t>
            </a:r>
            <a:endParaRPr lang="en-US" sz="2700" dirty="0"/>
          </a:p>
        </p:txBody>
      </p:sp>
      <p:sp>
        <p:nvSpPr>
          <p:cNvPr id="15" name="Text 12"/>
          <p:cNvSpPr txBox="1"/>
          <p:nvPr/>
        </p:nvSpPr>
        <p:spPr>
          <a:xfrm>
            <a:off x="15438120" y="4526280"/>
            <a:ext cx="1981200" cy="594360"/>
          </a:xfrm>
          <a:prstGeom prst="rect">
            <a:avLst/>
          </a:prstGeom>
          <a:noFill/>
          <a:ln/>
        </p:spPr>
        <p:txBody>
          <a:bodyPr wrap="square" lIns="0" tIns="0" rIns="0" bIns="0" rtlCol="0" anchor="t"/>
          <a:lstStyle/>
          <a:p>
            <a:pPr algn="ctr" indent="0" marL="0">
              <a:buNone/>
            </a:pPr>
            <a:r>
              <a:rPr lang="en-US" sz="1200" dirty="0">
                <a:solidFill>
                  <a:srgbClr val="67516B"/>
                </a:solidFill>
                <a:latin typeface="Arial" pitchFamily="34" charset="0"/>
                <a:ea typeface="Arial" pitchFamily="34" charset="-122"/>
                <a:cs typeface="Arial" pitchFamily="34" charset="-120"/>
              </a:rPr>
              <a:t>after 26 weeks, even for a good product</a:t>
            </a:r>
            <a:endParaRPr lang="en-US" sz="1200" dirty="0"/>
          </a:p>
        </p:txBody>
      </p:sp>
      <p:sp>
        <p:nvSpPr>
          <p:cNvPr id="16" name="Text 13"/>
          <p:cNvSpPr txBox="1"/>
          <p:nvPr/>
        </p:nvSpPr>
        <p:spPr>
          <a:xfrm>
            <a:off x="10424160" y="5285232"/>
            <a:ext cx="7132320" cy="2331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A0B2F"/>
                </a:solidFill>
                <a:latin typeface="Arial" pitchFamily="34" charset="0"/>
                <a:ea typeface="Arial" pitchFamily="34" charset="-122"/>
                <a:cs typeface="Arial" pitchFamily="34" charset="-120"/>
              </a:rPr>
              <a:t>Week 4: −₹2,175, against +₹2,624 for starting at ₹209. Each paid order at ₹129 loses ₹15.</a:t>
            </a:r>
            <a:endParaRPr lang="en-US" sz="1400" dirty="0"/>
          </a:p>
          <a:p>
            <a:pPr marL="203200" indent="-203200">
              <a:spcAft>
                <a:spcPts val="600"/>
              </a:spcAft>
              <a:buSzPct val="100000"/>
              <a:buChar char="•"/>
            </a:pPr>
            <a:r>
              <a:rPr lang="en-US" sz="1400" dirty="0">
                <a:solidFill>
                  <a:srgbClr val="2A0B2F"/>
                </a:solidFill>
                <a:latin typeface="Arial" pitchFamily="34" charset="0"/>
                <a:ea typeface="Arial" pitchFamily="34" charset="-122"/>
                <a:cs typeface="Arial" pitchFamily="34" charset="-120"/>
              </a:rPr>
              <a:t>Back above zero by week 8, but never catches up within 26 weeks. The worst dip fits his ₹3,000 budget.</a:t>
            </a:r>
            <a:endParaRPr lang="en-US" sz="1400" dirty="0"/>
          </a:p>
          <a:p>
            <a:pPr marL="203200" indent="-203200">
              <a:spcAft>
                <a:spcPts val="600"/>
              </a:spcAft>
              <a:buSzPct val="100000"/>
              <a:buChar char="•"/>
            </a:pPr>
            <a:r>
              <a:rPr lang="en-US" sz="1400" dirty="0">
                <a:solidFill>
                  <a:srgbClr val="2A0B2F"/>
                </a:solidFill>
                <a:latin typeface="Arial" pitchFamily="34" charset="0"/>
                <a:ea typeface="Arial" pitchFamily="34" charset="-122"/>
                <a:cs typeface="Arial" pitchFamily="34" charset="-120"/>
              </a:rPr>
              <a:t>Gentler option: ₹159, just above the floor, for 4 weeks gets 14 reviews instead of 6 at about ₹147 each, and never goes below zero.</a:t>
            </a:r>
            <a:endParaRPr lang="en-US" sz="1400" dirty="0"/>
          </a:p>
          <a:p>
            <a:pPr marL="203200" indent="-203200">
              <a:spcAft>
                <a:spcPts val="600"/>
              </a:spcAft>
              <a:buSzPct val="100000"/>
              <a:buChar char="•"/>
            </a:pPr>
            <a:r>
              <a:rPr lang="en-US" sz="1400" dirty="0">
                <a:solidFill>
                  <a:srgbClr val="2A0B2F"/>
                </a:solidFill>
                <a:latin typeface="Arial" pitchFamily="34" charset="0"/>
                <a:ea typeface="Arial" pitchFamily="34" charset="-122"/>
                <a:cs typeface="Arial" pitchFamily="34" charset="-120"/>
              </a:rPr>
              <a:t>Similar listings, re-costed with his costs: launched low and rated 3.9+ made ₹10,191 in 12 weeks (19 listings); rated lower, a median −₹120, and 57% lost money (30).</a:t>
            </a:r>
            <a:endParaRPr lang="en-US" sz="1400" dirty="0"/>
          </a:p>
        </p:txBody>
      </p:sp>
      <p:sp>
        <p:nvSpPr>
          <p:cNvPr id="17" name="Shape 14"/>
          <p:cNvSpPr/>
          <p:nvPr/>
        </p:nvSpPr>
        <p:spPr>
          <a:xfrm>
            <a:off x="10424160" y="7662672"/>
            <a:ext cx="7132320" cy="548640"/>
          </a:xfrm>
          <a:prstGeom prst="roundRect">
            <a:avLst>
              <a:gd name="adj" fmla="val 20000"/>
            </a:avLst>
          </a:prstGeom>
          <a:solidFill>
            <a:srgbClr val="4B1248"/>
          </a:solidFill>
          <a:ln w="12700">
            <a:solidFill>
              <a:srgbClr val="4B1248"/>
            </a:solidFill>
            <a:prstDash val="solid"/>
          </a:ln>
        </p:spPr>
      </p:sp>
      <p:sp>
        <p:nvSpPr>
          <p:cNvPr id="18" name="Text 15"/>
          <p:cNvSpPr txBox="1"/>
          <p:nvPr/>
        </p:nvSpPr>
        <p:spPr>
          <a:xfrm>
            <a:off x="10652760" y="7662672"/>
            <a:ext cx="6675120" cy="54864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If he launches low anyway: back to ₹209 if under 3.9 stars after 15 reviews.</a:t>
            </a:r>
            <a:endParaRPr lang="en-US" sz="1450" dirty="0"/>
          </a:p>
        </p:txBody>
      </p:sp>
      <p:sp>
        <p:nvSpPr>
          <p:cNvPr id="19" name="Shape 16"/>
          <p:cNvSpPr/>
          <p:nvPr/>
        </p:nvSpPr>
        <p:spPr>
          <a:xfrm>
            <a:off x="10424160" y="8302752"/>
            <a:ext cx="7132320" cy="795528"/>
          </a:xfrm>
          <a:prstGeom prst="roundRect">
            <a:avLst>
              <a:gd name="adj" fmla="val 13793"/>
            </a:avLst>
          </a:prstGeom>
          <a:solidFill>
            <a:srgbClr val="EFE3F1"/>
          </a:solidFill>
          <a:ln w="12700">
            <a:solidFill>
              <a:srgbClr val="EFE3F1"/>
            </a:solidFill>
            <a:prstDash val="solid"/>
          </a:ln>
        </p:spPr>
      </p:sp>
      <p:sp>
        <p:nvSpPr>
          <p:cNvPr id="20" name="Text 17"/>
          <p:cNvSpPr txBox="1"/>
          <p:nvPr/>
        </p:nvSpPr>
        <p:spPr>
          <a:xfrm>
            <a:off x="10652760" y="8302752"/>
            <a:ext cx="6675120" cy="795528"/>
          </a:xfrm>
          <a:prstGeom prst="rect">
            <a:avLst/>
          </a:prstGeom>
          <a:noFill/>
          <a:ln/>
        </p:spPr>
        <p:txBody>
          <a:bodyPr wrap="square" lIns="0" tIns="0" rIns="0" bIns="0" rtlCol="0" anchor="ctr"/>
          <a:lstStyle/>
          <a:p>
            <a:pPr indent="0" marL="0">
              <a:buNone/>
            </a:pPr>
            <a:r>
              <a:rPr lang="en-US" sz="1250" dirty="0">
                <a:solidFill>
                  <a:srgbClr val="4B1248"/>
                </a:solidFill>
                <a:latin typeface="Arial" pitchFamily="34" charset="0"/>
                <a:ea typeface="Arial" pitchFamily="34" charset="-122"/>
                <a:cs typeface="Arial" pitchFamily="34" charset="-120"/>
              </a:rPr>
              <a:t>A ₹250-cost soap (floor ₹360, market top ₹229) loses ₹119 an order; ₹3,000 lasts about 6 weeks. Closing a 57% gap needs about 4.7 stars. A loss budget buys time, not profit.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indent="0" marL="0">
              <a:buNone/>
            </a:pPr>
            <a:r>
              <a:rPr lang="en-US" sz="3600" b="1" dirty="0">
                <a:solidFill>
                  <a:srgbClr val="4B1248"/>
                </a:solidFill>
                <a:latin typeface="Arial" pitchFamily="34" charset="0"/>
                <a:ea typeface="Arial" pitchFamily="34" charset="-122"/>
                <a:cs typeface="Arial" pitchFamily="34" charset="-120"/>
              </a:rPr>
              <a:t>Others use AI to match products; </a:t>
            </a:r>
            <a:pPr indent="0" marL="0">
              <a:buNone/>
            </a:pPr>
            <a:r>
              <a:rPr lang="en-US" sz="3600" b="1" dirty="0">
                <a:solidFill>
                  <a:srgbClr val="C2185B"/>
                </a:solidFill>
                <a:latin typeface="Arial" pitchFamily="34" charset="0"/>
                <a:ea typeface="Arial" pitchFamily="34" charset="-122"/>
                <a:cs typeface="Arial" pitchFamily="34" charset="-120"/>
              </a:rPr>
              <a:t>none we found models full seller cost</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indent="0" marL="0">
              <a:buNone/>
            </a:pPr>
            <a:r>
              <a:rPr lang="en-US" sz="1700" i="1" dirty="0">
                <a:solidFill>
                  <a:srgbClr val="67516B"/>
                </a:solidFill>
                <a:latin typeface="Arial" pitchFamily="34" charset="0"/>
                <a:ea typeface="Arial" pitchFamily="34" charset="-122"/>
                <a:cs typeface="Arial" pitchFamily="34" charset="-120"/>
              </a:rPr>
              <a:t>What eight pricing tools run in the backend, and whether they do the four jobs a new seller needs, from the public sources numbered below</a:t>
            </a:r>
            <a:endParaRPr lang="en-US" sz="1700" dirty="0"/>
          </a:p>
        </p:txBody>
      </p:sp>
      <p:sp>
        <p:nvSpPr>
          <p:cNvPr id="4" name="Text 2"/>
          <p:cNvSpPr txBox="1"/>
          <p:nvPr/>
        </p:nvSpPr>
        <p:spPr>
          <a:xfrm>
            <a:off x="17007840" y="9198864"/>
            <a:ext cx="548640" cy="329184"/>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7</a:t>
            </a:r>
            <a:endParaRPr lang="en-US" sz="1200" dirty="0"/>
          </a:p>
        </p:txBody>
      </p:sp>
      <p:sp>
        <p:nvSpPr>
          <p:cNvPr id="5" name="Text 3"/>
          <p:cNvSpPr txBox="1"/>
          <p:nvPr/>
        </p:nvSpPr>
        <p:spPr>
          <a:xfrm>
            <a:off x="2697480" y="3886200"/>
            <a:ext cx="5376672" cy="347472"/>
          </a:xfrm>
          <a:prstGeom prst="rect">
            <a:avLst/>
          </a:prstGeom>
          <a:noFill/>
          <a:ln/>
        </p:spPr>
        <p:txBody>
          <a:bodyPr wrap="square" lIns="0" tIns="0" rIns="0" bIns="0" rtlCol="0" anchor="ctr"/>
          <a:lstStyle/>
          <a:p>
            <a:pPr algn="ctr" indent="0" marL="0">
              <a:buNone/>
            </a:pPr>
            <a:r>
              <a:rPr lang="en-US" sz="1300" b="1" dirty="0">
                <a:solidFill>
                  <a:srgbClr val="C2185B"/>
                </a:solidFill>
                <a:latin typeface="Arial" pitchFamily="34" charset="0"/>
                <a:ea typeface="Arial" pitchFamily="34" charset="-122"/>
                <a:cs typeface="Arial" pitchFamily="34" charset="-120"/>
              </a:rPr>
              <a:t>What runs in the backend</a:t>
            </a:r>
            <a:endParaRPr lang="en-US" sz="1300" dirty="0"/>
          </a:p>
        </p:txBody>
      </p:sp>
      <p:sp>
        <p:nvSpPr>
          <p:cNvPr id="6" name="Text 4"/>
          <p:cNvSpPr txBox="1"/>
          <p:nvPr/>
        </p:nvSpPr>
        <p:spPr>
          <a:xfrm>
            <a:off x="8183880" y="3886200"/>
            <a:ext cx="5925312" cy="347472"/>
          </a:xfrm>
          <a:prstGeom prst="rect">
            <a:avLst/>
          </a:prstGeom>
          <a:noFill/>
          <a:ln/>
        </p:spPr>
        <p:txBody>
          <a:bodyPr wrap="square" lIns="0" tIns="0" rIns="0" bIns="0" rtlCol="0" anchor="ctr"/>
          <a:lstStyle/>
          <a:p>
            <a:pPr algn="ctr" indent="0" marL="0">
              <a:buNone/>
            </a:pPr>
            <a:r>
              <a:rPr lang="en-US" sz="1300" b="1" dirty="0">
                <a:solidFill>
                  <a:srgbClr val="C2185B"/>
                </a:solidFill>
                <a:latin typeface="Arial" pitchFamily="34" charset="0"/>
                <a:ea typeface="Arial" pitchFamily="34" charset="-122"/>
                <a:cs typeface="Arial" pitchFamily="34" charset="-120"/>
              </a:rPr>
              <a:t>Does it do the four jobs a new seller needs?</a:t>
            </a:r>
            <a:endParaRPr lang="en-US" sz="1300" dirty="0"/>
          </a:p>
        </p:txBody>
      </p:sp>
      <p:sp>
        <p:nvSpPr>
          <p:cNvPr id="7" name="Shape 5"/>
          <p:cNvSpPr/>
          <p:nvPr/>
        </p:nvSpPr>
        <p:spPr>
          <a:xfrm>
            <a:off x="731520" y="4261104"/>
            <a:ext cx="13377672" cy="658368"/>
          </a:xfrm>
          <a:prstGeom prst="rect">
            <a:avLst/>
          </a:prstGeom>
          <a:solidFill>
            <a:srgbClr val="F3E8F4"/>
          </a:solidFill>
          <a:ln w="12700">
            <a:solidFill>
              <a:srgbClr val="F3E8F4"/>
            </a:solidFill>
            <a:prstDash val="solid"/>
          </a:ln>
        </p:spPr>
      </p:sp>
      <p:sp>
        <p:nvSpPr>
          <p:cNvPr id="8" name="Shape 6"/>
          <p:cNvSpPr/>
          <p:nvPr/>
        </p:nvSpPr>
        <p:spPr>
          <a:xfrm>
            <a:off x="7178040" y="4261104"/>
            <a:ext cx="896112" cy="3858768"/>
          </a:xfrm>
          <a:prstGeom prst="rect">
            <a:avLst/>
          </a:prstGeom>
          <a:solidFill>
            <a:srgbClr val="FCE4EF"/>
          </a:solidFill>
          <a:ln w="12700">
            <a:solidFill>
              <a:srgbClr val="FCE4EF"/>
            </a:solidFill>
            <a:prstDash val="solid"/>
          </a:ln>
        </p:spPr>
      </p:sp>
      <p:sp>
        <p:nvSpPr>
          <p:cNvPr id="9" name="Text 7"/>
          <p:cNvSpPr txBox="1"/>
          <p:nvPr/>
        </p:nvSpPr>
        <p:spPr>
          <a:xfrm>
            <a:off x="868680" y="4261104"/>
            <a:ext cx="1783080" cy="658368"/>
          </a:xfrm>
          <a:prstGeom prst="rect">
            <a:avLst/>
          </a:prstGeom>
          <a:noFill/>
          <a:ln/>
        </p:spPr>
        <p:txBody>
          <a:bodyPr wrap="square" lIns="0" tIns="0" rIns="0" bIns="0" rtlCol="0" anchor="ctr"/>
          <a:lstStyle/>
          <a:p>
            <a:pPr indent="0" marL="0">
              <a:buNone/>
            </a:pPr>
            <a:r>
              <a:rPr lang="en-US" sz="1300" b="1" dirty="0">
                <a:solidFill>
                  <a:srgbClr val="4B1248"/>
                </a:solidFill>
                <a:latin typeface="Arial" pitchFamily="34" charset="0"/>
                <a:ea typeface="Arial" pitchFamily="34" charset="-122"/>
                <a:cs typeface="Arial" pitchFamily="34" charset="-120"/>
              </a:rPr>
              <a:t>Tool</a:t>
            </a:r>
            <a:endParaRPr lang="en-US" sz="1300" dirty="0"/>
          </a:p>
        </p:txBody>
      </p:sp>
      <p:sp>
        <p:nvSpPr>
          <p:cNvPr id="10" name="Text 8"/>
          <p:cNvSpPr txBox="1"/>
          <p:nvPr/>
        </p:nvSpPr>
        <p:spPr>
          <a:xfrm>
            <a:off x="2734056" y="4261104"/>
            <a:ext cx="822960" cy="658368"/>
          </a:xfrm>
          <a:prstGeom prst="rect">
            <a:avLst/>
          </a:prstGeom>
          <a:noFill/>
          <a:ln/>
        </p:spPr>
        <p:txBody>
          <a:bodyPr wrap="square" lIns="0" tIns="0" rIns="0" bIns="0" rtlCol="0" anchor="ctr"/>
          <a:lstStyle/>
          <a:p>
            <a:pPr algn="ctr" indent="0" marL="0">
              <a:buNone/>
            </a:pPr>
            <a:r>
              <a:rPr lang="en-US" sz="1200" b="1" dirty="0">
                <a:solidFill>
                  <a:srgbClr val="4B1248"/>
                </a:solidFill>
                <a:latin typeface="Arial" pitchFamily="34" charset="0"/>
                <a:ea typeface="Arial" pitchFamily="34" charset="-122"/>
                <a:cs typeface="Arial" pitchFamily="34" charset="-120"/>
              </a:rPr>
              <a:t>Rules engine</a:t>
            </a:r>
            <a:endParaRPr lang="en-US" sz="1200" dirty="0"/>
          </a:p>
        </p:txBody>
      </p:sp>
      <p:sp>
        <p:nvSpPr>
          <p:cNvPr id="11" name="Text 9"/>
          <p:cNvSpPr txBox="1"/>
          <p:nvPr/>
        </p:nvSpPr>
        <p:spPr>
          <a:xfrm>
            <a:off x="3630168" y="4261104"/>
            <a:ext cx="822960" cy="658368"/>
          </a:xfrm>
          <a:prstGeom prst="rect">
            <a:avLst/>
          </a:prstGeom>
          <a:noFill/>
          <a:ln/>
        </p:spPr>
        <p:txBody>
          <a:bodyPr wrap="square" lIns="0" tIns="0" rIns="0" bIns="0" rtlCol="0" anchor="ctr"/>
          <a:lstStyle/>
          <a:p>
            <a:pPr algn="ctr" indent="0" marL="0">
              <a:buNone/>
            </a:pPr>
            <a:r>
              <a:rPr lang="en-US" sz="1200" b="1" dirty="0">
                <a:solidFill>
                  <a:srgbClr val="4B1248"/>
                </a:solidFill>
                <a:latin typeface="Arial" pitchFamily="34" charset="0"/>
                <a:ea typeface="Arial" pitchFamily="34" charset="-122"/>
                <a:cs typeface="Arial" pitchFamily="34" charset="-120"/>
              </a:rPr>
              <a:t>Image AI</a:t>
            </a:r>
            <a:endParaRPr lang="en-US" sz="1200" dirty="0"/>
          </a:p>
        </p:txBody>
      </p:sp>
      <p:sp>
        <p:nvSpPr>
          <p:cNvPr id="12" name="Text 10"/>
          <p:cNvSpPr txBox="1"/>
          <p:nvPr/>
        </p:nvSpPr>
        <p:spPr>
          <a:xfrm>
            <a:off x="4526280" y="4261104"/>
            <a:ext cx="822960" cy="658368"/>
          </a:xfrm>
          <a:prstGeom prst="rect">
            <a:avLst/>
          </a:prstGeom>
          <a:noFill/>
          <a:ln/>
        </p:spPr>
        <p:txBody>
          <a:bodyPr wrap="square" lIns="0" tIns="0" rIns="0" bIns="0" rtlCol="0" anchor="ctr"/>
          <a:lstStyle/>
          <a:p>
            <a:pPr algn="ctr" indent="0" marL="0">
              <a:buNone/>
            </a:pPr>
            <a:r>
              <a:rPr lang="en-US" sz="1200" b="1" dirty="0">
                <a:solidFill>
                  <a:srgbClr val="4B1248"/>
                </a:solidFill>
                <a:latin typeface="Arial" pitchFamily="34" charset="0"/>
                <a:ea typeface="Arial" pitchFamily="34" charset="-122"/>
                <a:cs typeface="Arial" pitchFamily="34" charset="-120"/>
              </a:rPr>
              <a:t>Text AI</a:t>
            </a:r>
            <a:endParaRPr lang="en-US" sz="1200" dirty="0"/>
          </a:p>
        </p:txBody>
      </p:sp>
      <p:sp>
        <p:nvSpPr>
          <p:cNvPr id="13" name="Text 11"/>
          <p:cNvSpPr txBox="1"/>
          <p:nvPr/>
        </p:nvSpPr>
        <p:spPr>
          <a:xfrm>
            <a:off x="5422392" y="4261104"/>
            <a:ext cx="822960" cy="658368"/>
          </a:xfrm>
          <a:prstGeom prst="rect">
            <a:avLst/>
          </a:prstGeom>
          <a:noFill/>
          <a:ln/>
        </p:spPr>
        <p:txBody>
          <a:bodyPr wrap="square" lIns="0" tIns="0" rIns="0" bIns="0" rtlCol="0" anchor="ctr"/>
          <a:lstStyle/>
          <a:p>
            <a:pPr algn="ctr" indent="0" marL="0">
              <a:buNone/>
            </a:pPr>
            <a:r>
              <a:rPr lang="en-US" sz="1200" b="1" dirty="0">
                <a:solidFill>
                  <a:srgbClr val="4B1248"/>
                </a:solidFill>
                <a:latin typeface="Arial" pitchFamily="34" charset="0"/>
                <a:ea typeface="Arial" pitchFamily="34" charset="-122"/>
                <a:cs typeface="Arial" pitchFamily="34" charset="-120"/>
              </a:rPr>
              <a:t>Forecast model</a:t>
            </a:r>
            <a:endParaRPr lang="en-US" sz="1200" dirty="0"/>
          </a:p>
        </p:txBody>
      </p:sp>
      <p:sp>
        <p:nvSpPr>
          <p:cNvPr id="14" name="Text 12"/>
          <p:cNvSpPr txBox="1"/>
          <p:nvPr/>
        </p:nvSpPr>
        <p:spPr>
          <a:xfrm>
            <a:off x="6318504" y="4261104"/>
            <a:ext cx="822960" cy="658368"/>
          </a:xfrm>
          <a:prstGeom prst="rect">
            <a:avLst/>
          </a:prstGeom>
          <a:noFill/>
          <a:ln/>
        </p:spPr>
        <p:txBody>
          <a:bodyPr wrap="square" lIns="0" tIns="0" rIns="0" bIns="0" rtlCol="0" anchor="ctr"/>
          <a:lstStyle/>
          <a:p>
            <a:pPr algn="ctr" indent="0" marL="0">
              <a:buNone/>
            </a:pPr>
            <a:r>
              <a:rPr lang="en-US" sz="1200" b="1" dirty="0">
                <a:solidFill>
                  <a:srgbClr val="4B1248"/>
                </a:solidFill>
                <a:latin typeface="Arial" pitchFamily="34" charset="0"/>
                <a:ea typeface="Arial" pitchFamily="34" charset="-122"/>
                <a:cs typeface="Arial" pitchFamily="34" charset="-120"/>
              </a:rPr>
              <a:t>Price optimiser</a:t>
            </a:r>
            <a:endParaRPr lang="en-US" sz="1200" dirty="0"/>
          </a:p>
        </p:txBody>
      </p:sp>
      <p:sp>
        <p:nvSpPr>
          <p:cNvPr id="15" name="Text 13"/>
          <p:cNvSpPr txBox="1"/>
          <p:nvPr/>
        </p:nvSpPr>
        <p:spPr>
          <a:xfrm>
            <a:off x="7214616" y="4261104"/>
            <a:ext cx="822960" cy="658368"/>
          </a:xfrm>
          <a:prstGeom prst="rect">
            <a:avLst/>
          </a:prstGeom>
          <a:noFill/>
          <a:ln/>
        </p:spPr>
        <p:txBody>
          <a:bodyPr wrap="square" lIns="0" tIns="0" rIns="0" bIns="0" rtlCol="0" anchor="ctr"/>
          <a:lstStyle/>
          <a:p>
            <a:pPr algn="ctr" indent="0" marL="0">
              <a:buNone/>
            </a:pPr>
            <a:r>
              <a:rPr lang="en-US" sz="1200" b="1" dirty="0">
                <a:solidFill>
                  <a:srgbClr val="C2185B"/>
                </a:solidFill>
                <a:latin typeface="Arial" pitchFamily="34" charset="0"/>
                <a:ea typeface="Arial" pitchFamily="34" charset="-122"/>
                <a:cs typeface="Arial" pitchFamily="34" charset="-120"/>
              </a:rPr>
              <a:t>Cost model</a:t>
            </a:r>
            <a:endParaRPr lang="en-US" sz="1200" dirty="0"/>
          </a:p>
        </p:txBody>
      </p:sp>
      <p:sp>
        <p:nvSpPr>
          <p:cNvPr id="16" name="Text 14"/>
          <p:cNvSpPr txBox="1"/>
          <p:nvPr/>
        </p:nvSpPr>
        <p:spPr>
          <a:xfrm>
            <a:off x="8257032" y="4261104"/>
            <a:ext cx="1335024" cy="658368"/>
          </a:xfrm>
          <a:prstGeom prst="rect">
            <a:avLst/>
          </a:prstGeom>
          <a:noFill/>
          <a:ln/>
        </p:spPr>
        <p:txBody>
          <a:bodyPr wrap="square" lIns="0" tIns="0" rIns="0" bIns="0" rtlCol="0" anchor="ctr"/>
          <a:lstStyle/>
          <a:p>
            <a:pPr indent="0" marL="0">
              <a:buNone/>
            </a:pPr>
            <a:r>
              <a:rPr lang="en-US" sz="1200" b="1" dirty="0">
                <a:solidFill>
                  <a:srgbClr val="4B1248"/>
                </a:solidFill>
                <a:latin typeface="Arial" pitchFamily="34" charset="0"/>
                <a:ea typeface="Arial" pitchFamily="34" charset="-122"/>
                <a:cs typeface="Arial" pitchFamily="34" charset="-120"/>
              </a:rPr>
              <a:t>Price for a new product?</a:t>
            </a:r>
            <a:endParaRPr lang="en-US" sz="1200" dirty="0"/>
          </a:p>
        </p:txBody>
      </p:sp>
      <p:sp>
        <p:nvSpPr>
          <p:cNvPr id="17" name="Text 15"/>
          <p:cNvSpPr txBox="1"/>
          <p:nvPr/>
        </p:nvSpPr>
        <p:spPr>
          <a:xfrm>
            <a:off x="9738360" y="4261104"/>
            <a:ext cx="1335024" cy="658368"/>
          </a:xfrm>
          <a:prstGeom prst="rect">
            <a:avLst/>
          </a:prstGeom>
          <a:noFill/>
          <a:ln/>
        </p:spPr>
        <p:txBody>
          <a:bodyPr wrap="square" lIns="0" tIns="0" rIns="0" bIns="0" rtlCol="0" anchor="ctr"/>
          <a:lstStyle/>
          <a:p>
            <a:pPr indent="0" marL="0">
              <a:buNone/>
            </a:pPr>
            <a:r>
              <a:rPr lang="en-US" sz="1200" b="1" dirty="0">
                <a:solidFill>
                  <a:srgbClr val="4B1248"/>
                </a:solidFill>
                <a:latin typeface="Arial" pitchFamily="34" charset="0"/>
                <a:ea typeface="Arial" pitchFamily="34" charset="-122"/>
                <a:cs typeface="Arial" pitchFamily="34" charset="-120"/>
              </a:rPr>
              <a:t>Counts returns, RTO and GST?</a:t>
            </a:r>
            <a:endParaRPr lang="en-US" sz="1200" dirty="0"/>
          </a:p>
        </p:txBody>
      </p:sp>
      <p:sp>
        <p:nvSpPr>
          <p:cNvPr id="18" name="Text 16"/>
          <p:cNvSpPr txBox="1"/>
          <p:nvPr/>
        </p:nvSpPr>
        <p:spPr>
          <a:xfrm>
            <a:off x="11219688" y="4261104"/>
            <a:ext cx="1335024" cy="658368"/>
          </a:xfrm>
          <a:prstGeom prst="rect">
            <a:avLst/>
          </a:prstGeom>
          <a:noFill/>
          <a:ln/>
        </p:spPr>
        <p:txBody>
          <a:bodyPr wrap="square" lIns="0" tIns="0" rIns="0" bIns="0" rtlCol="0" anchor="ctr"/>
          <a:lstStyle/>
          <a:p>
            <a:pPr indent="0" marL="0">
              <a:buNone/>
            </a:pPr>
            <a:r>
              <a:rPr lang="en-US" sz="1200" b="1" dirty="0">
                <a:solidFill>
                  <a:srgbClr val="4B1248"/>
                </a:solidFill>
                <a:latin typeface="Arial" pitchFamily="34" charset="0"/>
                <a:ea typeface="Arial" pitchFamily="34" charset="-122"/>
                <a:cs typeface="Arial" pitchFamily="34" charset="-120"/>
              </a:rPr>
              <a:t>Updates the price later?</a:t>
            </a:r>
            <a:endParaRPr lang="en-US" sz="1200" dirty="0"/>
          </a:p>
        </p:txBody>
      </p:sp>
      <p:sp>
        <p:nvSpPr>
          <p:cNvPr id="19" name="Text 17"/>
          <p:cNvSpPr txBox="1"/>
          <p:nvPr/>
        </p:nvSpPr>
        <p:spPr>
          <a:xfrm>
            <a:off x="12701016" y="4261104"/>
            <a:ext cx="1335024" cy="658368"/>
          </a:xfrm>
          <a:prstGeom prst="rect">
            <a:avLst/>
          </a:prstGeom>
          <a:noFill/>
          <a:ln/>
        </p:spPr>
        <p:txBody>
          <a:bodyPr wrap="square" lIns="0" tIns="0" rIns="0" bIns="0" rtlCol="0" anchor="ctr"/>
          <a:lstStyle/>
          <a:p>
            <a:pPr indent="0" marL="0">
              <a:buNone/>
            </a:pPr>
            <a:r>
              <a:rPr lang="en-US" sz="1200" b="1" dirty="0">
                <a:solidFill>
                  <a:srgbClr val="4B1248"/>
                </a:solidFill>
                <a:latin typeface="Arial" pitchFamily="34" charset="0"/>
                <a:ea typeface="Arial" pitchFamily="34" charset="-122"/>
                <a:cs typeface="Arial" pitchFamily="34" charset="-120"/>
              </a:rPr>
              <a:t>Aims for the seller's profit?</a:t>
            </a:r>
            <a:endParaRPr lang="en-US" sz="1200" dirty="0"/>
          </a:p>
        </p:txBody>
      </p:sp>
      <p:sp>
        <p:nvSpPr>
          <p:cNvPr id="20" name="Shape 18"/>
          <p:cNvSpPr/>
          <p:nvPr/>
        </p:nvSpPr>
        <p:spPr>
          <a:xfrm>
            <a:off x="731520" y="5376672"/>
            <a:ext cx="13377672" cy="0"/>
          </a:xfrm>
          <a:prstGeom prst="line">
            <a:avLst/>
          </a:prstGeom>
          <a:noFill/>
          <a:ln w="9525">
            <a:solidFill>
              <a:srgbClr val="E3D5E6"/>
            </a:solidFill>
            <a:prstDash val="solid"/>
          </a:ln>
        </p:spPr>
      </p:sp>
      <p:sp>
        <p:nvSpPr>
          <p:cNvPr id="21" name="Text 19"/>
          <p:cNvSpPr txBox="1"/>
          <p:nvPr/>
        </p:nvSpPr>
        <p:spPr>
          <a:xfrm>
            <a:off x="868680" y="4919472"/>
            <a:ext cx="1828800" cy="457200"/>
          </a:xfrm>
          <a:prstGeom prst="rect">
            <a:avLst/>
          </a:prstGeom>
          <a:noFill/>
          <a:ln/>
        </p:spPr>
        <p:txBody>
          <a:bodyPr wrap="square" lIns="0" tIns="0" rIns="0" bIns="0" rtlCol="0" anchor="ctr"/>
          <a:lstStyle/>
          <a:p>
            <a:pPr indent="0" marL="0">
              <a:buNone/>
            </a:pPr>
            <a:r>
              <a:rPr lang="en-US" sz="1400" b="1" dirty="0">
                <a:solidFill>
                  <a:srgbClr val="2A0B2F"/>
                </a:solidFill>
                <a:latin typeface="Arial" pitchFamily="34" charset="0"/>
                <a:ea typeface="Arial" pitchFamily="34" charset="-122"/>
                <a:cs typeface="Arial" pitchFamily="34" charset="-120"/>
              </a:rPr>
              <a:t>Amazon</a:t>
            </a:r>
            <a:pPr indent="0" marL="0">
              <a:buNone/>
            </a:pPr>
            <a:r>
              <a:rPr lang="en-US" sz="1000" dirty="0">
                <a:solidFill>
                  <a:srgbClr val="67516B"/>
                </a:solidFill>
                <a:latin typeface="Arial" pitchFamily="34" charset="0"/>
                <a:ea typeface="Arial" pitchFamily="34" charset="-122"/>
                <a:cs typeface="Arial" pitchFamily="34" charset="-120"/>
              </a:rPr>
              <a:t> [1]</a:t>
            </a:r>
            <a:endParaRPr lang="en-US" sz="1400" dirty="0"/>
          </a:p>
        </p:txBody>
      </p:sp>
      <p:pic>
        <p:nvPicPr>
          <p:cNvPr id="22" name="Image 0" descr="Documented">    </p:cNvPr>
          <p:cNvPicPr>
            <a:picLocks noChangeAspect="1"/>
          </p:cNvPicPr>
          <p:nvPr/>
        </p:nvPicPr>
        <p:blipFill>
          <a:blip r:embed="rId2"/>
          <a:stretch>
            <a:fillRect/>
          </a:stretch>
        </p:blipFill>
        <p:spPr>
          <a:xfrm>
            <a:off x="3017520" y="5020056"/>
            <a:ext cx="256032" cy="256032"/>
          </a:xfrm>
          <a:prstGeom prst="rect">
            <a:avLst/>
          </a:prstGeom>
        </p:spPr>
      </p:pic>
      <p:pic>
        <p:nvPicPr>
          <p:cNvPr id="23" name="Image 1" descr="Not public">    </p:cNvPr>
          <p:cNvPicPr>
            <a:picLocks noChangeAspect="1"/>
          </p:cNvPicPr>
          <p:nvPr/>
        </p:nvPicPr>
        <p:blipFill>
          <a:blip r:embed="rId3"/>
          <a:stretch>
            <a:fillRect/>
          </a:stretch>
        </p:blipFill>
        <p:spPr>
          <a:xfrm>
            <a:off x="3950208" y="5056632"/>
            <a:ext cx="182880" cy="182880"/>
          </a:xfrm>
          <a:prstGeom prst="rect">
            <a:avLst/>
          </a:prstGeom>
        </p:spPr>
      </p:pic>
      <p:pic>
        <p:nvPicPr>
          <p:cNvPr id="24" name="Image 2" descr="Not public">    </p:cNvPr>
          <p:cNvPicPr>
            <a:picLocks noChangeAspect="1"/>
          </p:cNvPicPr>
          <p:nvPr/>
        </p:nvPicPr>
        <p:blipFill>
          <a:blip r:embed="rId4"/>
          <a:stretch>
            <a:fillRect/>
          </a:stretch>
        </p:blipFill>
        <p:spPr>
          <a:xfrm>
            <a:off x="4846320" y="5056632"/>
            <a:ext cx="182880" cy="182880"/>
          </a:xfrm>
          <a:prstGeom prst="rect">
            <a:avLst/>
          </a:prstGeom>
        </p:spPr>
      </p:pic>
      <p:pic>
        <p:nvPicPr>
          <p:cNvPr id="25" name="Image 3" descr="Not public">    </p:cNvPr>
          <p:cNvPicPr>
            <a:picLocks noChangeAspect="1"/>
          </p:cNvPicPr>
          <p:nvPr/>
        </p:nvPicPr>
        <p:blipFill>
          <a:blip r:embed="rId5"/>
          <a:stretch>
            <a:fillRect/>
          </a:stretch>
        </p:blipFill>
        <p:spPr>
          <a:xfrm>
            <a:off x="5742432" y="5056632"/>
            <a:ext cx="182880" cy="182880"/>
          </a:xfrm>
          <a:prstGeom prst="rect">
            <a:avLst/>
          </a:prstGeom>
        </p:spPr>
      </p:pic>
      <p:pic>
        <p:nvPicPr>
          <p:cNvPr id="26" name="Image 4" descr="Not public">    </p:cNvPr>
          <p:cNvPicPr>
            <a:picLocks noChangeAspect="1"/>
          </p:cNvPicPr>
          <p:nvPr/>
        </p:nvPicPr>
        <p:blipFill>
          <a:blip r:embed="rId6"/>
          <a:stretch>
            <a:fillRect/>
          </a:stretch>
        </p:blipFill>
        <p:spPr>
          <a:xfrm>
            <a:off x="6638544" y="5056632"/>
            <a:ext cx="182880" cy="182880"/>
          </a:xfrm>
          <a:prstGeom prst="rect">
            <a:avLst/>
          </a:prstGeom>
        </p:spPr>
      </p:pic>
      <p:pic>
        <p:nvPicPr>
          <p:cNvPr id="27" name="Image 5" descr="Partial">    </p:cNvPr>
          <p:cNvPicPr>
            <a:picLocks noChangeAspect="1"/>
          </p:cNvPicPr>
          <p:nvPr/>
        </p:nvPicPr>
        <p:blipFill>
          <a:blip r:embed="rId7"/>
          <a:stretch>
            <a:fillRect/>
          </a:stretch>
        </p:blipFill>
        <p:spPr>
          <a:xfrm>
            <a:off x="7498080" y="5020056"/>
            <a:ext cx="256032" cy="256032"/>
          </a:xfrm>
          <a:prstGeom prst="rect">
            <a:avLst/>
          </a:prstGeom>
        </p:spPr>
      </p:pic>
      <p:sp>
        <p:nvSpPr>
          <p:cNvPr id="28" name="Shape 20"/>
          <p:cNvSpPr/>
          <p:nvPr/>
        </p:nvSpPr>
        <p:spPr>
          <a:xfrm>
            <a:off x="8257032" y="5010912"/>
            <a:ext cx="676656" cy="274320"/>
          </a:xfrm>
          <a:prstGeom prst="roundRect">
            <a:avLst>
              <a:gd name="adj" fmla="val 26667"/>
            </a:avLst>
          </a:prstGeom>
          <a:solidFill>
            <a:srgbClr val="E9E3EB"/>
          </a:solidFill>
          <a:ln w="12700">
            <a:solidFill>
              <a:srgbClr val="E9E3EB"/>
            </a:solidFill>
            <a:prstDash val="solid"/>
          </a:ln>
        </p:spPr>
      </p:sp>
      <p:sp>
        <p:nvSpPr>
          <p:cNvPr id="29" name="Text 21"/>
          <p:cNvSpPr txBox="1"/>
          <p:nvPr/>
        </p:nvSpPr>
        <p:spPr>
          <a:xfrm>
            <a:off x="8257032" y="5010912"/>
            <a:ext cx="676656" cy="274320"/>
          </a:xfrm>
          <a:prstGeom prst="rect">
            <a:avLst/>
          </a:prstGeom>
          <a:noFill/>
          <a:ln/>
        </p:spPr>
        <p:txBody>
          <a:bodyPr wrap="square" lIns="0" tIns="0" rIns="0" bIns="0" rtlCol="0" anchor="ctr"/>
          <a:lstStyle/>
          <a:p>
            <a:pPr algn="ctr" indent="0" marL="0">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30" name="Text 22"/>
          <p:cNvSpPr txBox="1"/>
          <p:nvPr/>
        </p:nvSpPr>
        <p:spPr>
          <a:xfrm>
            <a:off x="8988552" y="49194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needs rivals</a:t>
            </a:r>
            <a:endParaRPr lang="en-US" sz="1050" dirty="0"/>
          </a:p>
        </p:txBody>
      </p:sp>
      <p:sp>
        <p:nvSpPr>
          <p:cNvPr id="31" name="Shape 23"/>
          <p:cNvSpPr/>
          <p:nvPr/>
        </p:nvSpPr>
        <p:spPr>
          <a:xfrm>
            <a:off x="9738360" y="5010912"/>
            <a:ext cx="676656" cy="274320"/>
          </a:xfrm>
          <a:prstGeom prst="roundRect">
            <a:avLst>
              <a:gd name="adj" fmla="val 26667"/>
            </a:avLst>
          </a:prstGeom>
          <a:solidFill>
            <a:srgbClr val="F9DDB0"/>
          </a:solidFill>
          <a:ln w="12700">
            <a:solidFill>
              <a:srgbClr val="F9DDB0"/>
            </a:solidFill>
            <a:prstDash val="solid"/>
          </a:ln>
        </p:spPr>
      </p:sp>
      <p:sp>
        <p:nvSpPr>
          <p:cNvPr id="32" name="Text 24"/>
          <p:cNvSpPr txBox="1"/>
          <p:nvPr/>
        </p:nvSpPr>
        <p:spPr>
          <a:xfrm>
            <a:off x="9738360" y="5010912"/>
            <a:ext cx="676656" cy="274320"/>
          </a:xfrm>
          <a:prstGeom prst="rect">
            <a:avLst/>
          </a:prstGeom>
          <a:noFill/>
          <a:ln/>
        </p:spPr>
        <p:txBody>
          <a:bodyPr wrap="square" lIns="0" tIns="0" rIns="0" bIns="0" rtlCol="0" anchor="ctr"/>
          <a:lstStyle/>
          <a:p>
            <a:pPr algn="ctr" indent="0" marL="0">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33" name="Text 25"/>
          <p:cNvSpPr txBox="1"/>
          <p:nvPr/>
        </p:nvSpPr>
        <p:spPr>
          <a:xfrm>
            <a:off x="10469880" y="49194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fees only</a:t>
            </a:r>
            <a:endParaRPr lang="en-US" sz="1050" dirty="0"/>
          </a:p>
        </p:txBody>
      </p:sp>
      <p:sp>
        <p:nvSpPr>
          <p:cNvPr id="34" name="Shape 26"/>
          <p:cNvSpPr/>
          <p:nvPr/>
        </p:nvSpPr>
        <p:spPr>
          <a:xfrm>
            <a:off x="11219688" y="5010912"/>
            <a:ext cx="676656" cy="274320"/>
          </a:xfrm>
          <a:prstGeom prst="roundRect">
            <a:avLst>
              <a:gd name="adj" fmla="val 26667"/>
            </a:avLst>
          </a:prstGeom>
          <a:solidFill>
            <a:srgbClr val="F9DDB0"/>
          </a:solidFill>
          <a:ln w="12700">
            <a:solidFill>
              <a:srgbClr val="F9DDB0"/>
            </a:solidFill>
            <a:prstDash val="solid"/>
          </a:ln>
        </p:spPr>
      </p:sp>
      <p:sp>
        <p:nvSpPr>
          <p:cNvPr id="35" name="Text 27"/>
          <p:cNvSpPr txBox="1"/>
          <p:nvPr/>
        </p:nvSpPr>
        <p:spPr>
          <a:xfrm>
            <a:off x="11219688" y="5010912"/>
            <a:ext cx="676656" cy="274320"/>
          </a:xfrm>
          <a:prstGeom prst="rect">
            <a:avLst/>
          </a:prstGeom>
          <a:noFill/>
          <a:ln/>
        </p:spPr>
        <p:txBody>
          <a:bodyPr wrap="square" lIns="0" tIns="0" rIns="0" bIns="0" rtlCol="0" anchor="ctr"/>
          <a:lstStyle/>
          <a:p>
            <a:pPr algn="ctr" indent="0" marL="0">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36" name="Text 28"/>
          <p:cNvSpPr txBox="1"/>
          <p:nvPr/>
        </p:nvSpPr>
        <p:spPr>
          <a:xfrm>
            <a:off x="11951208" y="49194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follows rivals</a:t>
            </a:r>
            <a:endParaRPr lang="en-US" sz="1050" dirty="0"/>
          </a:p>
        </p:txBody>
      </p:sp>
      <p:sp>
        <p:nvSpPr>
          <p:cNvPr id="37" name="Shape 29"/>
          <p:cNvSpPr/>
          <p:nvPr/>
        </p:nvSpPr>
        <p:spPr>
          <a:xfrm>
            <a:off x="12701016" y="5010912"/>
            <a:ext cx="676656" cy="274320"/>
          </a:xfrm>
          <a:prstGeom prst="roundRect">
            <a:avLst>
              <a:gd name="adj" fmla="val 26667"/>
            </a:avLst>
          </a:prstGeom>
          <a:solidFill>
            <a:srgbClr val="E9E3EB"/>
          </a:solidFill>
          <a:ln w="12700">
            <a:solidFill>
              <a:srgbClr val="E9E3EB"/>
            </a:solidFill>
            <a:prstDash val="solid"/>
          </a:ln>
        </p:spPr>
      </p:sp>
      <p:sp>
        <p:nvSpPr>
          <p:cNvPr id="38" name="Text 30"/>
          <p:cNvSpPr txBox="1"/>
          <p:nvPr/>
        </p:nvSpPr>
        <p:spPr>
          <a:xfrm>
            <a:off x="12701016" y="5010912"/>
            <a:ext cx="676656" cy="274320"/>
          </a:xfrm>
          <a:prstGeom prst="rect">
            <a:avLst/>
          </a:prstGeom>
          <a:noFill/>
          <a:ln/>
        </p:spPr>
        <p:txBody>
          <a:bodyPr wrap="square" lIns="0" tIns="0" rIns="0" bIns="0" rtlCol="0" anchor="ctr"/>
          <a:lstStyle/>
          <a:p>
            <a:pPr algn="ctr" indent="0" marL="0">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39" name="Text 31"/>
          <p:cNvSpPr txBox="1"/>
          <p:nvPr/>
        </p:nvSpPr>
        <p:spPr>
          <a:xfrm>
            <a:off x="13432536" y="49194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top seller spot</a:t>
            </a:r>
            <a:endParaRPr lang="en-US" sz="1050" dirty="0"/>
          </a:p>
        </p:txBody>
      </p:sp>
      <p:sp>
        <p:nvSpPr>
          <p:cNvPr id="40" name="Shape 32"/>
          <p:cNvSpPr/>
          <p:nvPr/>
        </p:nvSpPr>
        <p:spPr>
          <a:xfrm>
            <a:off x="731520" y="5833872"/>
            <a:ext cx="13377672" cy="0"/>
          </a:xfrm>
          <a:prstGeom prst="line">
            <a:avLst/>
          </a:prstGeom>
          <a:noFill/>
          <a:ln w="9525">
            <a:solidFill>
              <a:srgbClr val="E3D5E6"/>
            </a:solidFill>
            <a:prstDash val="solid"/>
          </a:ln>
        </p:spPr>
      </p:sp>
      <p:sp>
        <p:nvSpPr>
          <p:cNvPr id="41" name="Text 33"/>
          <p:cNvSpPr txBox="1"/>
          <p:nvPr/>
        </p:nvSpPr>
        <p:spPr>
          <a:xfrm>
            <a:off x="868680" y="5376672"/>
            <a:ext cx="1828800" cy="457200"/>
          </a:xfrm>
          <a:prstGeom prst="rect">
            <a:avLst/>
          </a:prstGeom>
          <a:noFill/>
          <a:ln/>
        </p:spPr>
        <p:txBody>
          <a:bodyPr wrap="square" lIns="0" tIns="0" rIns="0" bIns="0" rtlCol="0" anchor="ctr"/>
          <a:lstStyle/>
          <a:p>
            <a:pPr indent="0" marL="0">
              <a:buNone/>
            </a:pPr>
            <a:r>
              <a:rPr lang="en-US" sz="1400" b="1" dirty="0">
                <a:solidFill>
                  <a:srgbClr val="2A0B2F"/>
                </a:solidFill>
                <a:latin typeface="Arial" pitchFamily="34" charset="0"/>
                <a:ea typeface="Arial" pitchFamily="34" charset="-122"/>
                <a:cs typeface="Arial" pitchFamily="34" charset="-120"/>
              </a:rPr>
              <a:t>Flipkart</a:t>
            </a:r>
            <a:pPr indent="0" marL="0">
              <a:buNone/>
            </a:pPr>
            <a:r>
              <a:rPr lang="en-US" sz="1000" dirty="0">
                <a:solidFill>
                  <a:srgbClr val="67516B"/>
                </a:solidFill>
                <a:latin typeface="Arial" pitchFamily="34" charset="0"/>
                <a:ea typeface="Arial" pitchFamily="34" charset="-122"/>
                <a:cs typeface="Arial" pitchFamily="34" charset="-120"/>
              </a:rPr>
              <a:t> [6]</a:t>
            </a:r>
            <a:endParaRPr lang="en-US" sz="1400" dirty="0"/>
          </a:p>
        </p:txBody>
      </p:sp>
      <p:pic>
        <p:nvPicPr>
          <p:cNvPr id="42" name="Image 6" descr="Documented">    </p:cNvPr>
          <p:cNvPicPr>
            <a:picLocks noChangeAspect="1"/>
          </p:cNvPicPr>
          <p:nvPr/>
        </p:nvPicPr>
        <p:blipFill>
          <a:blip r:embed="rId8"/>
          <a:stretch>
            <a:fillRect/>
          </a:stretch>
        </p:blipFill>
        <p:spPr>
          <a:xfrm>
            <a:off x="3017520" y="5477256"/>
            <a:ext cx="256032" cy="256032"/>
          </a:xfrm>
          <a:prstGeom prst="rect">
            <a:avLst/>
          </a:prstGeom>
        </p:spPr>
      </p:pic>
      <p:pic>
        <p:nvPicPr>
          <p:cNvPr id="43" name="Image 7" descr="Not public">    </p:cNvPr>
          <p:cNvPicPr>
            <a:picLocks noChangeAspect="1"/>
          </p:cNvPicPr>
          <p:nvPr/>
        </p:nvPicPr>
        <p:blipFill>
          <a:blip r:embed="rId9"/>
          <a:stretch>
            <a:fillRect/>
          </a:stretch>
        </p:blipFill>
        <p:spPr>
          <a:xfrm>
            <a:off x="3950208" y="5513832"/>
            <a:ext cx="182880" cy="182880"/>
          </a:xfrm>
          <a:prstGeom prst="rect">
            <a:avLst/>
          </a:prstGeom>
        </p:spPr>
      </p:pic>
      <p:pic>
        <p:nvPicPr>
          <p:cNvPr id="44" name="Image 8" descr="Not public">    </p:cNvPr>
          <p:cNvPicPr>
            <a:picLocks noChangeAspect="1"/>
          </p:cNvPicPr>
          <p:nvPr/>
        </p:nvPicPr>
        <p:blipFill>
          <a:blip r:embed="rId10"/>
          <a:stretch>
            <a:fillRect/>
          </a:stretch>
        </p:blipFill>
        <p:spPr>
          <a:xfrm>
            <a:off x="4846320" y="5513832"/>
            <a:ext cx="182880" cy="182880"/>
          </a:xfrm>
          <a:prstGeom prst="rect">
            <a:avLst/>
          </a:prstGeom>
        </p:spPr>
      </p:pic>
      <p:pic>
        <p:nvPicPr>
          <p:cNvPr id="45" name="Image 9" descr="Documented">    </p:cNvPr>
          <p:cNvPicPr>
            <a:picLocks noChangeAspect="1"/>
          </p:cNvPicPr>
          <p:nvPr/>
        </p:nvPicPr>
        <p:blipFill>
          <a:blip r:embed="rId11"/>
          <a:stretch>
            <a:fillRect/>
          </a:stretch>
        </p:blipFill>
        <p:spPr>
          <a:xfrm>
            <a:off x="5705856" y="5477256"/>
            <a:ext cx="256032" cy="256032"/>
          </a:xfrm>
          <a:prstGeom prst="rect">
            <a:avLst/>
          </a:prstGeom>
        </p:spPr>
      </p:pic>
      <p:pic>
        <p:nvPicPr>
          <p:cNvPr id="46" name="Image 10" descr="Documented">    </p:cNvPr>
          <p:cNvPicPr>
            <a:picLocks noChangeAspect="1"/>
          </p:cNvPicPr>
          <p:nvPr/>
        </p:nvPicPr>
        <p:blipFill>
          <a:blip r:embed="rId12"/>
          <a:stretch>
            <a:fillRect/>
          </a:stretch>
        </p:blipFill>
        <p:spPr>
          <a:xfrm>
            <a:off x="6601968" y="5477256"/>
            <a:ext cx="256032" cy="256032"/>
          </a:xfrm>
          <a:prstGeom prst="rect">
            <a:avLst/>
          </a:prstGeom>
        </p:spPr>
      </p:pic>
      <p:pic>
        <p:nvPicPr>
          <p:cNvPr id="47" name="Image 11" descr="Partial">    </p:cNvPr>
          <p:cNvPicPr>
            <a:picLocks noChangeAspect="1"/>
          </p:cNvPicPr>
          <p:nvPr/>
        </p:nvPicPr>
        <p:blipFill>
          <a:blip r:embed="rId13"/>
          <a:stretch>
            <a:fillRect/>
          </a:stretch>
        </p:blipFill>
        <p:spPr>
          <a:xfrm>
            <a:off x="7498080" y="5477256"/>
            <a:ext cx="256032" cy="256032"/>
          </a:xfrm>
          <a:prstGeom prst="rect">
            <a:avLst/>
          </a:prstGeom>
        </p:spPr>
      </p:pic>
      <p:sp>
        <p:nvSpPr>
          <p:cNvPr id="48" name="Shape 34"/>
          <p:cNvSpPr/>
          <p:nvPr/>
        </p:nvSpPr>
        <p:spPr>
          <a:xfrm>
            <a:off x="8257032" y="5468112"/>
            <a:ext cx="676656" cy="274320"/>
          </a:xfrm>
          <a:prstGeom prst="roundRect">
            <a:avLst>
              <a:gd name="adj" fmla="val 26667"/>
            </a:avLst>
          </a:prstGeom>
          <a:solidFill>
            <a:srgbClr val="F9DDB0"/>
          </a:solidFill>
          <a:ln w="12700">
            <a:solidFill>
              <a:srgbClr val="F9DDB0"/>
            </a:solidFill>
            <a:prstDash val="solid"/>
          </a:ln>
        </p:spPr>
      </p:sp>
      <p:sp>
        <p:nvSpPr>
          <p:cNvPr id="49" name="Text 35"/>
          <p:cNvSpPr txBox="1"/>
          <p:nvPr/>
        </p:nvSpPr>
        <p:spPr>
          <a:xfrm>
            <a:off x="8257032" y="5468112"/>
            <a:ext cx="676656" cy="274320"/>
          </a:xfrm>
          <a:prstGeom prst="rect">
            <a:avLst/>
          </a:prstGeom>
          <a:noFill/>
          <a:ln/>
        </p:spPr>
        <p:txBody>
          <a:bodyPr wrap="square" lIns="0" tIns="0" rIns="0" bIns="0" rtlCol="0" anchor="ctr"/>
          <a:lstStyle/>
          <a:p>
            <a:pPr algn="ctr" indent="0" marL="0">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50" name="Text 36"/>
          <p:cNvSpPr txBox="1"/>
          <p:nvPr/>
        </p:nvSpPr>
        <p:spPr>
          <a:xfrm>
            <a:off x="8988552" y="53766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rival view</a:t>
            </a:r>
            <a:endParaRPr lang="en-US" sz="1050" dirty="0"/>
          </a:p>
        </p:txBody>
      </p:sp>
      <p:sp>
        <p:nvSpPr>
          <p:cNvPr id="51" name="Shape 37"/>
          <p:cNvSpPr/>
          <p:nvPr/>
        </p:nvSpPr>
        <p:spPr>
          <a:xfrm>
            <a:off x="9738360" y="5468112"/>
            <a:ext cx="676656" cy="274320"/>
          </a:xfrm>
          <a:prstGeom prst="roundRect">
            <a:avLst>
              <a:gd name="adj" fmla="val 26667"/>
            </a:avLst>
          </a:prstGeom>
          <a:solidFill>
            <a:srgbClr val="F9DDB0"/>
          </a:solidFill>
          <a:ln w="12700">
            <a:solidFill>
              <a:srgbClr val="F9DDB0"/>
            </a:solidFill>
            <a:prstDash val="solid"/>
          </a:ln>
        </p:spPr>
      </p:sp>
      <p:sp>
        <p:nvSpPr>
          <p:cNvPr id="52" name="Text 38"/>
          <p:cNvSpPr txBox="1"/>
          <p:nvPr/>
        </p:nvSpPr>
        <p:spPr>
          <a:xfrm>
            <a:off x="9738360" y="5468112"/>
            <a:ext cx="676656" cy="274320"/>
          </a:xfrm>
          <a:prstGeom prst="rect">
            <a:avLst/>
          </a:prstGeom>
          <a:noFill/>
          <a:ln/>
        </p:spPr>
        <p:txBody>
          <a:bodyPr wrap="square" lIns="0" tIns="0" rIns="0" bIns="0" rtlCol="0" anchor="ctr"/>
          <a:lstStyle/>
          <a:p>
            <a:pPr algn="ctr" indent="0" marL="0">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53" name="Text 39"/>
          <p:cNvSpPr txBox="1"/>
          <p:nvPr/>
        </p:nvSpPr>
        <p:spPr>
          <a:xfrm>
            <a:off x="10469880" y="53766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paid course</a:t>
            </a:r>
            <a:endParaRPr lang="en-US" sz="1050" dirty="0"/>
          </a:p>
        </p:txBody>
      </p:sp>
      <p:sp>
        <p:nvSpPr>
          <p:cNvPr id="54" name="Shape 40"/>
          <p:cNvSpPr/>
          <p:nvPr/>
        </p:nvSpPr>
        <p:spPr>
          <a:xfrm>
            <a:off x="11219688" y="5468112"/>
            <a:ext cx="676656" cy="274320"/>
          </a:xfrm>
          <a:prstGeom prst="roundRect">
            <a:avLst>
              <a:gd name="adj" fmla="val 26667"/>
            </a:avLst>
          </a:prstGeom>
          <a:solidFill>
            <a:srgbClr val="F9DDB0"/>
          </a:solidFill>
          <a:ln w="12700">
            <a:solidFill>
              <a:srgbClr val="F9DDB0"/>
            </a:solidFill>
            <a:prstDash val="solid"/>
          </a:ln>
        </p:spPr>
      </p:sp>
      <p:sp>
        <p:nvSpPr>
          <p:cNvPr id="55" name="Text 41"/>
          <p:cNvSpPr txBox="1"/>
          <p:nvPr/>
        </p:nvSpPr>
        <p:spPr>
          <a:xfrm>
            <a:off x="11219688" y="5468112"/>
            <a:ext cx="676656" cy="274320"/>
          </a:xfrm>
          <a:prstGeom prst="rect">
            <a:avLst/>
          </a:prstGeom>
          <a:noFill/>
          <a:ln/>
        </p:spPr>
        <p:txBody>
          <a:bodyPr wrap="square" lIns="0" tIns="0" rIns="0" bIns="0" rtlCol="0" anchor="ctr"/>
          <a:lstStyle/>
          <a:p>
            <a:pPr algn="ctr" indent="0" marL="0">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56" name="Text 42"/>
          <p:cNvSpPr txBox="1"/>
          <p:nvPr/>
        </p:nvSpPr>
        <p:spPr>
          <a:xfrm>
            <a:off x="11951208" y="53766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follows rivals</a:t>
            </a:r>
            <a:endParaRPr lang="en-US" sz="1050" dirty="0"/>
          </a:p>
        </p:txBody>
      </p:sp>
      <p:sp>
        <p:nvSpPr>
          <p:cNvPr id="57" name="Shape 43"/>
          <p:cNvSpPr/>
          <p:nvPr/>
        </p:nvSpPr>
        <p:spPr>
          <a:xfrm>
            <a:off x="12701016" y="5468112"/>
            <a:ext cx="676656" cy="274320"/>
          </a:xfrm>
          <a:prstGeom prst="roundRect">
            <a:avLst>
              <a:gd name="adj" fmla="val 26667"/>
            </a:avLst>
          </a:prstGeom>
          <a:solidFill>
            <a:srgbClr val="F4F1F5"/>
          </a:solidFill>
          <a:ln w="12700">
            <a:solidFill>
              <a:srgbClr val="F4F1F5"/>
            </a:solidFill>
            <a:prstDash val="solid"/>
          </a:ln>
        </p:spPr>
      </p:sp>
      <p:sp>
        <p:nvSpPr>
          <p:cNvPr id="58" name="Text 44"/>
          <p:cNvSpPr txBox="1"/>
          <p:nvPr/>
        </p:nvSpPr>
        <p:spPr>
          <a:xfrm>
            <a:off x="12701016" y="5468112"/>
            <a:ext cx="676656" cy="274320"/>
          </a:xfrm>
          <a:prstGeom prst="rect">
            <a:avLst/>
          </a:prstGeom>
          <a:noFill/>
          <a:ln/>
        </p:spPr>
        <p:txBody>
          <a:bodyPr wrap="square" lIns="0" tIns="0" rIns="0" bIns="0" rtlCol="0" anchor="ctr"/>
          <a:lstStyle/>
          <a:p>
            <a:pPr algn="ctr" indent="0" marL="0">
              <a:buNone/>
            </a:pPr>
            <a:r>
              <a:rPr lang="en-US" sz="1000" b="1" dirty="0">
                <a:solidFill>
                  <a:srgbClr val="8A7A8D"/>
                </a:solidFill>
                <a:latin typeface="Arial" pitchFamily="34" charset="0"/>
                <a:ea typeface="Arial" pitchFamily="34" charset="-122"/>
                <a:cs typeface="Arial" pitchFamily="34" charset="-120"/>
              </a:rPr>
              <a:t>Unknown</a:t>
            </a:r>
            <a:endParaRPr lang="en-US" sz="1000" dirty="0"/>
          </a:p>
        </p:txBody>
      </p:sp>
      <p:sp>
        <p:nvSpPr>
          <p:cNvPr id="59" name="Text 45"/>
          <p:cNvSpPr txBox="1"/>
          <p:nvPr/>
        </p:nvSpPr>
        <p:spPr>
          <a:xfrm>
            <a:off x="13432536" y="53766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not published</a:t>
            </a:r>
            <a:endParaRPr lang="en-US" sz="1050" dirty="0"/>
          </a:p>
        </p:txBody>
      </p:sp>
      <p:sp>
        <p:nvSpPr>
          <p:cNvPr id="60" name="Shape 46"/>
          <p:cNvSpPr/>
          <p:nvPr/>
        </p:nvSpPr>
        <p:spPr>
          <a:xfrm>
            <a:off x="731520" y="6291072"/>
            <a:ext cx="13377672" cy="0"/>
          </a:xfrm>
          <a:prstGeom prst="line">
            <a:avLst/>
          </a:prstGeom>
          <a:noFill/>
          <a:ln w="9525">
            <a:solidFill>
              <a:srgbClr val="E3D5E6"/>
            </a:solidFill>
            <a:prstDash val="solid"/>
          </a:ln>
        </p:spPr>
      </p:sp>
      <p:sp>
        <p:nvSpPr>
          <p:cNvPr id="61" name="Text 47"/>
          <p:cNvSpPr txBox="1"/>
          <p:nvPr/>
        </p:nvSpPr>
        <p:spPr>
          <a:xfrm>
            <a:off x="868680" y="5833872"/>
            <a:ext cx="1828800" cy="457200"/>
          </a:xfrm>
          <a:prstGeom prst="rect">
            <a:avLst/>
          </a:prstGeom>
          <a:noFill/>
          <a:ln/>
        </p:spPr>
        <p:txBody>
          <a:bodyPr wrap="square" lIns="0" tIns="0" rIns="0" bIns="0" rtlCol="0" anchor="ctr"/>
          <a:lstStyle/>
          <a:p>
            <a:pPr indent="0" marL="0">
              <a:buNone/>
            </a:pPr>
            <a:r>
              <a:rPr lang="en-US" sz="1400" b="1" dirty="0">
                <a:solidFill>
                  <a:srgbClr val="2A0B2F"/>
                </a:solidFill>
                <a:latin typeface="Arial" pitchFamily="34" charset="0"/>
                <a:ea typeface="Arial" pitchFamily="34" charset="-122"/>
                <a:cs typeface="Arial" pitchFamily="34" charset="-120"/>
              </a:rPr>
              <a:t>eBay</a:t>
            </a:r>
            <a:pPr indent="0" marL="0">
              <a:buNone/>
            </a:pPr>
            <a:r>
              <a:rPr lang="en-US" sz="1000" dirty="0">
                <a:solidFill>
                  <a:srgbClr val="67516B"/>
                </a:solidFill>
                <a:latin typeface="Arial" pitchFamily="34" charset="0"/>
                <a:ea typeface="Arial" pitchFamily="34" charset="-122"/>
                <a:cs typeface="Arial" pitchFamily="34" charset="-120"/>
              </a:rPr>
              <a:t> [3]</a:t>
            </a:r>
            <a:endParaRPr lang="en-US" sz="1400" dirty="0"/>
          </a:p>
        </p:txBody>
      </p:sp>
      <p:pic>
        <p:nvPicPr>
          <p:cNvPr id="62" name="Image 12" descr="Not public">    </p:cNvPr>
          <p:cNvPicPr>
            <a:picLocks noChangeAspect="1"/>
          </p:cNvPicPr>
          <p:nvPr/>
        </p:nvPicPr>
        <p:blipFill>
          <a:blip r:embed="rId14"/>
          <a:stretch>
            <a:fillRect/>
          </a:stretch>
        </p:blipFill>
        <p:spPr>
          <a:xfrm>
            <a:off x="3054096" y="5971032"/>
            <a:ext cx="182880" cy="182880"/>
          </a:xfrm>
          <a:prstGeom prst="rect">
            <a:avLst/>
          </a:prstGeom>
        </p:spPr>
      </p:pic>
      <p:pic>
        <p:nvPicPr>
          <p:cNvPr id="63" name="Image 13" descr="Not public">    </p:cNvPr>
          <p:cNvPicPr>
            <a:picLocks noChangeAspect="1"/>
          </p:cNvPicPr>
          <p:nvPr/>
        </p:nvPicPr>
        <p:blipFill>
          <a:blip r:embed="rId15"/>
          <a:stretch>
            <a:fillRect/>
          </a:stretch>
        </p:blipFill>
        <p:spPr>
          <a:xfrm>
            <a:off x="3950208" y="5971032"/>
            <a:ext cx="182880" cy="182880"/>
          </a:xfrm>
          <a:prstGeom prst="rect">
            <a:avLst/>
          </a:prstGeom>
        </p:spPr>
      </p:pic>
      <p:pic>
        <p:nvPicPr>
          <p:cNvPr id="64" name="Image 14" descr="Documented">    </p:cNvPr>
          <p:cNvPicPr>
            <a:picLocks noChangeAspect="1"/>
          </p:cNvPicPr>
          <p:nvPr/>
        </p:nvPicPr>
        <p:blipFill>
          <a:blip r:embed="rId16"/>
          <a:stretch>
            <a:fillRect/>
          </a:stretch>
        </p:blipFill>
        <p:spPr>
          <a:xfrm>
            <a:off x="4809744" y="5934456"/>
            <a:ext cx="256032" cy="256032"/>
          </a:xfrm>
          <a:prstGeom prst="rect">
            <a:avLst/>
          </a:prstGeom>
        </p:spPr>
      </p:pic>
      <p:pic>
        <p:nvPicPr>
          <p:cNvPr id="65" name="Image 15" descr="Documented">    </p:cNvPr>
          <p:cNvPicPr>
            <a:picLocks noChangeAspect="1"/>
          </p:cNvPicPr>
          <p:nvPr/>
        </p:nvPicPr>
        <p:blipFill>
          <a:blip r:embed="rId17"/>
          <a:stretch>
            <a:fillRect/>
          </a:stretch>
        </p:blipFill>
        <p:spPr>
          <a:xfrm>
            <a:off x="5705856" y="5934456"/>
            <a:ext cx="256032" cy="256032"/>
          </a:xfrm>
          <a:prstGeom prst="rect">
            <a:avLst/>
          </a:prstGeom>
        </p:spPr>
      </p:pic>
      <p:pic>
        <p:nvPicPr>
          <p:cNvPr id="66" name="Image 16" descr="Not public">    </p:cNvPr>
          <p:cNvPicPr>
            <a:picLocks noChangeAspect="1"/>
          </p:cNvPicPr>
          <p:nvPr/>
        </p:nvPicPr>
        <p:blipFill>
          <a:blip r:embed="rId18"/>
          <a:stretch>
            <a:fillRect/>
          </a:stretch>
        </p:blipFill>
        <p:spPr>
          <a:xfrm>
            <a:off x="6638544" y="5971032"/>
            <a:ext cx="182880" cy="182880"/>
          </a:xfrm>
          <a:prstGeom prst="rect">
            <a:avLst/>
          </a:prstGeom>
        </p:spPr>
      </p:pic>
      <p:pic>
        <p:nvPicPr>
          <p:cNvPr id="67" name="Image 17" descr="Not public">    </p:cNvPr>
          <p:cNvPicPr>
            <a:picLocks noChangeAspect="1"/>
          </p:cNvPicPr>
          <p:nvPr/>
        </p:nvPicPr>
        <p:blipFill>
          <a:blip r:embed="rId19"/>
          <a:stretch>
            <a:fillRect/>
          </a:stretch>
        </p:blipFill>
        <p:spPr>
          <a:xfrm>
            <a:off x="7534656" y="5971032"/>
            <a:ext cx="182880" cy="182880"/>
          </a:xfrm>
          <a:prstGeom prst="rect">
            <a:avLst/>
          </a:prstGeom>
        </p:spPr>
      </p:pic>
      <p:sp>
        <p:nvSpPr>
          <p:cNvPr id="68" name="Shape 48"/>
          <p:cNvSpPr/>
          <p:nvPr/>
        </p:nvSpPr>
        <p:spPr>
          <a:xfrm>
            <a:off x="8257032" y="5925312"/>
            <a:ext cx="676656" cy="274320"/>
          </a:xfrm>
          <a:prstGeom prst="roundRect">
            <a:avLst>
              <a:gd name="adj" fmla="val 26667"/>
            </a:avLst>
          </a:prstGeom>
          <a:solidFill>
            <a:srgbClr val="4B1248"/>
          </a:solidFill>
          <a:ln w="12700">
            <a:solidFill>
              <a:srgbClr val="4B1248"/>
            </a:solidFill>
            <a:prstDash val="solid"/>
          </a:ln>
        </p:spPr>
      </p:sp>
      <p:sp>
        <p:nvSpPr>
          <p:cNvPr id="69" name="Text 49"/>
          <p:cNvSpPr txBox="1"/>
          <p:nvPr/>
        </p:nvSpPr>
        <p:spPr>
          <a:xfrm>
            <a:off x="8257032" y="5925312"/>
            <a:ext cx="67665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70" name="Text 50"/>
          <p:cNvSpPr txBox="1"/>
          <p:nvPr/>
        </p:nvSpPr>
        <p:spPr>
          <a:xfrm>
            <a:off x="8988552" y="58338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past sales</a:t>
            </a:r>
            <a:endParaRPr lang="en-US" sz="1050" dirty="0"/>
          </a:p>
        </p:txBody>
      </p:sp>
      <p:sp>
        <p:nvSpPr>
          <p:cNvPr id="71" name="Shape 51"/>
          <p:cNvSpPr/>
          <p:nvPr/>
        </p:nvSpPr>
        <p:spPr>
          <a:xfrm>
            <a:off x="9738360" y="5925312"/>
            <a:ext cx="676656" cy="274320"/>
          </a:xfrm>
          <a:prstGeom prst="roundRect">
            <a:avLst>
              <a:gd name="adj" fmla="val 26667"/>
            </a:avLst>
          </a:prstGeom>
          <a:solidFill>
            <a:srgbClr val="E9E3EB"/>
          </a:solidFill>
          <a:ln w="12700">
            <a:solidFill>
              <a:srgbClr val="E9E3EB"/>
            </a:solidFill>
            <a:prstDash val="solid"/>
          </a:ln>
        </p:spPr>
      </p:sp>
      <p:sp>
        <p:nvSpPr>
          <p:cNvPr id="72" name="Text 52"/>
          <p:cNvSpPr txBox="1"/>
          <p:nvPr/>
        </p:nvSpPr>
        <p:spPr>
          <a:xfrm>
            <a:off x="9738360" y="5925312"/>
            <a:ext cx="676656" cy="274320"/>
          </a:xfrm>
          <a:prstGeom prst="rect">
            <a:avLst/>
          </a:prstGeom>
          <a:noFill/>
          <a:ln/>
        </p:spPr>
        <p:txBody>
          <a:bodyPr wrap="square" lIns="0" tIns="0" rIns="0" bIns="0" rtlCol="0" anchor="ctr"/>
          <a:lstStyle/>
          <a:p>
            <a:pPr algn="ctr" indent="0" marL="0">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73" name="Text 53"/>
          <p:cNvSpPr txBox="1"/>
          <p:nvPr/>
        </p:nvSpPr>
        <p:spPr>
          <a:xfrm>
            <a:off x="10469880" y="58338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fees excluded</a:t>
            </a:r>
            <a:endParaRPr lang="en-US" sz="1050" dirty="0"/>
          </a:p>
        </p:txBody>
      </p:sp>
      <p:sp>
        <p:nvSpPr>
          <p:cNvPr id="74" name="Shape 54"/>
          <p:cNvSpPr/>
          <p:nvPr/>
        </p:nvSpPr>
        <p:spPr>
          <a:xfrm>
            <a:off x="11219688" y="5925312"/>
            <a:ext cx="676656" cy="274320"/>
          </a:xfrm>
          <a:prstGeom prst="roundRect">
            <a:avLst>
              <a:gd name="adj" fmla="val 26667"/>
            </a:avLst>
          </a:prstGeom>
          <a:solidFill>
            <a:srgbClr val="F9DDB0"/>
          </a:solidFill>
          <a:ln w="12700">
            <a:solidFill>
              <a:srgbClr val="F9DDB0"/>
            </a:solidFill>
            <a:prstDash val="solid"/>
          </a:ln>
        </p:spPr>
      </p:sp>
      <p:sp>
        <p:nvSpPr>
          <p:cNvPr id="75" name="Text 55"/>
          <p:cNvSpPr txBox="1"/>
          <p:nvPr/>
        </p:nvSpPr>
        <p:spPr>
          <a:xfrm>
            <a:off x="11219688" y="5925312"/>
            <a:ext cx="676656" cy="274320"/>
          </a:xfrm>
          <a:prstGeom prst="rect">
            <a:avLst/>
          </a:prstGeom>
          <a:noFill/>
          <a:ln/>
        </p:spPr>
        <p:txBody>
          <a:bodyPr wrap="square" lIns="0" tIns="0" rIns="0" bIns="0" rtlCol="0" anchor="ctr"/>
          <a:lstStyle/>
          <a:p>
            <a:pPr algn="ctr" indent="0" marL="0">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76" name="Text 56"/>
          <p:cNvSpPr txBox="1"/>
          <p:nvPr/>
        </p:nvSpPr>
        <p:spPr>
          <a:xfrm>
            <a:off x="11951208" y="58338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tips only</a:t>
            </a:r>
            <a:endParaRPr lang="en-US" sz="1050" dirty="0"/>
          </a:p>
        </p:txBody>
      </p:sp>
      <p:sp>
        <p:nvSpPr>
          <p:cNvPr id="77" name="Shape 57"/>
          <p:cNvSpPr/>
          <p:nvPr/>
        </p:nvSpPr>
        <p:spPr>
          <a:xfrm>
            <a:off x="12701016" y="5925312"/>
            <a:ext cx="676656" cy="274320"/>
          </a:xfrm>
          <a:prstGeom prst="roundRect">
            <a:avLst>
              <a:gd name="adj" fmla="val 26667"/>
            </a:avLst>
          </a:prstGeom>
          <a:solidFill>
            <a:srgbClr val="E9E3EB"/>
          </a:solidFill>
          <a:ln w="12700">
            <a:solidFill>
              <a:srgbClr val="E9E3EB"/>
            </a:solidFill>
            <a:prstDash val="solid"/>
          </a:ln>
        </p:spPr>
      </p:sp>
      <p:sp>
        <p:nvSpPr>
          <p:cNvPr id="78" name="Text 58"/>
          <p:cNvSpPr txBox="1"/>
          <p:nvPr/>
        </p:nvSpPr>
        <p:spPr>
          <a:xfrm>
            <a:off x="12701016" y="5925312"/>
            <a:ext cx="676656" cy="274320"/>
          </a:xfrm>
          <a:prstGeom prst="rect">
            <a:avLst/>
          </a:prstGeom>
          <a:noFill/>
          <a:ln/>
        </p:spPr>
        <p:txBody>
          <a:bodyPr wrap="square" lIns="0" tIns="0" rIns="0" bIns="0" rtlCol="0" anchor="ctr"/>
          <a:lstStyle/>
          <a:p>
            <a:pPr algn="ctr" indent="0" marL="0">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79" name="Text 59"/>
          <p:cNvSpPr txBox="1"/>
          <p:nvPr/>
        </p:nvSpPr>
        <p:spPr>
          <a:xfrm>
            <a:off x="13432536" y="58338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quick sale</a:t>
            </a:r>
            <a:endParaRPr lang="en-US" sz="1050" dirty="0"/>
          </a:p>
        </p:txBody>
      </p:sp>
      <p:sp>
        <p:nvSpPr>
          <p:cNvPr id="80" name="Shape 60"/>
          <p:cNvSpPr/>
          <p:nvPr/>
        </p:nvSpPr>
        <p:spPr>
          <a:xfrm>
            <a:off x="731520" y="6748272"/>
            <a:ext cx="13377672" cy="0"/>
          </a:xfrm>
          <a:prstGeom prst="line">
            <a:avLst/>
          </a:prstGeom>
          <a:noFill/>
          <a:ln w="9525">
            <a:solidFill>
              <a:srgbClr val="E3D5E6"/>
            </a:solidFill>
            <a:prstDash val="solid"/>
          </a:ln>
        </p:spPr>
      </p:sp>
      <p:sp>
        <p:nvSpPr>
          <p:cNvPr id="81" name="Text 61"/>
          <p:cNvSpPr txBox="1"/>
          <p:nvPr/>
        </p:nvSpPr>
        <p:spPr>
          <a:xfrm>
            <a:off x="868680" y="6291072"/>
            <a:ext cx="1828800" cy="457200"/>
          </a:xfrm>
          <a:prstGeom prst="rect">
            <a:avLst/>
          </a:prstGeom>
          <a:noFill/>
          <a:ln/>
        </p:spPr>
        <p:txBody>
          <a:bodyPr wrap="square" lIns="0" tIns="0" rIns="0" bIns="0" rtlCol="0" anchor="ctr"/>
          <a:lstStyle/>
          <a:p>
            <a:pPr indent="0" marL="0">
              <a:buNone/>
            </a:pPr>
            <a:r>
              <a:rPr lang="en-US" sz="1400" b="1" dirty="0">
                <a:solidFill>
                  <a:srgbClr val="2A0B2F"/>
                </a:solidFill>
                <a:latin typeface="Arial" pitchFamily="34" charset="0"/>
                <a:ea typeface="Arial" pitchFamily="34" charset="-122"/>
                <a:cs typeface="Arial" pitchFamily="34" charset="-120"/>
              </a:rPr>
              <a:t>Mercari</a:t>
            </a:r>
            <a:pPr indent="0" marL="0">
              <a:buNone/>
            </a:pPr>
            <a:r>
              <a:rPr lang="en-US" sz="1000" dirty="0">
                <a:solidFill>
                  <a:srgbClr val="67516B"/>
                </a:solidFill>
                <a:latin typeface="Arial" pitchFamily="34" charset="0"/>
                <a:ea typeface="Arial" pitchFamily="34" charset="-122"/>
                <a:cs typeface="Arial" pitchFamily="34" charset="-120"/>
              </a:rPr>
              <a:t> [4]</a:t>
            </a:r>
            <a:endParaRPr lang="en-US" sz="1400" dirty="0"/>
          </a:p>
        </p:txBody>
      </p:sp>
      <p:pic>
        <p:nvPicPr>
          <p:cNvPr id="82" name="Image 18" descr="Documented">    </p:cNvPr>
          <p:cNvPicPr>
            <a:picLocks noChangeAspect="1"/>
          </p:cNvPicPr>
          <p:nvPr/>
        </p:nvPicPr>
        <p:blipFill>
          <a:blip r:embed="rId20"/>
          <a:stretch>
            <a:fillRect/>
          </a:stretch>
        </p:blipFill>
        <p:spPr>
          <a:xfrm>
            <a:off x="3017520" y="6391656"/>
            <a:ext cx="256032" cy="256032"/>
          </a:xfrm>
          <a:prstGeom prst="rect">
            <a:avLst/>
          </a:prstGeom>
        </p:spPr>
      </p:pic>
      <p:pic>
        <p:nvPicPr>
          <p:cNvPr id="83" name="Image 19" descr="Not public">    </p:cNvPr>
          <p:cNvPicPr>
            <a:picLocks noChangeAspect="1"/>
          </p:cNvPicPr>
          <p:nvPr/>
        </p:nvPicPr>
        <p:blipFill>
          <a:blip r:embed="rId21"/>
          <a:stretch>
            <a:fillRect/>
          </a:stretch>
        </p:blipFill>
        <p:spPr>
          <a:xfrm>
            <a:off x="3950208" y="6428232"/>
            <a:ext cx="182880" cy="182880"/>
          </a:xfrm>
          <a:prstGeom prst="rect">
            <a:avLst/>
          </a:prstGeom>
        </p:spPr>
      </p:pic>
      <p:pic>
        <p:nvPicPr>
          <p:cNvPr id="84" name="Image 20" descr="Partial">    </p:cNvPr>
          <p:cNvPicPr>
            <a:picLocks noChangeAspect="1"/>
          </p:cNvPicPr>
          <p:nvPr/>
        </p:nvPicPr>
        <p:blipFill>
          <a:blip r:embed="rId22"/>
          <a:stretch>
            <a:fillRect/>
          </a:stretch>
        </p:blipFill>
        <p:spPr>
          <a:xfrm>
            <a:off x="4809744" y="6391656"/>
            <a:ext cx="256032" cy="256032"/>
          </a:xfrm>
          <a:prstGeom prst="rect">
            <a:avLst/>
          </a:prstGeom>
        </p:spPr>
      </p:pic>
      <p:pic>
        <p:nvPicPr>
          <p:cNvPr id="85" name="Image 21" descr="Partial">    </p:cNvPr>
          <p:cNvPicPr>
            <a:picLocks noChangeAspect="1"/>
          </p:cNvPicPr>
          <p:nvPr/>
        </p:nvPicPr>
        <p:blipFill>
          <a:blip r:embed="rId23"/>
          <a:stretch>
            <a:fillRect/>
          </a:stretch>
        </p:blipFill>
        <p:spPr>
          <a:xfrm>
            <a:off x="5705856" y="6391656"/>
            <a:ext cx="256032" cy="256032"/>
          </a:xfrm>
          <a:prstGeom prst="rect">
            <a:avLst/>
          </a:prstGeom>
        </p:spPr>
      </p:pic>
      <p:pic>
        <p:nvPicPr>
          <p:cNvPr id="86" name="Image 22" descr="Not public">    </p:cNvPr>
          <p:cNvPicPr>
            <a:picLocks noChangeAspect="1"/>
          </p:cNvPicPr>
          <p:nvPr/>
        </p:nvPicPr>
        <p:blipFill>
          <a:blip r:embed="rId24"/>
          <a:stretch>
            <a:fillRect/>
          </a:stretch>
        </p:blipFill>
        <p:spPr>
          <a:xfrm>
            <a:off x="6638544" y="6428232"/>
            <a:ext cx="182880" cy="182880"/>
          </a:xfrm>
          <a:prstGeom prst="rect">
            <a:avLst/>
          </a:prstGeom>
        </p:spPr>
      </p:pic>
      <p:pic>
        <p:nvPicPr>
          <p:cNvPr id="87" name="Image 23" descr="Not public">    </p:cNvPr>
          <p:cNvPicPr>
            <a:picLocks noChangeAspect="1"/>
          </p:cNvPicPr>
          <p:nvPr/>
        </p:nvPicPr>
        <p:blipFill>
          <a:blip r:embed="rId25"/>
          <a:stretch>
            <a:fillRect/>
          </a:stretch>
        </p:blipFill>
        <p:spPr>
          <a:xfrm>
            <a:off x="7534656" y="6428232"/>
            <a:ext cx="182880" cy="182880"/>
          </a:xfrm>
          <a:prstGeom prst="rect">
            <a:avLst/>
          </a:prstGeom>
        </p:spPr>
      </p:pic>
      <p:sp>
        <p:nvSpPr>
          <p:cNvPr id="88" name="Shape 62"/>
          <p:cNvSpPr/>
          <p:nvPr/>
        </p:nvSpPr>
        <p:spPr>
          <a:xfrm>
            <a:off x="8257032" y="6382512"/>
            <a:ext cx="676656" cy="274320"/>
          </a:xfrm>
          <a:prstGeom prst="roundRect">
            <a:avLst>
              <a:gd name="adj" fmla="val 26667"/>
            </a:avLst>
          </a:prstGeom>
          <a:solidFill>
            <a:srgbClr val="E9E3EB"/>
          </a:solidFill>
          <a:ln w="12700">
            <a:solidFill>
              <a:srgbClr val="E9E3EB"/>
            </a:solidFill>
            <a:prstDash val="solid"/>
          </a:ln>
        </p:spPr>
      </p:sp>
      <p:sp>
        <p:nvSpPr>
          <p:cNvPr id="89" name="Text 63"/>
          <p:cNvSpPr txBox="1"/>
          <p:nvPr/>
        </p:nvSpPr>
        <p:spPr>
          <a:xfrm>
            <a:off x="8257032" y="6382512"/>
            <a:ext cx="676656" cy="274320"/>
          </a:xfrm>
          <a:prstGeom prst="rect">
            <a:avLst/>
          </a:prstGeom>
          <a:noFill/>
          <a:ln/>
        </p:spPr>
        <p:txBody>
          <a:bodyPr wrap="square" lIns="0" tIns="0" rIns="0" bIns="0" rtlCol="0" anchor="ctr"/>
          <a:lstStyle/>
          <a:p>
            <a:pPr algn="ctr" indent="0" marL="0">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90" name="Text 64"/>
          <p:cNvSpPr txBox="1"/>
          <p:nvPr/>
        </p:nvSpPr>
        <p:spPr>
          <a:xfrm>
            <a:off x="8988552" y="62910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seller guesses</a:t>
            </a:r>
            <a:endParaRPr lang="en-US" sz="1050" dirty="0"/>
          </a:p>
        </p:txBody>
      </p:sp>
      <p:sp>
        <p:nvSpPr>
          <p:cNvPr id="91" name="Shape 65"/>
          <p:cNvSpPr/>
          <p:nvPr/>
        </p:nvSpPr>
        <p:spPr>
          <a:xfrm>
            <a:off x="9738360" y="6382512"/>
            <a:ext cx="676656" cy="274320"/>
          </a:xfrm>
          <a:prstGeom prst="roundRect">
            <a:avLst>
              <a:gd name="adj" fmla="val 26667"/>
            </a:avLst>
          </a:prstGeom>
          <a:solidFill>
            <a:srgbClr val="E9E3EB"/>
          </a:solidFill>
          <a:ln w="12700">
            <a:solidFill>
              <a:srgbClr val="E9E3EB"/>
            </a:solidFill>
            <a:prstDash val="solid"/>
          </a:ln>
        </p:spPr>
      </p:sp>
      <p:sp>
        <p:nvSpPr>
          <p:cNvPr id="92" name="Text 66"/>
          <p:cNvSpPr txBox="1"/>
          <p:nvPr/>
        </p:nvSpPr>
        <p:spPr>
          <a:xfrm>
            <a:off x="9738360" y="6382512"/>
            <a:ext cx="676656" cy="274320"/>
          </a:xfrm>
          <a:prstGeom prst="rect">
            <a:avLst/>
          </a:prstGeom>
          <a:noFill/>
          <a:ln/>
        </p:spPr>
        <p:txBody>
          <a:bodyPr wrap="square" lIns="0" tIns="0" rIns="0" bIns="0" rtlCol="0" anchor="ctr"/>
          <a:lstStyle/>
          <a:p>
            <a:pPr algn="ctr" indent="0" marL="0">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93" name="Text 67"/>
          <p:cNvSpPr txBox="1"/>
          <p:nvPr/>
        </p:nvSpPr>
        <p:spPr>
          <a:xfrm>
            <a:off x="10469880" y="62910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seller decides</a:t>
            </a:r>
            <a:endParaRPr lang="en-US" sz="1050" dirty="0"/>
          </a:p>
        </p:txBody>
      </p:sp>
      <p:sp>
        <p:nvSpPr>
          <p:cNvPr id="94" name="Shape 68"/>
          <p:cNvSpPr/>
          <p:nvPr/>
        </p:nvSpPr>
        <p:spPr>
          <a:xfrm>
            <a:off x="11219688" y="6382512"/>
            <a:ext cx="676656" cy="274320"/>
          </a:xfrm>
          <a:prstGeom prst="roundRect">
            <a:avLst>
              <a:gd name="adj" fmla="val 26667"/>
            </a:avLst>
          </a:prstGeom>
          <a:solidFill>
            <a:srgbClr val="F9DDB0"/>
          </a:solidFill>
          <a:ln w="12700">
            <a:solidFill>
              <a:srgbClr val="F9DDB0"/>
            </a:solidFill>
            <a:prstDash val="solid"/>
          </a:ln>
        </p:spPr>
      </p:sp>
      <p:sp>
        <p:nvSpPr>
          <p:cNvPr id="95" name="Text 69"/>
          <p:cNvSpPr txBox="1"/>
          <p:nvPr/>
        </p:nvSpPr>
        <p:spPr>
          <a:xfrm>
            <a:off x="11219688" y="6382512"/>
            <a:ext cx="676656" cy="274320"/>
          </a:xfrm>
          <a:prstGeom prst="rect">
            <a:avLst/>
          </a:prstGeom>
          <a:noFill/>
          <a:ln/>
        </p:spPr>
        <p:txBody>
          <a:bodyPr wrap="square" lIns="0" tIns="0" rIns="0" bIns="0" rtlCol="0" anchor="ctr"/>
          <a:lstStyle/>
          <a:p>
            <a:pPr algn="ctr" indent="0" marL="0">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96" name="Text 70"/>
          <p:cNvSpPr txBox="1"/>
          <p:nvPr/>
        </p:nvSpPr>
        <p:spPr>
          <a:xfrm>
            <a:off x="11951208" y="62910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only goes down</a:t>
            </a:r>
            <a:endParaRPr lang="en-US" sz="1050" dirty="0"/>
          </a:p>
        </p:txBody>
      </p:sp>
      <p:sp>
        <p:nvSpPr>
          <p:cNvPr id="97" name="Shape 71"/>
          <p:cNvSpPr/>
          <p:nvPr/>
        </p:nvSpPr>
        <p:spPr>
          <a:xfrm>
            <a:off x="12701016" y="6382512"/>
            <a:ext cx="676656" cy="274320"/>
          </a:xfrm>
          <a:prstGeom prst="roundRect">
            <a:avLst>
              <a:gd name="adj" fmla="val 26667"/>
            </a:avLst>
          </a:prstGeom>
          <a:solidFill>
            <a:srgbClr val="E9E3EB"/>
          </a:solidFill>
          <a:ln w="12700">
            <a:solidFill>
              <a:srgbClr val="E9E3EB"/>
            </a:solidFill>
            <a:prstDash val="solid"/>
          </a:ln>
        </p:spPr>
      </p:sp>
      <p:sp>
        <p:nvSpPr>
          <p:cNvPr id="98" name="Text 72"/>
          <p:cNvSpPr txBox="1"/>
          <p:nvPr/>
        </p:nvSpPr>
        <p:spPr>
          <a:xfrm>
            <a:off x="12701016" y="6382512"/>
            <a:ext cx="676656" cy="274320"/>
          </a:xfrm>
          <a:prstGeom prst="rect">
            <a:avLst/>
          </a:prstGeom>
          <a:noFill/>
          <a:ln/>
        </p:spPr>
        <p:txBody>
          <a:bodyPr wrap="square" lIns="0" tIns="0" rIns="0" bIns="0" rtlCol="0" anchor="ctr"/>
          <a:lstStyle/>
          <a:p>
            <a:pPr algn="ctr" indent="0" marL="0">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99" name="Text 73"/>
          <p:cNvSpPr txBox="1"/>
          <p:nvPr/>
        </p:nvSpPr>
        <p:spPr>
          <a:xfrm>
            <a:off x="13432536" y="62910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fast sale</a:t>
            </a:r>
            <a:endParaRPr lang="en-US" sz="1050" dirty="0"/>
          </a:p>
        </p:txBody>
      </p:sp>
      <p:sp>
        <p:nvSpPr>
          <p:cNvPr id="100" name="Shape 74"/>
          <p:cNvSpPr/>
          <p:nvPr/>
        </p:nvSpPr>
        <p:spPr>
          <a:xfrm>
            <a:off x="731520" y="7205472"/>
            <a:ext cx="13377672" cy="0"/>
          </a:xfrm>
          <a:prstGeom prst="line">
            <a:avLst/>
          </a:prstGeom>
          <a:noFill/>
          <a:ln w="9525">
            <a:solidFill>
              <a:srgbClr val="E3D5E6"/>
            </a:solidFill>
            <a:prstDash val="solid"/>
          </a:ln>
        </p:spPr>
      </p:sp>
      <p:sp>
        <p:nvSpPr>
          <p:cNvPr id="101" name="Text 75"/>
          <p:cNvSpPr txBox="1"/>
          <p:nvPr/>
        </p:nvSpPr>
        <p:spPr>
          <a:xfrm>
            <a:off x="868680" y="6748272"/>
            <a:ext cx="1828800" cy="457200"/>
          </a:xfrm>
          <a:prstGeom prst="rect">
            <a:avLst/>
          </a:prstGeom>
          <a:noFill/>
          <a:ln/>
        </p:spPr>
        <p:txBody>
          <a:bodyPr wrap="square" lIns="0" tIns="0" rIns="0" bIns="0" rtlCol="0" anchor="ctr"/>
          <a:lstStyle/>
          <a:p>
            <a:pPr indent="0" marL="0">
              <a:buNone/>
            </a:pPr>
            <a:r>
              <a:rPr lang="en-US" sz="1400" b="1" dirty="0">
                <a:solidFill>
                  <a:srgbClr val="2A0B2F"/>
                </a:solidFill>
                <a:latin typeface="Arial" pitchFamily="34" charset="0"/>
                <a:ea typeface="Arial" pitchFamily="34" charset="-122"/>
                <a:cs typeface="Arial" pitchFamily="34" charset="-120"/>
              </a:rPr>
              <a:t>Airbnb</a:t>
            </a:r>
            <a:pPr indent="0" marL="0">
              <a:buNone/>
            </a:pPr>
            <a:r>
              <a:rPr lang="en-US" sz="1000" dirty="0">
                <a:solidFill>
                  <a:srgbClr val="67516B"/>
                </a:solidFill>
                <a:latin typeface="Arial" pitchFamily="34" charset="0"/>
                <a:ea typeface="Arial" pitchFamily="34" charset="-122"/>
                <a:cs typeface="Arial" pitchFamily="34" charset="-120"/>
              </a:rPr>
              <a:t> [5]</a:t>
            </a:r>
            <a:endParaRPr lang="en-US" sz="1400" dirty="0"/>
          </a:p>
        </p:txBody>
      </p:sp>
      <p:pic>
        <p:nvPicPr>
          <p:cNvPr id="102" name="Image 24" descr="Partial">    </p:cNvPr>
          <p:cNvPicPr>
            <a:picLocks noChangeAspect="1"/>
          </p:cNvPicPr>
          <p:nvPr/>
        </p:nvPicPr>
        <p:blipFill>
          <a:blip r:embed="rId26"/>
          <a:stretch>
            <a:fillRect/>
          </a:stretch>
        </p:blipFill>
        <p:spPr>
          <a:xfrm>
            <a:off x="3017520" y="6848856"/>
            <a:ext cx="256032" cy="256032"/>
          </a:xfrm>
          <a:prstGeom prst="rect">
            <a:avLst/>
          </a:prstGeom>
        </p:spPr>
      </p:pic>
      <p:pic>
        <p:nvPicPr>
          <p:cNvPr id="103" name="Image 25" descr="Not public">    </p:cNvPr>
          <p:cNvPicPr>
            <a:picLocks noChangeAspect="1"/>
          </p:cNvPicPr>
          <p:nvPr/>
        </p:nvPicPr>
        <p:blipFill>
          <a:blip r:embed="rId27"/>
          <a:stretch>
            <a:fillRect/>
          </a:stretch>
        </p:blipFill>
        <p:spPr>
          <a:xfrm>
            <a:off x="3950208" y="6885432"/>
            <a:ext cx="182880" cy="182880"/>
          </a:xfrm>
          <a:prstGeom prst="rect">
            <a:avLst/>
          </a:prstGeom>
        </p:spPr>
      </p:pic>
      <p:pic>
        <p:nvPicPr>
          <p:cNvPr id="104" name="Image 26" descr="Not public">    </p:cNvPr>
          <p:cNvPicPr>
            <a:picLocks noChangeAspect="1"/>
          </p:cNvPicPr>
          <p:nvPr/>
        </p:nvPicPr>
        <p:blipFill>
          <a:blip r:embed="rId28"/>
          <a:stretch>
            <a:fillRect/>
          </a:stretch>
        </p:blipFill>
        <p:spPr>
          <a:xfrm>
            <a:off x="4846320" y="6885432"/>
            <a:ext cx="182880" cy="182880"/>
          </a:xfrm>
          <a:prstGeom prst="rect">
            <a:avLst/>
          </a:prstGeom>
        </p:spPr>
      </p:pic>
      <p:pic>
        <p:nvPicPr>
          <p:cNvPr id="105" name="Image 27" descr="Documented">    </p:cNvPr>
          <p:cNvPicPr>
            <a:picLocks noChangeAspect="1"/>
          </p:cNvPicPr>
          <p:nvPr/>
        </p:nvPicPr>
        <p:blipFill>
          <a:blip r:embed="rId29"/>
          <a:stretch>
            <a:fillRect/>
          </a:stretch>
        </p:blipFill>
        <p:spPr>
          <a:xfrm>
            <a:off x="5705856" y="6848856"/>
            <a:ext cx="256032" cy="256032"/>
          </a:xfrm>
          <a:prstGeom prst="rect">
            <a:avLst/>
          </a:prstGeom>
        </p:spPr>
      </p:pic>
      <p:pic>
        <p:nvPicPr>
          <p:cNvPr id="106" name="Image 28" descr="Documented">    </p:cNvPr>
          <p:cNvPicPr>
            <a:picLocks noChangeAspect="1"/>
          </p:cNvPicPr>
          <p:nvPr/>
        </p:nvPicPr>
        <p:blipFill>
          <a:blip r:embed="rId30"/>
          <a:stretch>
            <a:fillRect/>
          </a:stretch>
        </p:blipFill>
        <p:spPr>
          <a:xfrm>
            <a:off x="6601968" y="6848856"/>
            <a:ext cx="256032" cy="256032"/>
          </a:xfrm>
          <a:prstGeom prst="rect">
            <a:avLst/>
          </a:prstGeom>
        </p:spPr>
      </p:pic>
      <p:pic>
        <p:nvPicPr>
          <p:cNvPr id="107" name="Image 29" descr="Not public">    </p:cNvPr>
          <p:cNvPicPr>
            <a:picLocks noChangeAspect="1"/>
          </p:cNvPicPr>
          <p:nvPr/>
        </p:nvPicPr>
        <p:blipFill>
          <a:blip r:embed="rId31"/>
          <a:stretch>
            <a:fillRect/>
          </a:stretch>
        </p:blipFill>
        <p:spPr>
          <a:xfrm>
            <a:off x="7534656" y="6885432"/>
            <a:ext cx="182880" cy="182880"/>
          </a:xfrm>
          <a:prstGeom prst="rect">
            <a:avLst/>
          </a:prstGeom>
        </p:spPr>
      </p:pic>
      <p:sp>
        <p:nvSpPr>
          <p:cNvPr id="108" name="Shape 76"/>
          <p:cNvSpPr/>
          <p:nvPr/>
        </p:nvSpPr>
        <p:spPr>
          <a:xfrm>
            <a:off x="8257032" y="6839712"/>
            <a:ext cx="676656" cy="274320"/>
          </a:xfrm>
          <a:prstGeom prst="roundRect">
            <a:avLst>
              <a:gd name="adj" fmla="val 26667"/>
            </a:avLst>
          </a:prstGeom>
          <a:solidFill>
            <a:srgbClr val="4B1248"/>
          </a:solidFill>
          <a:ln w="12700">
            <a:solidFill>
              <a:srgbClr val="4B1248"/>
            </a:solidFill>
            <a:prstDash val="solid"/>
          </a:ln>
        </p:spPr>
      </p:sp>
      <p:sp>
        <p:nvSpPr>
          <p:cNvPr id="109" name="Text 77"/>
          <p:cNvSpPr txBox="1"/>
          <p:nvPr/>
        </p:nvSpPr>
        <p:spPr>
          <a:xfrm>
            <a:off x="8257032" y="6839712"/>
            <a:ext cx="67665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10" name="Text 78"/>
          <p:cNvSpPr txBox="1"/>
          <p:nvPr/>
        </p:nvSpPr>
        <p:spPr>
          <a:xfrm>
            <a:off x="8988552" y="67482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home details</a:t>
            </a:r>
            <a:endParaRPr lang="en-US" sz="1050" dirty="0"/>
          </a:p>
        </p:txBody>
      </p:sp>
      <p:sp>
        <p:nvSpPr>
          <p:cNvPr id="111" name="Shape 79"/>
          <p:cNvSpPr/>
          <p:nvPr/>
        </p:nvSpPr>
        <p:spPr>
          <a:xfrm>
            <a:off x="9738360" y="6839712"/>
            <a:ext cx="676656" cy="274320"/>
          </a:xfrm>
          <a:prstGeom prst="roundRect">
            <a:avLst>
              <a:gd name="adj" fmla="val 26667"/>
            </a:avLst>
          </a:prstGeom>
          <a:solidFill>
            <a:srgbClr val="E9E3EB"/>
          </a:solidFill>
          <a:ln w="12700">
            <a:solidFill>
              <a:srgbClr val="E9E3EB"/>
            </a:solidFill>
            <a:prstDash val="solid"/>
          </a:ln>
        </p:spPr>
      </p:sp>
      <p:sp>
        <p:nvSpPr>
          <p:cNvPr id="112" name="Text 80"/>
          <p:cNvSpPr txBox="1"/>
          <p:nvPr/>
        </p:nvSpPr>
        <p:spPr>
          <a:xfrm>
            <a:off x="9738360" y="6839712"/>
            <a:ext cx="676656" cy="274320"/>
          </a:xfrm>
          <a:prstGeom prst="rect">
            <a:avLst/>
          </a:prstGeom>
          <a:noFill/>
          <a:ln/>
        </p:spPr>
        <p:txBody>
          <a:bodyPr wrap="square" lIns="0" tIns="0" rIns="0" bIns="0" rtlCol="0" anchor="ctr"/>
          <a:lstStyle/>
          <a:p>
            <a:pPr algn="ctr" indent="0" marL="0">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113" name="Text 81"/>
          <p:cNvSpPr txBox="1"/>
          <p:nvPr/>
        </p:nvSpPr>
        <p:spPr>
          <a:xfrm>
            <a:off x="10469880" y="67482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host decides</a:t>
            </a:r>
            <a:endParaRPr lang="en-US" sz="1050" dirty="0"/>
          </a:p>
        </p:txBody>
      </p:sp>
      <p:sp>
        <p:nvSpPr>
          <p:cNvPr id="114" name="Shape 82"/>
          <p:cNvSpPr/>
          <p:nvPr/>
        </p:nvSpPr>
        <p:spPr>
          <a:xfrm>
            <a:off x="11219688" y="6839712"/>
            <a:ext cx="676656" cy="274320"/>
          </a:xfrm>
          <a:prstGeom prst="roundRect">
            <a:avLst>
              <a:gd name="adj" fmla="val 26667"/>
            </a:avLst>
          </a:prstGeom>
          <a:solidFill>
            <a:srgbClr val="4B1248"/>
          </a:solidFill>
          <a:ln w="12700">
            <a:solidFill>
              <a:srgbClr val="4B1248"/>
            </a:solidFill>
            <a:prstDash val="solid"/>
          </a:ln>
        </p:spPr>
      </p:sp>
      <p:sp>
        <p:nvSpPr>
          <p:cNvPr id="115" name="Text 83"/>
          <p:cNvSpPr txBox="1"/>
          <p:nvPr/>
        </p:nvSpPr>
        <p:spPr>
          <a:xfrm>
            <a:off x="11219688" y="6839712"/>
            <a:ext cx="67665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16" name="Text 84"/>
          <p:cNvSpPr txBox="1"/>
          <p:nvPr/>
        </p:nvSpPr>
        <p:spPr>
          <a:xfrm>
            <a:off x="11951208" y="67482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every day</a:t>
            </a:r>
            <a:endParaRPr lang="en-US" sz="1050" dirty="0"/>
          </a:p>
        </p:txBody>
      </p:sp>
      <p:sp>
        <p:nvSpPr>
          <p:cNvPr id="117" name="Shape 85"/>
          <p:cNvSpPr/>
          <p:nvPr/>
        </p:nvSpPr>
        <p:spPr>
          <a:xfrm>
            <a:off x="12701016" y="6839712"/>
            <a:ext cx="676656" cy="274320"/>
          </a:xfrm>
          <a:prstGeom prst="roundRect">
            <a:avLst>
              <a:gd name="adj" fmla="val 26667"/>
            </a:avLst>
          </a:prstGeom>
          <a:solidFill>
            <a:srgbClr val="F9DDB0"/>
          </a:solidFill>
          <a:ln w="12700">
            <a:solidFill>
              <a:srgbClr val="F9DDB0"/>
            </a:solidFill>
            <a:prstDash val="solid"/>
          </a:ln>
        </p:spPr>
      </p:sp>
      <p:sp>
        <p:nvSpPr>
          <p:cNvPr id="118" name="Text 86"/>
          <p:cNvSpPr txBox="1"/>
          <p:nvPr/>
        </p:nvSpPr>
        <p:spPr>
          <a:xfrm>
            <a:off x="12701016" y="6839712"/>
            <a:ext cx="676656" cy="274320"/>
          </a:xfrm>
          <a:prstGeom prst="rect">
            <a:avLst/>
          </a:prstGeom>
          <a:noFill/>
          <a:ln/>
        </p:spPr>
        <p:txBody>
          <a:bodyPr wrap="square" lIns="0" tIns="0" rIns="0" bIns="0" rtlCol="0" anchor="ctr"/>
          <a:lstStyle/>
          <a:p>
            <a:pPr algn="ctr" indent="0" marL="0">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119" name="Text 87"/>
          <p:cNvSpPr txBox="1"/>
          <p:nvPr/>
        </p:nvSpPr>
        <p:spPr>
          <a:xfrm>
            <a:off x="13432536" y="67482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more bookings</a:t>
            </a:r>
            <a:endParaRPr lang="en-US" sz="1050" dirty="0"/>
          </a:p>
        </p:txBody>
      </p:sp>
      <p:sp>
        <p:nvSpPr>
          <p:cNvPr id="120" name="Shape 88"/>
          <p:cNvSpPr/>
          <p:nvPr/>
        </p:nvSpPr>
        <p:spPr>
          <a:xfrm>
            <a:off x="731520" y="7662672"/>
            <a:ext cx="13377672" cy="0"/>
          </a:xfrm>
          <a:prstGeom prst="line">
            <a:avLst/>
          </a:prstGeom>
          <a:noFill/>
          <a:ln w="9525">
            <a:solidFill>
              <a:srgbClr val="E3D5E6"/>
            </a:solidFill>
            <a:prstDash val="solid"/>
          </a:ln>
        </p:spPr>
      </p:sp>
      <p:sp>
        <p:nvSpPr>
          <p:cNvPr id="121" name="Text 89"/>
          <p:cNvSpPr txBox="1"/>
          <p:nvPr/>
        </p:nvSpPr>
        <p:spPr>
          <a:xfrm>
            <a:off x="868680" y="7205472"/>
            <a:ext cx="1828800" cy="457200"/>
          </a:xfrm>
          <a:prstGeom prst="rect">
            <a:avLst/>
          </a:prstGeom>
          <a:noFill/>
          <a:ln/>
        </p:spPr>
        <p:txBody>
          <a:bodyPr wrap="square" lIns="0" tIns="0" rIns="0" bIns="0" rtlCol="0" anchor="ctr"/>
          <a:lstStyle/>
          <a:p>
            <a:pPr indent="0" marL="0">
              <a:buNone/>
            </a:pPr>
            <a:r>
              <a:rPr lang="en-US" sz="1400" b="1" dirty="0">
                <a:solidFill>
                  <a:srgbClr val="2A0B2F"/>
                </a:solidFill>
                <a:latin typeface="Arial" pitchFamily="34" charset="0"/>
                <a:ea typeface="Arial" pitchFamily="34" charset="-122"/>
                <a:cs typeface="Arial" pitchFamily="34" charset="-120"/>
              </a:rPr>
              <a:t>Competera</a:t>
            </a:r>
            <a:pPr indent="0" marL="0">
              <a:buNone/>
            </a:pPr>
            <a:r>
              <a:rPr lang="en-US" sz="1000" dirty="0">
                <a:solidFill>
                  <a:srgbClr val="67516B"/>
                </a:solidFill>
                <a:latin typeface="Arial" pitchFamily="34" charset="0"/>
                <a:ea typeface="Arial" pitchFamily="34" charset="-122"/>
                <a:cs typeface="Arial" pitchFamily="34" charset="-120"/>
              </a:rPr>
              <a:t> [7]</a:t>
            </a:r>
            <a:endParaRPr lang="en-US" sz="1400" dirty="0"/>
          </a:p>
        </p:txBody>
      </p:sp>
      <p:pic>
        <p:nvPicPr>
          <p:cNvPr id="122" name="Image 30" descr="Documented">    </p:cNvPr>
          <p:cNvPicPr>
            <a:picLocks noChangeAspect="1"/>
          </p:cNvPicPr>
          <p:nvPr/>
        </p:nvPicPr>
        <p:blipFill>
          <a:blip r:embed="rId32"/>
          <a:stretch>
            <a:fillRect/>
          </a:stretch>
        </p:blipFill>
        <p:spPr>
          <a:xfrm>
            <a:off x="3017520" y="7306056"/>
            <a:ext cx="256032" cy="256032"/>
          </a:xfrm>
          <a:prstGeom prst="rect">
            <a:avLst/>
          </a:prstGeom>
        </p:spPr>
      </p:pic>
      <p:pic>
        <p:nvPicPr>
          <p:cNvPr id="123" name="Image 31" descr="Not public">    </p:cNvPr>
          <p:cNvPicPr>
            <a:picLocks noChangeAspect="1"/>
          </p:cNvPicPr>
          <p:nvPr/>
        </p:nvPicPr>
        <p:blipFill>
          <a:blip r:embed="rId33"/>
          <a:stretch>
            <a:fillRect/>
          </a:stretch>
        </p:blipFill>
        <p:spPr>
          <a:xfrm>
            <a:off x="3950208" y="7342632"/>
            <a:ext cx="182880" cy="182880"/>
          </a:xfrm>
          <a:prstGeom prst="rect">
            <a:avLst/>
          </a:prstGeom>
        </p:spPr>
      </p:pic>
      <p:pic>
        <p:nvPicPr>
          <p:cNvPr id="124" name="Image 32" descr="Not public">    </p:cNvPr>
          <p:cNvPicPr>
            <a:picLocks noChangeAspect="1"/>
          </p:cNvPicPr>
          <p:nvPr/>
        </p:nvPicPr>
        <p:blipFill>
          <a:blip r:embed="rId34"/>
          <a:stretch>
            <a:fillRect/>
          </a:stretch>
        </p:blipFill>
        <p:spPr>
          <a:xfrm>
            <a:off x="4846320" y="7342632"/>
            <a:ext cx="182880" cy="182880"/>
          </a:xfrm>
          <a:prstGeom prst="rect">
            <a:avLst/>
          </a:prstGeom>
        </p:spPr>
      </p:pic>
      <p:pic>
        <p:nvPicPr>
          <p:cNvPr id="125" name="Image 33" descr="Documented">    </p:cNvPr>
          <p:cNvPicPr>
            <a:picLocks noChangeAspect="1"/>
          </p:cNvPicPr>
          <p:nvPr/>
        </p:nvPicPr>
        <p:blipFill>
          <a:blip r:embed="rId35"/>
          <a:stretch>
            <a:fillRect/>
          </a:stretch>
        </p:blipFill>
        <p:spPr>
          <a:xfrm>
            <a:off x="5705856" y="7306056"/>
            <a:ext cx="256032" cy="256032"/>
          </a:xfrm>
          <a:prstGeom prst="rect">
            <a:avLst/>
          </a:prstGeom>
        </p:spPr>
      </p:pic>
      <p:pic>
        <p:nvPicPr>
          <p:cNvPr id="126" name="Image 34" descr="Documented">    </p:cNvPr>
          <p:cNvPicPr>
            <a:picLocks noChangeAspect="1"/>
          </p:cNvPicPr>
          <p:nvPr/>
        </p:nvPicPr>
        <p:blipFill>
          <a:blip r:embed="rId36"/>
          <a:stretch>
            <a:fillRect/>
          </a:stretch>
        </p:blipFill>
        <p:spPr>
          <a:xfrm>
            <a:off x="6601968" y="7306056"/>
            <a:ext cx="256032" cy="256032"/>
          </a:xfrm>
          <a:prstGeom prst="rect">
            <a:avLst/>
          </a:prstGeom>
        </p:spPr>
      </p:pic>
      <p:pic>
        <p:nvPicPr>
          <p:cNvPr id="127" name="Image 35" descr="Partial">    </p:cNvPr>
          <p:cNvPicPr>
            <a:picLocks noChangeAspect="1"/>
          </p:cNvPicPr>
          <p:nvPr/>
        </p:nvPicPr>
        <p:blipFill>
          <a:blip r:embed="rId37"/>
          <a:stretch>
            <a:fillRect/>
          </a:stretch>
        </p:blipFill>
        <p:spPr>
          <a:xfrm>
            <a:off x="7498080" y="7306056"/>
            <a:ext cx="256032" cy="256032"/>
          </a:xfrm>
          <a:prstGeom prst="rect">
            <a:avLst/>
          </a:prstGeom>
        </p:spPr>
      </p:pic>
      <p:sp>
        <p:nvSpPr>
          <p:cNvPr id="128" name="Shape 90"/>
          <p:cNvSpPr/>
          <p:nvPr/>
        </p:nvSpPr>
        <p:spPr>
          <a:xfrm>
            <a:off x="8257032" y="7296912"/>
            <a:ext cx="676656" cy="274320"/>
          </a:xfrm>
          <a:prstGeom prst="roundRect">
            <a:avLst>
              <a:gd name="adj" fmla="val 26667"/>
            </a:avLst>
          </a:prstGeom>
          <a:solidFill>
            <a:srgbClr val="E9E3EB"/>
          </a:solidFill>
          <a:ln w="12700">
            <a:solidFill>
              <a:srgbClr val="E9E3EB"/>
            </a:solidFill>
            <a:prstDash val="solid"/>
          </a:ln>
        </p:spPr>
      </p:sp>
      <p:sp>
        <p:nvSpPr>
          <p:cNvPr id="129" name="Text 91"/>
          <p:cNvSpPr txBox="1"/>
          <p:nvPr/>
        </p:nvSpPr>
        <p:spPr>
          <a:xfrm>
            <a:off x="8257032" y="7296912"/>
            <a:ext cx="676656" cy="274320"/>
          </a:xfrm>
          <a:prstGeom prst="rect">
            <a:avLst/>
          </a:prstGeom>
          <a:noFill/>
          <a:ln/>
        </p:spPr>
        <p:txBody>
          <a:bodyPr wrap="square" lIns="0" tIns="0" rIns="0" bIns="0" rtlCol="0" anchor="ctr"/>
          <a:lstStyle/>
          <a:p>
            <a:pPr algn="ctr" indent="0" marL="0">
              <a:buNone/>
            </a:pPr>
            <a:r>
              <a:rPr lang="en-US" sz="1200" b="1" dirty="0">
                <a:solidFill>
                  <a:srgbClr val="5E4B60"/>
                </a:solidFill>
                <a:latin typeface="Arial" pitchFamily="34" charset="0"/>
                <a:ea typeface="Arial" pitchFamily="34" charset="-122"/>
                <a:cs typeface="Arial" pitchFamily="34" charset="-120"/>
              </a:rPr>
              <a:t>No</a:t>
            </a:r>
            <a:endParaRPr lang="en-US" sz="1200" dirty="0"/>
          </a:p>
        </p:txBody>
      </p:sp>
      <p:sp>
        <p:nvSpPr>
          <p:cNvPr id="130" name="Text 92"/>
          <p:cNvSpPr txBox="1"/>
          <p:nvPr/>
        </p:nvSpPr>
        <p:spPr>
          <a:xfrm>
            <a:off x="8988552" y="72054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needs history</a:t>
            </a:r>
            <a:endParaRPr lang="en-US" sz="1050" dirty="0"/>
          </a:p>
        </p:txBody>
      </p:sp>
      <p:sp>
        <p:nvSpPr>
          <p:cNvPr id="131" name="Shape 93"/>
          <p:cNvSpPr/>
          <p:nvPr/>
        </p:nvSpPr>
        <p:spPr>
          <a:xfrm>
            <a:off x="9738360" y="7296912"/>
            <a:ext cx="676656" cy="274320"/>
          </a:xfrm>
          <a:prstGeom prst="roundRect">
            <a:avLst>
              <a:gd name="adj" fmla="val 26667"/>
            </a:avLst>
          </a:prstGeom>
          <a:solidFill>
            <a:srgbClr val="F9DDB0"/>
          </a:solidFill>
          <a:ln w="12700">
            <a:solidFill>
              <a:srgbClr val="F9DDB0"/>
            </a:solidFill>
            <a:prstDash val="solid"/>
          </a:ln>
        </p:spPr>
      </p:sp>
      <p:sp>
        <p:nvSpPr>
          <p:cNvPr id="132" name="Text 94"/>
          <p:cNvSpPr txBox="1"/>
          <p:nvPr/>
        </p:nvSpPr>
        <p:spPr>
          <a:xfrm>
            <a:off x="9738360" y="7296912"/>
            <a:ext cx="676656" cy="274320"/>
          </a:xfrm>
          <a:prstGeom prst="rect">
            <a:avLst/>
          </a:prstGeom>
          <a:noFill/>
          <a:ln/>
        </p:spPr>
        <p:txBody>
          <a:bodyPr wrap="square" lIns="0" tIns="0" rIns="0" bIns="0" rtlCol="0" anchor="ctr"/>
          <a:lstStyle/>
          <a:p>
            <a:pPr algn="ctr" indent="0" marL="0">
              <a:buNone/>
            </a:pPr>
            <a:r>
              <a:rPr lang="en-US" sz="1200" b="1" dirty="0">
                <a:solidFill>
                  <a:srgbClr val="7A4A00"/>
                </a:solidFill>
                <a:latin typeface="Arial" pitchFamily="34" charset="0"/>
                <a:ea typeface="Arial" pitchFamily="34" charset="-122"/>
                <a:cs typeface="Arial" pitchFamily="34" charset="-120"/>
              </a:rPr>
              <a:t>Partly</a:t>
            </a:r>
            <a:endParaRPr lang="en-US" sz="1200" dirty="0"/>
          </a:p>
        </p:txBody>
      </p:sp>
      <p:sp>
        <p:nvSpPr>
          <p:cNvPr id="133" name="Text 95"/>
          <p:cNvSpPr txBox="1"/>
          <p:nvPr/>
        </p:nvSpPr>
        <p:spPr>
          <a:xfrm>
            <a:off x="10469880" y="72054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store's costs</a:t>
            </a:r>
            <a:endParaRPr lang="en-US" sz="1050" dirty="0"/>
          </a:p>
        </p:txBody>
      </p:sp>
      <p:sp>
        <p:nvSpPr>
          <p:cNvPr id="134" name="Shape 96"/>
          <p:cNvSpPr/>
          <p:nvPr/>
        </p:nvSpPr>
        <p:spPr>
          <a:xfrm>
            <a:off x="11219688" y="7296912"/>
            <a:ext cx="676656" cy="274320"/>
          </a:xfrm>
          <a:prstGeom prst="roundRect">
            <a:avLst>
              <a:gd name="adj" fmla="val 26667"/>
            </a:avLst>
          </a:prstGeom>
          <a:solidFill>
            <a:srgbClr val="4B1248"/>
          </a:solidFill>
          <a:ln w="12700">
            <a:solidFill>
              <a:srgbClr val="4B1248"/>
            </a:solidFill>
            <a:prstDash val="solid"/>
          </a:ln>
        </p:spPr>
      </p:sp>
      <p:sp>
        <p:nvSpPr>
          <p:cNvPr id="135" name="Text 97"/>
          <p:cNvSpPr txBox="1"/>
          <p:nvPr/>
        </p:nvSpPr>
        <p:spPr>
          <a:xfrm>
            <a:off x="11219688" y="7296912"/>
            <a:ext cx="67665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36" name="Text 98"/>
          <p:cNvSpPr txBox="1"/>
          <p:nvPr/>
        </p:nvSpPr>
        <p:spPr>
          <a:xfrm>
            <a:off x="11951208" y="72054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all the time</a:t>
            </a:r>
            <a:endParaRPr lang="en-US" sz="1050" dirty="0"/>
          </a:p>
        </p:txBody>
      </p:sp>
      <p:sp>
        <p:nvSpPr>
          <p:cNvPr id="137" name="Shape 99"/>
          <p:cNvSpPr/>
          <p:nvPr/>
        </p:nvSpPr>
        <p:spPr>
          <a:xfrm>
            <a:off x="12701016" y="7296912"/>
            <a:ext cx="676656" cy="274320"/>
          </a:xfrm>
          <a:prstGeom prst="roundRect">
            <a:avLst>
              <a:gd name="adj" fmla="val 26667"/>
            </a:avLst>
          </a:prstGeom>
          <a:solidFill>
            <a:srgbClr val="4B1248"/>
          </a:solidFill>
          <a:ln w="12700">
            <a:solidFill>
              <a:srgbClr val="4B1248"/>
            </a:solidFill>
            <a:prstDash val="solid"/>
          </a:ln>
        </p:spPr>
      </p:sp>
      <p:sp>
        <p:nvSpPr>
          <p:cNvPr id="138" name="Text 100"/>
          <p:cNvSpPr txBox="1"/>
          <p:nvPr/>
        </p:nvSpPr>
        <p:spPr>
          <a:xfrm>
            <a:off x="12701016" y="7296912"/>
            <a:ext cx="67665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39" name="Text 101"/>
          <p:cNvSpPr txBox="1"/>
          <p:nvPr/>
        </p:nvSpPr>
        <p:spPr>
          <a:xfrm>
            <a:off x="13432536" y="72054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store's profit</a:t>
            </a:r>
            <a:endParaRPr lang="en-US" sz="1050" dirty="0"/>
          </a:p>
        </p:txBody>
      </p:sp>
      <p:sp>
        <p:nvSpPr>
          <p:cNvPr id="140" name="Shape 102"/>
          <p:cNvSpPr/>
          <p:nvPr/>
        </p:nvSpPr>
        <p:spPr>
          <a:xfrm>
            <a:off x="731520" y="7662672"/>
            <a:ext cx="13377672" cy="457200"/>
          </a:xfrm>
          <a:prstGeom prst="rect">
            <a:avLst/>
          </a:prstGeom>
          <a:solidFill>
            <a:srgbClr val="FFF4D6"/>
          </a:solidFill>
          <a:ln w="12700">
            <a:solidFill>
              <a:srgbClr val="FFF4D6"/>
            </a:solidFill>
            <a:prstDash val="solid"/>
          </a:ln>
        </p:spPr>
      </p:sp>
      <p:sp>
        <p:nvSpPr>
          <p:cNvPr id="141" name="Text 103"/>
          <p:cNvSpPr txBox="1"/>
          <p:nvPr/>
        </p:nvSpPr>
        <p:spPr>
          <a:xfrm>
            <a:off x="868680" y="7662672"/>
            <a:ext cx="1828800" cy="457200"/>
          </a:xfrm>
          <a:prstGeom prst="rect">
            <a:avLst/>
          </a:prstGeom>
          <a:noFill/>
          <a:ln/>
        </p:spPr>
        <p:txBody>
          <a:bodyPr wrap="square" lIns="0" tIns="0" rIns="0" bIns="0" rtlCol="0" anchor="ctr"/>
          <a:lstStyle/>
          <a:p>
            <a:pPr indent="0" marL="0">
              <a:buNone/>
            </a:pPr>
            <a:r>
              <a:rPr lang="en-US" sz="1400" b="1" dirty="0">
                <a:solidFill>
                  <a:srgbClr val="2A0B2F"/>
                </a:solidFill>
                <a:latin typeface="Arial" pitchFamily="34" charset="0"/>
                <a:ea typeface="Arial" pitchFamily="34" charset="-122"/>
                <a:cs typeface="Arial" pitchFamily="34" charset="-120"/>
              </a:rPr>
              <a:t>Meesho today</a:t>
            </a:r>
            <a:pPr indent="0" marL="0">
              <a:buNone/>
            </a:pPr>
            <a:r>
              <a:rPr lang="en-US" sz="1000" dirty="0">
                <a:solidFill>
                  <a:srgbClr val="67516B"/>
                </a:solidFill>
                <a:latin typeface="Arial" pitchFamily="34" charset="0"/>
                <a:ea typeface="Arial" pitchFamily="34" charset="-122"/>
                <a:cs typeface="Arial" pitchFamily="34" charset="-120"/>
              </a:rPr>
              <a:t> [2]</a:t>
            </a:r>
            <a:endParaRPr lang="en-US" sz="1400" dirty="0"/>
          </a:p>
        </p:txBody>
      </p:sp>
      <p:pic>
        <p:nvPicPr>
          <p:cNvPr id="142" name="Image 36" descr="Not public">    </p:cNvPr>
          <p:cNvPicPr>
            <a:picLocks noChangeAspect="1"/>
          </p:cNvPicPr>
          <p:nvPr/>
        </p:nvPicPr>
        <p:blipFill>
          <a:blip r:embed="rId38"/>
          <a:stretch>
            <a:fillRect/>
          </a:stretch>
        </p:blipFill>
        <p:spPr>
          <a:xfrm>
            <a:off x="3054096" y="7799832"/>
            <a:ext cx="182880" cy="182880"/>
          </a:xfrm>
          <a:prstGeom prst="rect">
            <a:avLst/>
          </a:prstGeom>
        </p:spPr>
      </p:pic>
      <p:pic>
        <p:nvPicPr>
          <p:cNvPr id="143" name="Image 37" descr="Documented">    </p:cNvPr>
          <p:cNvPicPr>
            <a:picLocks noChangeAspect="1"/>
          </p:cNvPicPr>
          <p:nvPr/>
        </p:nvPicPr>
        <p:blipFill>
          <a:blip r:embed="rId39"/>
          <a:stretch>
            <a:fillRect/>
          </a:stretch>
        </p:blipFill>
        <p:spPr>
          <a:xfrm>
            <a:off x="3913632" y="7763256"/>
            <a:ext cx="256032" cy="256032"/>
          </a:xfrm>
          <a:prstGeom prst="rect">
            <a:avLst/>
          </a:prstGeom>
        </p:spPr>
      </p:pic>
      <p:pic>
        <p:nvPicPr>
          <p:cNvPr id="144" name="Image 38" descr="Documented">    </p:cNvPr>
          <p:cNvPicPr>
            <a:picLocks noChangeAspect="1"/>
          </p:cNvPicPr>
          <p:nvPr/>
        </p:nvPicPr>
        <p:blipFill>
          <a:blip r:embed="rId40"/>
          <a:stretch>
            <a:fillRect/>
          </a:stretch>
        </p:blipFill>
        <p:spPr>
          <a:xfrm>
            <a:off x="4809744" y="7763256"/>
            <a:ext cx="256032" cy="256032"/>
          </a:xfrm>
          <a:prstGeom prst="rect">
            <a:avLst/>
          </a:prstGeom>
        </p:spPr>
      </p:pic>
      <p:pic>
        <p:nvPicPr>
          <p:cNvPr id="145" name="Image 39" descr="Not public">    </p:cNvPr>
          <p:cNvPicPr>
            <a:picLocks noChangeAspect="1"/>
          </p:cNvPicPr>
          <p:nvPr/>
        </p:nvPicPr>
        <p:blipFill>
          <a:blip r:embed="rId41"/>
          <a:stretch>
            <a:fillRect/>
          </a:stretch>
        </p:blipFill>
        <p:spPr>
          <a:xfrm>
            <a:off x="5742432" y="7799832"/>
            <a:ext cx="182880" cy="182880"/>
          </a:xfrm>
          <a:prstGeom prst="rect">
            <a:avLst/>
          </a:prstGeom>
        </p:spPr>
      </p:pic>
      <p:pic>
        <p:nvPicPr>
          <p:cNvPr id="146" name="Image 40" descr="Not public">    </p:cNvPr>
          <p:cNvPicPr>
            <a:picLocks noChangeAspect="1"/>
          </p:cNvPicPr>
          <p:nvPr/>
        </p:nvPicPr>
        <p:blipFill>
          <a:blip r:embed="rId42"/>
          <a:stretch>
            <a:fillRect/>
          </a:stretch>
        </p:blipFill>
        <p:spPr>
          <a:xfrm>
            <a:off x="6638544" y="7799832"/>
            <a:ext cx="182880" cy="182880"/>
          </a:xfrm>
          <a:prstGeom prst="rect">
            <a:avLst/>
          </a:prstGeom>
        </p:spPr>
      </p:pic>
      <p:pic>
        <p:nvPicPr>
          <p:cNvPr id="147" name="Image 41" descr="Not public">    </p:cNvPr>
          <p:cNvPicPr>
            <a:picLocks noChangeAspect="1"/>
          </p:cNvPicPr>
          <p:nvPr/>
        </p:nvPicPr>
        <p:blipFill>
          <a:blip r:embed="rId43"/>
          <a:stretch>
            <a:fillRect/>
          </a:stretch>
        </p:blipFill>
        <p:spPr>
          <a:xfrm>
            <a:off x="7534656" y="7799832"/>
            <a:ext cx="182880" cy="182880"/>
          </a:xfrm>
          <a:prstGeom prst="rect">
            <a:avLst/>
          </a:prstGeom>
        </p:spPr>
      </p:pic>
      <p:sp>
        <p:nvSpPr>
          <p:cNvPr id="148" name="Shape 104"/>
          <p:cNvSpPr/>
          <p:nvPr/>
        </p:nvSpPr>
        <p:spPr>
          <a:xfrm>
            <a:off x="8257032" y="7754112"/>
            <a:ext cx="676656" cy="274320"/>
          </a:xfrm>
          <a:prstGeom prst="roundRect">
            <a:avLst>
              <a:gd name="adj" fmla="val 26667"/>
            </a:avLst>
          </a:prstGeom>
          <a:solidFill>
            <a:srgbClr val="4B1248"/>
          </a:solidFill>
          <a:ln w="12700">
            <a:solidFill>
              <a:srgbClr val="4B1248"/>
            </a:solidFill>
            <a:prstDash val="solid"/>
          </a:ln>
        </p:spPr>
      </p:sp>
      <p:sp>
        <p:nvSpPr>
          <p:cNvPr id="149" name="Text 105"/>
          <p:cNvSpPr txBox="1"/>
          <p:nvPr/>
        </p:nvSpPr>
        <p:spPr>
          <a:xfrm>
            <a:off x="8257032" y="7754112"/>
            <a:ext cx="67665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Yes</a:t>
            </a:r>
            <a:endParaRPr lang="en-US" sz="1200" dirty="0"/>
          </a:p>
        </p:txBody>
      </p:sp>
      <p:sp>
        <p:nvSpPr>
          <p:cNvPr id="150" name="Text 106"/>
          <p:cNvSpPr txBox="1"/>
          <p:nvPr/>
        </p:nvSpPr>
        <p:spPr>
          <a:xfrm>
            <a:off x="8988552" y="76626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if matches exist</a:t>
            </a:r>
            <a:endParaRPr lang="en-US" sz="1050" dirty="0"/>
          </a:p>
        </p:txBody>
      </p:sp>
      <p:sp>
        <p:nvSpPr>
          <p:cNvPr id="151" name="Shape 107"/>
          <p:cNvSpPr/>
          <p:nvPr/>
        </p:nvSpPr>
        <p:spPr>
          <a:xfrm>
            <a:off x="9738360" y="7754112"/>
            <a:ext cx="676656" cy="274320"/>
          </a:xfrm>
          <a:prstGeom prst="roundRect">
            <a:avLst>
              <a:gd name="adj" fmla="val 26667"/>
            </a:avLst>
          </a:prstGeom>
          <a:solidFill>
            <a:srgbClr val="F4F1F5"/>
          </a:solidFill>
          <a:ln w="12700">
            <a:solidFill>
              <a:srgbClr val="F4F1F5"/>
            </a:solidFill>
            <a:prstDash val="solid"/>
          </a:ln>
        </p:spPr>
      </p:sp>
      <p:sp>
        <p:nvSpPr>
          <p:cNvPr id="152" name="Text 108"/>
          <p:cNvSpPr txBox="1"/>
          <p:nvPr/>
        </p:nvSpPr>
        <p:spPr>
          <a:xfrm>
            <a:off x="9738360" y="7754112"/>
            <a:ext cx="676656" cy="274320"/>
          </a:xfrm>
          <a:prstGeom prst="rect">
            <a:avLst/>
          </a:prstGeom>
          <a:noFill/>
          <a:ln/>
        </p:spPr>
        <p:txBody>
          <a:bodyPr wrap="square" lIns="0" tIns="0" rIns="0" bIns="0" rtlCol="0" anchor="ctr"/>
          <a:lstStyle/>
          <a:p>
            <a:pPr algn="ctr" indent="0" marL="0">
              <a:buNone/>
            </a:pPr>
            <a:r>
              <a:rPr lang="en-US" sz="1000" b="1" dirty="0">
                <a:solidFill>
                  <a:srgbClr val="8A7A8D"/>
                </a:solidFill>
                <a:latin typeface="Arial" pitchFamily="34" charset="0"/>
                <a:ea typeface="Arial" pitchFamily="34" charset="-122"/>
                <a:cs typeface="Arial" pitchFamily="34" charset="-120"/>
              </a:rPr>
              <a:t>Unknown</a:t>
            </a:r>
            <a:endParaRPr lang="en-US" sz="1000" dirty="0"/>
          </a:p>
        </p:txBody>
      </p:sp>
      <p:sp>
        <p:nvSpPr>
          <p:cNvPr id="153" name="Text 109"/>
          <p:cNvSpPr txBox="1"/>
          <p:nvPr/>
        </p:nvSpPr>
        <p:spPr>
          <a:xfrm>
            <a:off x="10469880" y="76626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not public</a:t>
            </a:r>
            <a:endParaRPr lang="en-US" sz="1050" dirty="0"/>
          </a:p>
        </p:txBody>
      </p:sp>
      <p:sp>
        <p:nvSpPr>
          <p:cNvPr id="154" name="Shape 110"/>
          <p:cNvSpPr/>
          <p:nvPr/>
        </p:nvSpPr>
        <p:spPr>
          <a:xfrm>
            <a:off x="11219688" y="7754112"/>
            <a:ext cx="676656" cy="274320"/>
          </a:xfrm>
          <a:prstGeom prst="roundRect">
            <a:avLst>
              <a:gd name="adj" fmla="val 26667"/>
            </a:avLst>
          </a:prstGeom>
          <a:solidFill>
            <a:srgbClr val="F4F1F5"/>
          </a:solidFill>
          <a:ln w="12700">
            <a:solidFill>
              <a:srgbClr val="F4F1F5"/>
            </a:solidFill>
            <a:prstDash val="solid"/>
          </a:ln>
        </p:spPr>
      </p:sp>
      <p:sp>
        <p:nvSpPr>
          <p:cNvPr id="155" name="Text 111"/>
          <p:cNvSpPr txBox="1"/>
          <p:nvPr/>
        </p:nvSpPr>
        <p:spPr>
          <a:xfrm>
            <a:off x="11219688" y="7754112"/>
            <a:ext cx="676656" cy="274320"/>
          </a:xfrm>
          <a:prstGeom prst="rect">
            <a:avLst/>
          </a:prstGeom>
          <a:noFill/>
          <a:ln/>
        </p:spPr>
        <p:txBody>
          <a:bodyPr wrap="square" lIns="0" tIns="0" rIns="0" bIns="0" rtlCol="0" anchor="ctr"/>
          <a:lstStyle/>
          <a:p>
            <a:pPr algn="ctr" indent="0" marL="0">
              <a:buNone/>
            </a:pPr>
            <a:r>
              <a:rPr lang="en-US" sz="1000" b="1" dirty="0">
                <a:solidFill>
                  <a:srgbClr val="8A7A8D"/>
                </a:solidFill>
                <a:latin typeface="Arial" pitchFamily="34" charset="0"/>
                <a:ea typeface="Arial" pitchFamily="34" charset="-122"/>
                <a:cs typeface="Arial" pitchFamily="34" charset="-120"/>
              </a:rPr>
              <a:t>Unknown</a:t>
            </a:r>
            <a:endParaRPr lang="en-US" sz="1000" dirty="0"/>
          </a:p>
        </p:txBody>
      </p:sp>
      <p:sp>
        <p:nvSpPr>
          <p:cNvPr id="156" name="Text 112"/>
          <p:cNvSpPr txBox="1"/>
          <p:nvPr/>
        </p:nvSpPr>
        <p:spPr>
          <a:xfrm>
            <a:off x="11951208" y="76626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not public</a:t>
            </a:r>
            <a:endParaRPr lang="en-US" sz="1050" dirty="0"/>
          </a:p>
        </p:txBody>
      </p:sp>
      <p:sp>
        <p:nvSpPr>
          <p:cNvPr id="157" name="Shape 113"/>
          <p:cNvSpPr/>
          <p:nvPr/>
        </p:nvSpPr>
        <p:spPr>
          <a:xfrm>
            <a:off x="12701016" y="7754112"/>
            <a:ext cx="676656" cy="274320"/>
          </a:xfrm>
          <a:prstGeom prst="roundRect">
            <a:avLst>
              <a:gd name="adj" fmla="val 26667"/>
            </a:avLst>
          </a:prstGeom>
          <a:solidFill>
            <a:srgbClr val="F4F1F5"/>
          </a:solidFill>
          <a:ln w="12700">
            <a:solidFill>
              <a:srgbClr val="F4F1F5"/>
            </a:solidFill>
            <a:prstDash val="solid"/>
          </a:ln>
        </p:spPr>
      </p:sp>
      <p:sp>
        <p:nvSpPr>
          <p:cNvPr id="158" name="Text 114"/>
          <p:cNvSpPr txBox="1"/>
          <p:nvPr/>
        </p:nvSpPr>
        <p:spPr>
          <a:xfrm>
            <a:off x="12701016" y="7754112"/>
            <a:ext cx="676656" cy="274320"/>
          </a:xfrm>
          <a:prstGeom prst="rect">
            <a:avLst/>
          </a:prstGeom>
          <a:noFill/>
          <a:ln/>
        </p:spPr>
        <p:txBody>
          <a:bodyPr wrap="square" lIns="0" tIns="0" rIns="0" bIns="0" rtlCol="0" anchor="ctr"/>
          <a:lstStyle/>
          <a:p>
            <a:pPr algn="ctr" indent="0" marL="0">
              <a:buNone/>
            </a:pPr>
            <a:r>
              <a:rPr lang="en-US" sz="1000" b="1" dirty="0">
                <a:solidFill>
                  <a:srgbClr val="8A7A8D"/>
                </a:solidFill>
                <a:latin typeface="Arial" pitchFamily="34" charset="0"/>
                <a:ea typeface="Arial" pitchFamily="34" charset="-122"/>
                <a:cs typeface="Arial" pitchFamily="34" charset="-120"/>
              </a:rPr>
              <a:t>Unknown</a:t>
            </a:r>
            <a:endParaRPr lang="en-US" sz="1000" dirty="0"/>
          </a:p>
        </p:txBody>
      </p:sp>
      <p:sp>
        <p:nvSpPr>
          <p:cNvPr id="159" name="Text 115"/>
          <p:cNvSpPr txBox="1"/>
          <p:nvPr/>
        </p:nvSpPr>
        <p:spPr>
          <a:xfrm>
            <a:off x="13432536" y="7662672"/>
            <a:ext cx="658368" cy="457200"/>
          </a:xfrm>
          <a:prstGeom prst="rect">
            <a:avLst/>
          </a:prstGeom>
          <a:noFill/>
          <a:ln/>
        </p:spPr>
        <p:txBody>
          <a:bodyPr wrap="square" lIns="0" tIns="0" rIns="0" bIns="0" rtlCol="0" anchor="ctr"/>
          <a:lstStyle/>
          <a:p>
            <a:pPr indent="0" marL="0">
              <a:buNone/>
            </a:pPr>
            <a:r>
              <a:rPr lang="en-US" sz="1050" dirty="0">
                <a:solidFill>
                  <a:srgbClr val="67516B"/>
                </a:solidFill>
                <a:latin typeface="Arial" pitchFamily="34" charset="0"/>
                <a:ea typeface="Arial" pitchFamily="34" charset="-122"/>
                <a:cs typeface="Arial" pitchFamily="34" charset="-120"/>
              </a:rPr>
              <a:t>not public</a:t>
            </a:r>
            <a:endParaRPr lang="en-US" sz="1050" dirty="0"/>
          </a:p>
        </p:txBody>
      </p:sp>
      <p:sp>
        <p:nvSpPr>
          <p:cNvPr id="160" name="Shape 116"/>
          <p:cNvSpPr/>
          <p:nvPr/>
        </p:nvSpPr>
        <p:spPr>
          <a:xfrm>
            <a:off x="731520" y="8119872"/>
            <a:ext cx="13377672" cy="457200"/>
          </a:xfrm>
          <a:prstGeom prst="rect">
            <a:avLst/>
          </a:prstGeom>
          <a:solidFill>
            <a:srgbClr val="4B1248"/>
          </a:solidFill>
          <a:ln w="12700">
            <a:solidFill>
              <a:srgbClr val="4B1248"/>
            </a:solidFill>
            <a:prstDash val="solid"/>
          </a:ln>
        </p:spPr>
      </p:sp>
      <p:sp>
        <p:nvSpPr>
          <p:cNvPr id="161" name="Text 117"/>
          <p:cNvSpPr txBox="1"/>
          <p:nvPr/>
        </p:nvSpPr>
        <p:spPr>
          <a:xfrm>
            <a:off x="868680" y="8119872"/>
            <a:ext cx="1828800"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Price Confidence</a:t>
            </a:r>
            <a:endParaRPr lang="en-US" sz="1400" dirty="0"/>
          </a:p>
        </p:txBody>
      </p:sp>
      <p:pic>
        <p:nvPicPr>
          <p:cNvPr id="162" name="Image 42" descr="Documented">    </p:cNvPr>
          <p:cNvPicPr>
            <a:picLocks noChangeAspect="1"/>
          </p:cNvPicPr>
          <p:nvPr/>
        </p:nvPicPr>
        <p:blipFill>
          <a:blip r:embed="rId44"/>
          <a:stretch>
            <a:fillRect/>
          </a:stretch>
        </p:blipFill>
        <p:spPr>
          <a:xfrm>
            <a:off x="3017520" y="8220456"/>
            <a:ext cx="256032" cy="256032"/>
          </a:xfrm>
          <a:prstGeom prst="rect">
            <a:avLst/>
          </a:prstGeom>
        </p:spPr>
      </p:pic>
      <p:pic>
        <p:nvPicPr>
          <p:cNvPr id="163" name="Image 43" descr="Partial">    </p:cNvPr>
          <p:cNvPicPr>
            <a:picLocks noChangeAspect="1"/>
          </p:cNvPicPr>
          <p:nvPr/>
        </p:nvPicPr>
        <p:blipFill>
          <a:blip r:embed="rId45"/>
          <a:stretch>
            <a:fillRect/>
          </a:stretch>
        </p:blipFill>
        <p:spPr>
          <a:xfrm>
            <a:off x="3913632" y="8220456"/>
            <a:ext cx="256032" cy="256032"/>
          </a:xfrm>
          <a:prstGeom prst="rect">
            <a:avLst/>
          </a:prstGeom>
        </p:spPr>
      </p:pic>
      <p:pic>
        <p:nvPicPr>
          <p:cNvPr id="164" name="Image 44" descr="Partial">    </p:cNvPr>
          <p:cNvPicPr>
            <a:picLocks noChangeAspect="1"/>
          </p:cNvPicPr>
          <p:nvPr/>
        </p:nvPicPr>
        <p:blipFill>
          <a:blip r:embed="rId46"/>
          <a:stretch>
            <a:fillRect/>
          </a:stretch>
        </p:blipFill>
        <p:spPr>
          <a:xfrm>
            <a:off x="4809744" y="8220456"/>
            <a:ext cx="256032" cy="256032"/>
          </a:xfrm>
          <a:prstGeom prst="rect">
            <a:avLst/>
          </a:prstGeom>
        </p:spPr>
      </p:pic>
      <p:pic>
        <p:nvPicPr>
          <p:cNvPr id="165" name="Image 45" descr="Documented">    </p:cNvPr>
          <p:cNvPicPr>
            <a:picLocks noChangeAspect="1"/>
          </p:cNvPicPr>
          <p:nvPr/>
        </p:nvPicPr>
        <p:blipFill>
          <a:blip r:embed="rId47"/>
          <a:stretch>
            <a:fillRect/>
          </a:stretch>
        </p:blipFill>
        <p:spPr>
          <a:xfrm>
            <a:off x="5705856" y="8220456"/>
            <a:ext cx="256032" cy="256032"/>
          </a:xfrm>
          <a:prstGeom prst="rect">
            <a:avLst/>
          </a:prstGeom>
        </p:spPr>
      </p:pic>
      <p:pic>
        <p:nvPicPr>
          <p:cNvPr id="166" name="Image 46" descr="Partial">    </p:cNvPr>
          <p:cNvPicPr>
            <a:picLocks noChangeAspect="1"/>
          </p:cNvPicPr>
          <p:nvPr/>
        </p:nvPicPr>
        <p:blipFill>
          <a:blip r:embed="rId48"/>
          <a:stretch>
            <a:fillRect/>
          </a:stretch>
        </p:blipFill>
        <p:spPr>
          <a:xfrm>
            <a:off x="6601968" y="8220456"/>
            <a:ext cx="256032" cy="256032"/>
          </a:xfrm>
          <a:prstGeom prst="rect">
            <a:avLst/>
          </a:prstGeom>
        </p:spPr>
      </p:pic>
      <p:pic>
        <p:nvPicPr>
          <p:cNvPr id="167" name="Image 47" descr="Documented">    </p:cNvPr>
          <p:cNvPicPr>
            <a:picLocks noChangeAspect="1"/>
          </p:cNvPicPr>
          <p:nvPr/>
        </p:nvPicPr>
        <p:blipFill>
          <a:blip r:embed="rId49"/>
          <a:stretch>
            <a:fillRect/>
          </a:stretch>
        </p:blipFill>
        <p:spPr>
          <a:xfrm>
            <a:off x="7498080" y="8220456"/>
            <a:ext cx="256032" cy="256032"/>
          </a:xfrm>
          <a:prstGeom prst="rect">
            <a:avLst/>
          </a:prstGeom>
        </p:spPr>
      </p:pic>
      <p:sp>
        <p:nvSpPr>
          <p:cNvPr id="168" name="Shape 118"/>
          <p:cNvSpPr/>
          <p:nvPr/>
        </p:nvSpPr>
        <p:spPr>
          <a:xfrm>
            <a:off x="8257032" y="8211312"/>
            <a:ext cx="676656" cy="274320"/>
          </a:xfrm>
          <a:prstGeom prst="roundRect">
            <a:avLst>
              <a:gd name="adj" fmla="val 26667"/>
            </a:avLst>
          </a:prstGeom>
          <a:solidFill>
            <a:srgbClr val="FFFFFF"/>
          </a:solidFill>
          <a:ln w="12700">
            <a:solidFill>
              <a:srgbClr val="FFFFFF"/>
            </a:solidFill>
            <a:prstDash val="solid"/>
          </a:ln>
        </p:spPr>
      </p:sp>
      <p:sp>
        <p:nvSpPr>
          <p:cNvPr id="169" name="Text 119"/>
          <p:cNvSpPr txBox="1"/>
          <p:nvPr/>
        </p:nvSpPr>
        <p:spPr>
          <a:xfrm>
            <a:off x="8257032" y="8211312"/>
            <a:ext cx="676656" cy="274320"/>
          </a:xfrm>
          <a:prstGeom prst="rect">
            <a:avLst/>
          </a:prstGeom>
          <a:noFill/>
          <a:ln/>
        </p:spPr>
        <p:txBody>
          <a:bodyPr wrap="square" lIns="0" tIns="0" rIns="0" bIns="0" rtlCol="0" anchor="ctr"/>
          <a:lstStyle/>
          <a:p>
            <a:pPr algn="ctr" indent="0" marL="0">
              <a:buNone/>
            </a:pPr>
            <a:r>
              <a:rPr lang="en-US" sz="1200" b="1" dirty="0">
                <a:solidFill>
                  <a:srgbClr val="4B1248"/>
                </a:solidFill>
                <a:latin typeface="Arial" pitchFamily="34" charset="0"/>
                <a:ea typeface="Arial" pitchFamily="34" charset="-122"/>
                <a:cs typeface="Arial" pitchFamily="34" charset="-120"/>
              </a:rPr>
              <a:t>Yes</a:t>
            </a:r>
            <a:endParaRPr lang="en-US" sz="1200" dirty="0"/>
          </a:p>
        </p:txBody>
      </p:sp>
      <p:sp>
        <p:nvSpPr>
          <p:cNvPr id="170" name="Text 120"/>
          <p:cNvSpPr txBox="1"/>
          <p:nvPr/>
        </p:nvSpPr>
        <p:spPr>
          <a:xfrm>
            <a:off x="8988552" y="8119872"/>
            <a:ext cx="658368" cy="457200"/>
          </a:xfrm>
          <a:prstGeom prst="rect">
            <a:avLst/>
          </a:prstGeom>
          <a:noFill/>
          <a:ln/>
        </p:spPr>
        <p:txBody>
          <a:bodyPr wrap="square" lIns="0" tIns="0" rIns="0" bIns="0" rtlCol="0" anchor="ctr"/>
          <a:lstStyle/>
          <a:p>
            <a:pPr indent="0" marL="0">
              <a:buNone/>
            </a:pPr>
            <a:r>
              <a:rPr lang="en-US" sz="1050" dirty="0">
                <a:solidFill>
                  <a:srgbClr val="F7C6DC"/>
                </a:solidFill>
                <a:latin typeface="Arial" pitchFamily="34" charset="0"/>
                <a:ea typeface="Arial" pitchFamily="34" charset="-122"/>
                <a:cs typeface="Arial" pitchFamily="34" charset="-120"/>
              </a:rPr>
              <a:t>cost + market</a:t>
            </a:r>
            <a:endParaRPr lang="en-US" sz="1050" dirty="0"/>
          </a:p>
        </p:txBody>
      </p:sp>
      <p:sp>
        <p:nvSpPr>
          <p:cNvPr id="171" name="Shape 121"/>
          <p:cNvSpPr/>
          <p:nvPr/>
        </p:nvSpPr>
        <p:spPr>
          <a:xfrm>
            <a:off x="9738360" y="8211312"/>
            <a:ext cx="676656" cy="274320"/>
          </a:xfrm>
          <a:prstGeom prst="roundRect">
            <a:avLst>
              <a:gd name="adj" fmla="val 26667"/>
            </a:avLst>
          </a:prstGeom>
          <a:solidFill>
            <a:srgbClr val="FFFFFF"/>
          </a:solidFill>
          <a:ln w="12700">
            <a:solidFill>
              <a:srgbClr val="FFFFFF"/>
            </a:solidFill>
            <a:prstDash val="solid"/>
          </a:ln>
        </p:spPr>
      </p:sp>
      <p:sp>
        <p:nvSpPr>
          <p:cNvPr id="172" name="Text 122"/>
          <p:cNvSpPr txBox="1"/>
          <p:nvPr/>
        </p:nvSpPr>
        <p:spPr>
          <a:xfrm>
            <a:off x="9738360" y="8211312"/>
            <a:ext cx="676656" cy="274320"/>
          </a:xfrm>
          <a:prstGeom prst="rect">
            <a:avLst/>
          </a:prstGeom>
          <a:noFill/>
          <a:ln/>
        </p:spPr>
        <p:txBody>
          <a:bodyPr wrap="square" lIns="0" tIns="0" rIns="0" bIns="0" rtlCol="0" anchor="ctr"/>
          <a:lstStyle/>
          <a:p>
            <a:pPr algn="ctr" indent="0" marL="0">
              <a:buNone/>
            </a:pPr>
            <a:r>
              <a:rPr lang="en-US" sz="1200" b="1" dirty="0">
                <a:solidFill>
                  <a:srgbClr val="4B1248"/>
                </a:solidFill>
                <a:latin typeface="Arial" pitchFamily="34" charset="0"/>
                <a:ea typeface="Arial" pitchFamily="34" charset="-122"/>
                <a:cs typeface="Arial" pitchFamily="34" charset="-120"/>
              </a:rPr>
              <a:t>Yes</a:t>
            </a:r>
            <a:endParaRPr lang="en-US" sz="1200" dirty="0"/>
          </a:p>
        </p:txBody>
      </p:sp>
      <p:sp>
        <p:nvSpPr>
          <p:cNvPr id="173" name="Text 123"/>
          <p:cNvSpPr txBox="1"/>
          <p:nvPr/>
        </p:nvSpPr>
        <p:spPr>
          <a:xfrm>
            <a:off x="10469880" y="8119872"/>
            <a:ext cx="658368" cy="457200"/>
          </a:xfrm>
          <a:prstGeom prst="rect">
            <a:avLst/>
          </a:prstGeom>
          <a:noFill/>
          <a:ln/>
        </p:spPr>
        <p:txBody>
          <a:bodyPr wrap="square" lIns="0" tIns="0" rIns="0" bIns="0" rtlCol="0" anchor="ctr"/>
          <a:lstStyle/>
          <a:p>
            <a:pPr indent="0" marL="0">
              <a:buNone/>
            </a:pPr>
            <a:r>
              <a:rPr lang="en-US" sz="1050" dirty="0">
                <a:solidFill>
                  <a:srgbClr val="F7C6DC"/>
                </a:solidFill>
                <a:latin typeface="Arial" pitchFamily="34" charset="0"/>
                <a:ea typeface="Arial" pitchFamily="34" charset="-122"/>
                <a:cs typeface="Arial" pitchFamily="34" charset="-120"/>
              </a:rPr>
              <a:t>all three</a:t>
            </a:r>
            <a:endParaRPr lang="en-US" sz="1050" dirty="0"/>
          </a:p>
        </p:txBody>
      </p:sp>
      <p:sp>
        <p:nvSpPr>
          <p:cNvPr id="174" name="Shape 124"/>
          <p:cNvSpPr/>
          <p:nvPr/>
        </p:nvSpPr>
        <p:spPr>
          <a:xfrm>
            <a:off x="11219688" y="8211312"/>
            <a:ext cx="676656" cy="274320"/>
          </a:xfrm>
          <a:prstGeom prst="roundRect">
            <a:avLst>
              <a:gd name="adj" fmla="val 26667"/>
            </a:avLst>
          </a:prstGeom>
          <a:solidFill>
            <a:srgbClr val="FFFFFF"/>
          </a:solidFill>
          <a:ln w="12700">
            <a:solidFill>
              <a:srgbClr val="FFFFFF"/>
            </a:solidFill>
            <a:prstDash val="solid"/>
          </a:ln>
        </p:spPr>
      </p:sp>
      <p:sp>
        <p:nvSpPr>
          <p:cNvPr id="175" name="Text 125"/>
          <p:cNvSpPr txBox="1"/>
          <p:nvPr/>
        </p:nvSpPr>
        <p:spPr>
          <a:xfrm>
            <a:off x="11219688" y="8211312"/>
            <a:ext cx="676656" cy="274320"/>
          </a:xfrm>
          <a:prstGeom prst="rect">
            <a:avLst/>
          </a:prstGeom>
          <a:noFill/>
          <a:ln/>
        </p:spPr>
        <p:txBody>
          <a:bodyPr wrap="square" lIns="0" tIns="0" rIns="0" bIns="0" rtlCol="0" anchor="ctr"/>
          <a:lstStyle/>
          <a:p>
            <a:pPr algn="ctr" indent="0" marL="0">
              <a:buNone/>
            </a:pPr>
            <a:r>
              <a:rPr lang="en-US" sz="1200" b="1" dirty="0">
                <a:solidFill>
                  <a:srgbClr val="4B1248"/>
                </a:solidFill>
                <a:latin typeface="Arial" pitchFamily="34" charset="0"/>
                <a:ea typeface="Arial" pitchFamily="34" charset="-122"/>
                <a:cs typeface="Arial" pitchFamily="34" charset="-120"/>
              </a:rPr>
              <a:t>Yes</a:t>
            </a:r>
            <a:endParaRPr lang="en-US" sz="1200" dirty="0"/>
          </a:p>
        </p:txBody>
      </p:sp>
      <p:sp>
        <p:nvSpPr>
          <p:cNvPr id="176" name="Text 126"/>
          <p:cNvSpPr txBox="1"/>
          <p:nvPr/>
        </p:nvSpPr>
        <p:spPr>
          <a:xfrm>
            <a:off x="11951208" y="8119872"/>
            <a:ext cx="658368" cy="457200"/>
          </a:xfrm>
          <a:prstGeom prst="rect">
            <a:avLst/>
          </a:prstGeom>
          <a:noFill/>
          <a:ln/>
        </p:spPr>
        <p:txBody>
          <a:bodyPr wrap="square" lIns="0" tIns="0" rIns="0" bIns="0" rtlCol="0" anchor="ctr"/>
          <a:lstStyle/>
          <a:p>
            <a:pPr indent="0" marL="0">
              <a:buNone/>
            </a:pPr>
            <a:r>
              <a:rPr lang="en-US" sz="1050" dirty="0">
                <a:solidFill>
                  <a:srgbClr val="F7C6DC"/>
                </a:solidFill>
                <a:latin typeface="Arial" pitchFamily="34" charset="0"/>
                <a:ea typeface="Arial" pitchFamily="34" charset="-122"/>
                <a:cs typeface="Arial" pitchFamily="34" charset="-120"/>
              </a:rPr>
              <a:t>up or down + why</a:t>
            </a:r>
            <a:endParaRPr lang="en-US" sz="1050" dirty="0"/>
          </a:p>
        </p:txBody>
      </p:sp>
      <p:sp>
        <p:nvSpPr>
          <p:cNvPr id="177" name="Shape 127"/>
          <p:cNvSpPr/>
          <p:nvPr/>
        </p:nvSpPr>
        <p:spPr>
          <a:xfrm>
            <a:off x="12701016" y="8211312"/>
            <a:ext cx="676656" cy="274320"/>
          </a:xfrm>
          <a:prstGeom prst="roundRect">
            <a:avLst>
              <a:gd name="adj" fmla="val 26667"/>
            </a:avLst>
          </a:prstGeom>
          <a:solidFill>
            <a:srgbClr val="FFFFFF"/>
          </a:solidFill>
          <a:ln w="12700">
            <a:solidFill>
              <a:srgbClr val="FFFFFF"/>
            </a:solidFill>
            <a:prstDash val="solid"/>
          </a:ln>
        </p:spPr>
      </p:sp>
      <p:sp>
        <p:nvSpPr>
          <p:cNvPr id="178" name="Text 128"/>
          <p:cNvSpPr txBox="1"/>
          <p:nvPr/>
        </p:nvSpPr>
        <p:spPr>
          <a:xfrm>
            <a:off x="12701016" y="8211312"/>
            <a:ext cx="676656" cy="274320"/>
          </a:xfrm>
          <a:prstGeom prst="rect">
            <a:avLst/>
          </a:prstGeom>
          <a:noFill/>
          <a:ln/>
        </p:spPr>
        <p:txBody>
          <a:bodyPr wrap="square" lIns="0" tIns="0" rIns="0" bIns="0" rtlCol="0" anchor="ctr"/>
          <a:lstStyle/>
          <a:p>
            <a:pPr algn="ctr" indent="0" marL="0">
              <a:buNone/>
            </a:pPr>
            <a:r>
              <a:rPr lang="en-US" sz="1200" b="1" dirty="0">
                <a:solidFill>
                  <a:srgbClr val="4B1248"/>
                </a:solidFill>
                <a:latin typeface="Arial" pitchFamily="34" charset="0"/>
                <a:ea typeface="Arial" pitchFamily="34" charset="-122"/>
                <a:cs typeface="Arial" pitchFamily="34" charset="-120"/>
              </a:rPr>
              <a:t>Yes</a:t>
            </a:r>
            <a:endParaRPr lang="en-US" sz="1200" dirty="0"/>
          </a:p>
        </p:txBody>
      </p:sp>
      <p:sp>
        <p:nvSpPr>
          <p:cNvPr id="179" name="Text 129"/>
          <p:cNvSpPr txBox="1"/>
          <p:nvPr/>
        </p:nvSpPr>
        <p:spPr>
          <a:xfrm>
            <a:off x="13432536" y="8119872"/>
            <a:ext cx="658368" cy="457200"/>
          </a:xfrm>
          <a:prstGeom prst="rect">
            <a:avLst/>
          </a:prstGeom>
          <a:noFill/>
          <a:ln/>
        </p:spPr>
        <p:txBody>
          <a:bodyPr wrap="square" lIns="0" tIns="0" rIns="0" bIns="0" rtlCol="0" anchor="ctr"/>
          <a:lstStyle/>
          <a:p>
            <a:pPr indent="0" marL="0">
              <a:buNone/>
            </a:pPr>
            <a:r>
              <a:rPr lang="en-US" sz="1050" dirty="0">
                <a:solidFill>
                  <a:srgbClr val="F7C6DC"/>
                </a:solidFill>
                <a:latin typeface="Arial" pitchFamily="34" charset="0"/>
                <a:ea typeface="Arial" pitchFamily="34" charset="-122"/>
                <a:cs typeface="Arial" pitchFamily="34" charset="-120"/>
              </a:rPr>
              <a:t>seller's profit</a:t>
            </a:r>
            <a:endParaRPr lang="en-US" sz="1050" dirty="0"/>
          </a:p>
        </p:txBody>
      </p:sp>
      <p:pic>
        <p:nvPicPr>
          <p:cNvPr id="180" name="Image 48" descr="dot_full.png">    </p:cNvPr>
          <p:cNvPicPr>
            <a:picLocks noChangeAspect="1"/>
          </p:cNvPicPr>
          <p:nvPr/>
        </p:nvPicPr>
        <p:blipFill>
          <a:blip r:embed="rId50"/>
          <a:stretch>
            <a:fillRect/>
          </a:stretch>
        </p:blipFill>
        <p:spPr>
          <a:xfrm>
            <a:off x="731520" y="8732520"/>
            <a:ext cx="219456" cy="219456"/>
          </a:xfrm>
          <a:prstGeom prst="rect">
            <a:avLst/>
          </a:prstGeom>
        </p:spPr>
      </p:pic>
      <p:sp>
        <p:nvSpPr>
          <p:cNvPr id="181" name="Text 130"/>
          <p:cNvSpPr txBox="1"/>
          <p:nvPr/>
        </p:nvSpPr>
        <p:spPr>
          <a:xfrm>
            <a:off x="1024128" y="8668512"/>
            <a:ext cx="2743200" cy="347472"/>
          </a:xfrm>
          <a:prstGeom prst="rect">
            <a:avLst/>
          </a:prstGeom>
          <a:noFill/>
          <a:ln/>
        </p:spPr>
        <p:txBody>
          <a:bodyPr wrap="square" lIns="0" tIns="0" rIns="0" bIns="0" rtlCol="0" anchor="ctr"/>
          <a:lstStyle/>
          <a:p>
            <a:pPr indent="0" marL="0">
              <a:buNone/>
            </a:pPr>
            <a:r>
              <a:rPr lang="en-US" sz="1200" dirty="0">
                <a:solidFill>
                  <a:srgbClr val="67516B"/>
                </a:solidFill>
                <a:latin typeface="Arial" pitchFamily="34" charset="0"/>
                <a:ea typeface="Arial" pitchFamily="34" charset="-122"/>
                <a:cs typeface="Arial" pitchFamily="34" charset="-120"/>
              </a:rPr>
              <a:t>Documented in public sources</a:t>
            </a:r>
            <a:endParaRPr lang="en-US" sz="1200" dirty="0"/>
          </a:p>
        </p:txBody>
      </p:sp>
      <p:pic>
        <p:nvPicPr>
          <p:cNvPr id="182" name="Image 49" descr="dot_half.png">    </p:cNvPr>
          <p:cNvPicPr>
            <a:picLocks noChangeAspect="1"/>
          </p:cNvPicPr>
          <p:nvPr/>
        </p:nvPicPr>
        <p:blipFill>
          <a:blip r:embed="rId51"/>
          <a:stretch>
            <a:fillRect/>
          </a:stretch>
        </p:blipFill>
        <p:spPr>
          <a:xfrm>
            <a:off x="3840480" y="8732520"/>
            <a:ext cx="219456" cy="219456"/>
          </a:xfrm>
          <a:prstGeom prst="rect">
            <a:avLst/>
          </a:prstGeom>
        </p:spPr>
      </p:pic>
      <p:sp>
        <p:nvSpPr>
          <p:cNvPr id="183" name="Text 131"/>
          <p:cNvSpPr txBox="1"/>
          <p:nvPr/>
        </p:nvSpPr>
        <p:spPr>
          <a:xfrm>
            <a:off x="4133088" y="8668512"/>
            <a:ext cx="2743200" cy="347472"/>
          </a:xfrm>
          <a:prstGeom prst="rect">
            <a:avLst/>
          </a:prstGeom>
          <a:noFill/>
          <a:ln/>
        </p:spPr>
        <p:txBody>
          <a:bodyPr wrap="square" lIns="0" tIns="0" rIns="0" bIns="0" rtlCol="0" anchor="ctr"/>
          <a:lstStyle/>
          <a:p>
            <a:pPr indent="0" marL="0">
              <a:buNone/>
            </a:pPr>
            <a:r>
              <a:rPr lang="en-US" sz="1200" dirty="0">
                <a:solidFill>
                  <a:srgbClr val="67516B"/>
                </a:solidFill>
                <a:latin typeface="Arial" pitchFamily="34" charset="0"/>
                <a:ea typeface="Arial" pitchFamily="34" charset="-122"/>
                <a:cs typeface="Arial" pitchFamily="34" charset="-120"/>
              </a:rPr>
              <a:t>Partial or indirect</a:t>
            </a:r>
            <a:endParaRPr lang="en-US" sz="1200" dirty="0"/>
          </a:p>
        </p:txBody>
      </p:sp>
      <p:pic>
        <p:nvPicPr>
          <p:cNvPr id="184" name="Image 50" descr="dot_ring.png">    </p:cNvPr>
          <p:cNvPicPr>
            <a:picLocks noChangeAspect="1"/>
          </p:cNvPicPr>
          <p:nvPr/>
        </p:nvPicPr>
        <p:blipFill>
          <a:blip r:embed="rId52"/>
          <a:stretch>
            <a:fillRect/>
          </a:stretch>
        </p:blipFill>
        <p:spPr>
          <a:xfrm>
            <a:off x="6976872" y="8759952"/>
            <a:ext cx="164592" cy="164592"/>
          </a:xfrm>
          <a:prstGeom prst="rect">
            <a:avLst/>
          </a:prstGeom>
        </p:spPr>
      </p:pic>
      <p:sp>
        <p:nvSpPr>
          <p:cNvPr id="185" name="Text 132"/>
          <p:cNvSpPr txBox="1"/>
          <p:nvPr/>
        </p:nvSpPr>
        <p:spPr>
          <a:xfrm>
            <a:off x="7242048" y="8668512"/>
            <a:ext cx="2743200" cy="347472"/>
          </a:xfrm>
          <a:prstGeom prst="rect">
            <a:avLst/>
          </a:prstGeom>
          <a:noFill/>
          <a:ln/>
        </p:spPr>
        <p:txBody>
          <a:bodyPr wrap="square" lIns="0" tIns="0" rIns="0" bIns="0" rtlCol="0" anchor="ctr"/>
          <a:lstStyle/>
          <a:p>
            <a:pPr indent="0" marL="0">
              <a:buNone/>
            </a:pPr>
            <a:r>
              <a:rPr lang="en-US" sz="1200" dirty="0">
                <a:solidFill>
                  <a:srgbClr val="67516B"/>
                </a:solidFill>
                <a:latin typeface="Arial" pitchFamily="34" charset="0"/>
                <a:ea typeface="Arial" pitchFamily="34" charset="-122"/>
                <a:cs typeface="Arial" pitchFamily="34" charset="-120"/>
              </a:rPr>
              <a:t>Not public (may exist, can't confirm)</a:t>
            </a:r>
            <a:endParaRPr lang="en-US" sz="1200" dirty="0"/>
          </a:p>
        </p:txBody>
      </p:sp>
      <p:sp>
        <p:nvSpPr>
          <p:cNvPr id="186" name="Shape 133"/>
          <p:cNvSpPr/>
          <p:nvPr/>
        </p:nvSpPr>
        <p:spPr>
          <a:xfrm>
            <a:off x="14401800" y="3886200"/>
            <a:ext cx="3154680" cy="1691640"/>
          </a:xfrm>
          <a:prstGeom prst="roundRect">
            <a:avLst>
              <a:gd name="adj" fmla="val 6486"/>
            </a:avLst>
          </a:prstGeom>
          <a:solidFill>
            <a:srgbClr val="4B1248"/>
          </a:solidFill>
          <a:ln w="12700">
            <a:solidFill>
              <a:srgbClr val="4B1248"/>
            </a:solidFill>
            <a:prstDash val="solid"/>
          </a:ln>
        </p:spPr>
      </p:sp>
      <p:sp>
        <p:nvSpPr>
          <p:cNvPr id="187" name="Text 134"/>
          <p:cNvSpPr txBox="1"/>
          <p:nvPr/>
        </p:nvSpPr>
        <p:spPr>
          <a:xfrm>
            <a:off x="14630400" y="3977640"/>
            <a:ext cx="2697480" cy="1508760"/>
          </a:xfrm>
          <a:prstGeom prst="rect">
            <a:avLst/>
          </a:prstGeom>
          <a:noFill/>
          <a:ln/>
        </p:spPr>
        <p:txBody>
          <a:bodyPr wrap="square" lIns="0" tIns="0" rIns="0" bIns="0" rtlCol="0" anchor="ctr"/>
          <a:lstStyle/>
          <a:p>
            <a:pPr indent="0" marL="0">
              <a:spcAft>
                <a:spcPts val="600"/>
              </a:spcAft>
              <a:buNone/>
            </a:pPr>
            <a:r>
              <a:rPr lang="en-US" sz="1700" b="1" dirty="0">
                <a:solidFill>
                  <a:srgbClr val="FFFFFF"/>
                </a:solidFill>
                <a:latin typeface="Arial" pitchFamily="34" charset="0"/>
                <a:ea typeface="Arial" pitchFamily="34" charset="-122"/>
                <a:cs typeface="Arial" pitchFamily="34" charset="-120"/>
              </a:rPr>
              <a:t>The gap</a:t>
            </a:r>
            <a:endParaRPr lang="en-US" sz="1700" dirty="0"/>
          </a:p>
          <a:p>
            <a:pPr indent="0" marL="0">
              <a:buNone/>
            </a:pPr>
            <a:r>
              <a:rPr lang="en-US" sz="1400" dirty="0">
                <a:solidFill>
                  <a:srgbClr val="FFFFFF"/>
                </a:solidFill>
                <a:latin typeface="Arial" pitchFamily="34" charset="0"/>
                <a:ea typeface="Arial" pitchFamily="34" charset="-122"/>
                <a:cs typeface="Arial" pitchFamily="34" charset="-120"/>
              </a:rPr>
              <a:t>In the public sources we found, no tool prices a new product on its full cost, with returns, RTO and GST included. Three use cost only partly.</a:t>
            </a:r>
            <a:endParaRPr lang="en-US" sz="1700" dirty="0"/>
          </a:p>
        </p:txBody>
      </p:sp>
      <p:sp>
        <p:nvSpPr>
          <p:cNvPr id="188" name="Shape 135"/>
          <p:cNvSpPr/>
          <p:nvPr/>
        </p:nvSpPr>
        <p:spPr>
          <a:xfrm>
            <a:off x="14401800" y="5742432"/>
            <a:ext cx="3154680" cy="2377440"/>
          </a:xfrm>
          <a:prstGeom prst="roundRect">
            <a:avLst>
              <a:gd name="adj" fmla="val 4615"/>
            </a:avLst>
          </a:prstGeom>
          <a:solidFill>
            <a:srgbClr val="F6EEF7"/>
          </a:solidFill>
          <a:ln w="12700">
            <a:solidFill>
              <a:srgbClr val="F6EEF7"/>
            </a:solidFill>
            <a:prstDash val="solid"/>
          </a:ln>
        </p:spPr>
      </p:sp>
      <p:sp>
        <p:nvSpPr>
          <p:cNvPr id="189" name="Text 136"/>
          <p:cNvSpPr txBox="1"/>
          <p:nvPr/>
        </p:nvSpPr>
        <p:spPr>
          <a:xfrm>
            <a:off x="14630400" y="5852160"/>
            <a:ext cx="2697480" cy="2194560"/>
          </a:xfrm>
          <a:prstGeom prst="rect">
            <a:avLst/>
          </a:prstGeom>
          <a:noFill/>
          <a:ln/>
        </p:spPr>
        <p:txBody>
          <a:bodyPr wrap="square" lIns="0" tIns="0" rIns="0" bIns="0" rtlCol="0" anchor="t"/>
          <a:lstStyle/>
          <a:p>
            <a:pPr indent="0" marL="0">
              <a:spcAft>
                <a:spcPts val="600"/>
              </a:spcAft>
              <a:buNone/>
            </a:pPr>
            <a:r>
              <a:rPr lang="en-US" sz="1600" b="1" dirty="0">
                <a:solidFill>
                  <a:srgbClr val="4B1248"/>
                </a:solidFill>
                <a:latin typeface="Arial" pitchFamily="34" charset="0"/>
                <a:ea typeface="Arial" pitchFamily="34" charset="-122"/>
                <a:cs typeface="Arial" pitchFamily="34" charset="-120"/>
              </a:rPr>
              <a:t>Ideas we borrow</a:t>
            </a:r>
            <a:endParaRPr lang="en-US" sz="1600" dirty="0"/>
          </a:p>
          <a:p>
            <a:pPr marL="203200" indent="-203200">
              <a:spcAft>
                <a:spcPts val="500"/>
              </a:spcAft>
              <a:buSzPct val="100000"/>
              <a:buChar char="•"/>
            </a:pPr>
            <a:r>
              <a:rPr lang="en-US" sz="1350" dirty="0">
                <a:solidFill>
                  <a:srgbClr val="2A0B2F"/>
                </a:solidFill>
                <a:latin typeface="Arial" pitchFamily="34" charset="0"/>
                <a:ea typeface="Arial" pitchFamily="34" charset="-122"/>
                <a:cs typeface="Arial" pitchFamily="34" charset="-120"/>
              </a:rPr>
              <a:t>Amazon: a minimum price, crossed only on purpose (our launch investment)</a:t>
            </a:r>
            <a:endParaRPr lang="en-US" sz="1600" dirty="0"/>
          </a:p>
          <a:p>
            <a:pPr marL="203200" indent="-203200">
              <a:spcAft>
                <a:spcPts val="500"/>
              </a:spcAft>
              <a:buSzPct val="100000"/>
              <a:buChar char="•"/>
            </a:pPr>
            <a:r>
              <a:rPr lang="en-US" sz="1350" dirty="0">
                <a:solidFill>
                  <a:srgbClr val="2A0B2F"/>
                </a:solidFill>
                <a:latin typeface="Arial" pitchFamily="34" charset="0"/>
                <a:ea typeface="Arial" pitchFamily="34" charset="-122"/>
                <a:cs typeface="Arial" pitchFamily="34" charset="-120"/>
              </a:rPr>
              <a:t>eBay: a chance-of-sale view beside the price</a:t>
            </a:r>
            <a:endParaRPr lang="en-US" sz="1600" dirty="0"/>
          </a:p>
          <a:p>
            <a:pPr marL="203200" indent="-203200">
              <a:spcAft>
                <a:spcPts val="500"/>
              </a:spcAft>
              <a:buSzPct val="100000"/>
              <a:buChar char="•"/>
            </a:pPr>
            <a:r>
              <a:rPr lang="en-US" sz="1350" dirty="0">
                <a:solidFill>
                  <a:srgbClr val="2A0B2F"/>
                </a:solidFill>
                <a:latin typeface="Arial" pitchFamily="34" charset="0"/>
                <a:ea typeface="Arial" pitchFamily="34" charset="-122"/>
                <a:cs typeface="Arial" pitchFamily="34" charset="-120"/>
              </a:rPr>
              <a:t>Mercari: an alert when a price sits at its floor and doesn't sell</a:t>
            </a:r>
            <a:endParaRPr lang="en-US" sz="1600" dirty="0"/>
          </a:p>
        </p:txBody>
      </p:sp>
      <p:sp>
        <p:nvSpPr>
          <p:cNvPr id="190" name="Text 137"/>
          <p:cNvSpPr txBox="1"/>
          <p:nvPr/>
        </p:nvSpPr>
        <p:spPr>
          <a:xfrm>
            <a:off x="14401800" y="8183880"/>
            <a:ext cx="3154680" cy="804672"/>
          </a:xfrm>
          <a:prstGeom prst="rect">
            <a:avLst/>
          </a:prstGeom>
          <a:noFill/>
          <a:ln/>
        </p:spPr>
        <p:txBody>
          <a:bodyPr wrap="square" lIns="0" tIns="0" rIns="0" bIns="0" rtlCol="0" anchor="ctr"/>
          <a:lstStyle/>
          <a:p>
            <a:pPr indent="0" marL="0">
              <a:buNone/>
            </a:pPr>
            <a:r>
              <a:rPr lang="en-US" sz="1200" i="1" dirty="0">
                <a:solidFill>
                  <a:srgbClr val="67516B"/>
                </a:solidFill>
                <a:latin typeface="Arial" pitchFamily="34" charset="0"/>
                <a:ea typeface="Arial" pitchFamily="34" charset="-122"/>
                <a:cs typeface="Arial" pitchFamily="34" charset="-120"/>
              </a:rPr>
              <a:t>Where they lead: their models already run in production. Ours is a design that needs Meesho's order data and a pilot to prove it.</a:t>
            </a:r>
            <a:endParaRPr lang="en-US" sz="1200" dirty="0"/>
          </a:p>
        </p:txBody>
      </p:sp>
      <p:sp>
        <p:nvSpPr>
          <p:cNvPr id="191" name="Text 138"/>
          <p:cNvSpPr txBox="1"/>
          <p:nvPr/>
        </p:nvSpPr>
        <p:spPr>
          <a:xfrm>
            <a:off x="731520" y="9070848"/>
            <a:ext cx="16093440" cy="457200"/>
          </a:xfrm>
          <a:prstGeom prst="rect">
            <a:avLst/>
          </a:prstGeom>
          <a:noFill/>
          <a:ln/>
        </p:spPr>
        <p:txBody>
          <a:bodyPr wrap="square" lIns="0" tIns="0" rIns="0" bIns="0" rtlCol="0" anchor="ctr"/>
          <a:lstStyle/>
          <a:p>
            <a:pPr indent="0" marL="0">
              <a:buNone/>
            </a:pPr>
            <a:r>
              <a:rPr lang="en-US" sz="1050" b="1" dirty="0">
                <a:solidFill>
                  <a:srgbClr val="67516B"/>
                </a:solidFill>
                <a:latin typeface="Arial" pitchFamily="34" charset="0"/>
                <a:ea typeface="Arial" pitchFamily="34" charset="-122"/>
                <a:cs typeface="Arial" pitchFamily="34" charset="-120"/>
              </a:rPr>
              <a:t>[1] </a:t>
            </a:r>
            <a:pPr indent="0" marL="0">
              <a:buNone/>
            </a:pPr>
            <a:r>
              <a:rPr lang="en-US" sz="1050" u="sng" dirty="0">
                <a:solidFill>
                  <a:srgbClr val="67516B"/>
                </a:solidFill>
                <a:latin typeface="Arial" pitchFamily="34" charset="0"/>
                <a:ea typeface="Arial" pitchFamily="34" charset="-122"/>
                <a:cs typeface="Arial" pitchFamily="34" charset="-120"/>
                <a:hlinkClick r:id="rId53" invalidUrl="" action="" tgtFrame="" tooltip="" history="1" highlightClick="0" endSnd="0">
                  <a:extLst>
                    <a:ext uri="{A12FA001-AC4F-418D-AE19-62706E023703}">
                      <ahyp:hlinkClr xmlns:ahyp="http://schemas.microsoft.com/office/drawing/2018/hyperlinkcolor" val="tx"/>
                    </a:ext>
                  </a:extLst>
                </a:hlinkClick>
              </a:rPr>
              <a:t>Amazon Automate Pricing, seller forum</a:t>
            </a:r>
            <a:pPr indent="0" marL="0">
              <a:buNone/>
            </a:pPr>
            <a:r>
              <a:rPr lang="en-US" sz="1050" dirty="0">
                <a:solidFill>
                  <a:srgbClr val="67516B"/>
                </a:solidFill>
                <a:latin typeface="Arial" pitchFamily="34" charset="0"/>
                <a:ea typeface="Arial" pitchFamily="34" charset="-122"/>
                <a:cs typeface="Arial" pitchFamily="34" charset="-120"/>
              </a:rPr>
              <a:t>    </a:t>
            </a:r>
            <a:pPr indent="0" marL="0">
              <a:buNone/>
            </a:pPr>
            <a:r>
              <a:rPr lang="en-US" sz="1050" b="1" dirty="0">
                <a:solidFill>
                  <a:srgbClr val="67516B"/>
                </a:solidFill>
                <a:latin typeface="Arial" pitchFamily="34" charset="0"/>
                <a:ea typeface="Arial" pitchFamily="34" charset="-122"/>
                <a:cs typeface="Arial" pitchFamily="34" charset="-120"/>
              </a:rPr>
              <a:t>[2] </a:t>
            </a:r>
            <a:pPr indent="0" marL="0">
              <a:buNone/>
            </a:pPr>
            <a:r>
              <a:rPr lang="en-US" sz="1050" u="sng" dirty="0">
                <a:solidFill>
                  <a:srgbClr val="67516B"/>
                </a:solidFill>
                <a:latin typeface="Arial" pitchFamily="34" charset="0"/>
                <a:ea typeface="Arial" pitchFamily="34" charset="-122"/>
                <a:cs typeface="Arial" pitchFamily="34" charset="-120"/>
                <a:hlinkClick r:id="rId54" invalidUrl="" action="" tgtFrame="" tooltip="" history="1" highlightClick="0" endSnd="0">
                  <a:extLst>
                    <a:ext uri="{A12FA001-AC4F-418D-AE19-62706E023703}">
                      <ahyp:hlinkClr xmlns:ahyp="http://schemas.microsoft.com/office/drawing/2018/hyperlinkcolor" val="tx"/>
                    </a:ext>
                  </a:extLst>
                </a:hlinkClick>
              </a:rPr>
              <a:t>Meesho Tech blog: price recommendation</a:t>
            </a:r>
            <a:pPr indent="0" marL="0">
              <a:buNone/>
            </a:pPr>
            <a:r>
              <a:rPr lang="en-US" sz="1050" dirty="0">
                <a:solidFill>
                  <a:srgbClr val="67516B"/>
                </a:solidFill>
                <a:latin typeface="Arial" pitchFamily="34" charset="0"/>
                <a:ea typeface="Arial" pitchFamily="34" charset="-122"/>
                <a:cs typeface="Arial" pitchFamily="34" charset="-120"/>
              </a:rPr>
              <a:t>    </a:t>
            </a:r>
            <a:pPr indent="0" marL="0">
              <a:buNone/>
            </a:pPr>
            <a:r>
              <a:rPr lang="en-US" sz="1050" b="1" dirty="0">
                <a:solidFill>
                  <a:srgbClr val="67516B"/>
                </a:solidFill>
                <a:latin typeface="Arial" pitchFamily="34" charset="0"/>
                <a:ea typeface="Arial" pitchFamily="34" charset="-122"/>
                <a:cs typeface="Arial" pitchFamily="34" charset="-120"/>
              </a:rPr>
              <a:t>[3] </a:t>
            </a:r>
            <a:pPr indent="0" marL="0">
              <a:buNone/>
            </a:pPr>
            <a:r>
              <a:rPr lang="en-US" sz="1050" u="sng" dirty="0">
                <a:solidFill>
                  <a:srgbClr val="67516B"/>
                </a:solidFill>
                <a:latin typeface="Arial" pitchFamily="34" charset="0"/>
                <a:ea typeface="Arial" pitchFamily="34" charset="-122"/>
                <a:cs typeface="Arial" pitchFamily="34" charset="-120"/>
                <a:hlinkClick r:id="rId55" invalidUrl="" action="" tgtFrame="" tooltip="" history="1" highlightClick="0" endSnd="0">
                  <a:extLst>
                    <a:ext uri="{A12FA001-AC4F-418D-AE19-62706E023703}">
                      <ahyp:hlinkClr xmlns:ahyp="http://schemas.microsoft.com/office/drawing/2018/hyperlinkcolor" val="tx"/>
                    </a:ext>
                  </a:extLst>
                </a:hlinkClick>
              </a:rPr>
              <a:t>eBay price prediction talk (ZenML)</a:t>
            </a:r>
            <a:pPr indent="0" marL="0">
              <a:buNone/>
            </a:pPr>
            <a:r>
              <a:rPr lang="en-US" sz="1050" dirty="0">
                <a:solidFill>
                  <a:srgbClr val="67516B"/>
                </a:solidFill>
                <a:latin typeface="Arial" pitchFamily="34" charset="0"/>
                <a:ea typeface="Arial" pitchFamily="34" charset="-122"/>
                <a:cs typeface="Arial" pitchFamily="34" charset="-120"/>
              </a:rPr>
              <a:t>    </a:t>
            </a:r>
            <a:pPr indent="0" marL="0">
              <a:buNone/>
            </a:pPr>
            <a:r>
              <a:rPr lang="en-US" sz="1050" b="1" dirty="0">
                <a:solidFill>
                  <a:srgbClr val="67516B"/>
                </a:solidFill>
                <a:latin typeface="Arial" pitchFamily="34" charset="0"/>
                <a:ea typeface="Arial" pitchFamily="34" charset="-122"/>
                <a:cs typeface="Arial" pitchFamily="34" charset="-120"/>
              </a:rPr>
              <a:t>[4] </a:t>
            </a:r>
            <a:pPr indent="0" marL="0">
              <a:buNone/>
            </a:pPr>
            <a:r>
              <a:rPr lang="en-US" sz="1050" u="sng" dirty="0">
                <a:solidFill>
                  <a:srgbClr val="67516B"/>
                </a:solidFill>
                <a:latin typeface="Arial" pitchFamily="34" charset="0"/>
                <a:ea typeface="Arial" pitchFamily="34" charset="-122"/>
                <a:cs typeface="Arial" pitchFamily="34" charset="-120"/>
                <a:hlinkClick r:id="rId56" invalidUrl="" action="" tgtFrame="" tooltip="" history="1" highlightClick="0" endSnd="0">
                  <a:extLst>
                    <a:ext uri="{A12FA001-AC4F-418D-AE19-62706E023703}">
                      <ahyp:hlinkClr xmlns:ahyp="http://schemas.microsoft.com/office/drawing/2018/hyperlinkcolor" val="tx"/>
                    </a:ext>
                  </a:extLst>
                </a:hlinkClick>
              </a:rPr>
              <a:t>Mercari price challenge (Kaggle)</a:t>
            </a:r>
            <a:pPr indent="0" marL="0">
              <a:buNone/>
            </a:pPr>
            <a:r>
              <a:rPr lang="en-US" sz="1050" dirty="0">
                <a:solidFill>
                  <a:srgbClr val="67516B"/>
                </a:solidFill>
                <a:latin typeface="Arial" pitchFamily="34" charset="0"/>
                <a:ea typeface="Arial" pitchFamily="34" charset="-122"/>
                <a:cs typeface="Arial" pitchFamily="34" charset="-120"/>
              </a:rPr>
              <a:t>    </a:t>
            </a:r>
            <a:pPr indent="0" marL="0">
              <a:buNone/>
            </a:pPr>
            <a:r>
              <a:rPr lang="en-US" sz="1050" b="1" dirty="0">
                <a:solidFill>
                  <a:srgbClr val="67516B"/>
                </a:solidFill>
                <a:latin typeface="Arial" pitchFamily="34" charset="0"/>
                <a:ea typeface="Arial" pitchFamily="34" charset="-122"/>
                <a:cs typeface="Arial" pitchFamily="34" charset="-120"/>
              </a:rPr>
              <a:t>[5] </a:t>
            </a:r>
            <a:pPr indent="0" marL="0">
              <a:buNone/>
            </a:pPr>
            <a:r>
              <a:rPr lang="en-US" sz="1050" u="sng" dirty="0">
                <a:solidFill>
                  <a:srgbClr val="67516B"/>
                </a:solidFill>
                <a:latin typeface="Arial" pitchFamily="34" charset="0"/>
                <a:ea typeface="Arial" pitchFamily="34" charset="-122"/>
                <a:cs typeface="Arial" pitchFamily="34" charset="-120"/>
                <a:hlinkClick r:id="rId57" invalidUrl="" action="" tgtFrame="" tooltip="" history="1" highlightClick="0" endSnd="0">
                  <a:extLst>
                    <a:ext uri="{A12FA001-AC4F-418D-AE19-62706E023703}">
                      <ahyp:hlinkClr xmlns:ahyp="http://schemas.microsoft.com/office/drawing/2018/hyperlinkcolor" val="tx"/>
                    </a:ext>
                  </a:extLst>
                </a:hlinkClick>
              </a:rPr>
              <a:t>Airbnb dynamic pricing, KDD 2018</a:t>
            </a:r>
            <a:pPr indent="0" marL="0">
              <a:buNone/>
            </a:pPr>
            <a:r>
              <a:rPr lang="en-US" sz="1050" dirty="0">
                <a:solidFill>
                  <a:srgbClr val="67516B"/>
                </a:solidFill>
                <a:latin typeface="Arial" pitchFamily="34" charset="0"/>
                <a:ea typeface="Arial" pitchFamily="34" charset="-122"/>
                <a:cs typeface="Arial" pitchFamily="34" charset="-120"/>
              </a:rPr>
              <a:t>    </a:t>
            </a:r>
            <a:pPr indent="0" marL="0">
              <a:buNone/>
            </a:pPr>
            <a:r>
              <a:rPr lang="en-US" sz="1050" b="1" dirty="0">
                <a:solidFill>
                  <a:srgbClr val="67516B"/>
                </a:solidFill>
                <a:latin typeface="Arial" pitchFamily="34" charset="0"/>
                <a:ea typeface="Arial" pitchFamily="34" charset="-122"/>
                <a:cs typeface="Arial" pitchFamily="34" charset="-120"/>
              </a:rPr>
              <a:t>[6] </a:t>
            </a:r>
            <a:pPr indent="0" marL="0">
              <a:buNone/>
            </a:pPr>
            <a:r>
              <a:rPr lang="en-US" sz="1050" u="sng" dirty="0">
                <a:solidFill>
                  <a:srgbClr val="67516B"/>
                </a:solidFill>
                <a:latin typeface="Arial" pitchFamily="34" charset="0"/>
                <a:ea typeface="Arial" pitchFamily="34" charset="-122"/>
                <a:cs typeface="Arial" pitchFamily="34" charset="-120"/>
                <a:hlinkClick r:id="rId58" invalidUrl="" action="" tgtFrame="" tooltip="" history="1" highlightClick="0" endSnd="0">
                  <a:extLst>
                    <a:ext uri="{A12FA001-AC4F-418D-AE19-62706E023703}">
                      <ahyp:hlinkClr xmlns:ahyp="http://schemas.microsoft.com/office/drawing/2018/hyperlinkcolor" val="tx"/>
                    </a:ext>
                  </a:extLst>
                </a:hlinkClick>
              </a:rPr>
              <a:t>Flipkart Commerce Cloud (Chain Store Age)</a:t>
            </a:r>
            <a:pPr indent="0" marL="0">
              <a:buNone/>
            </a:pPr>
            <a:r>
              <a:rPr lang="en-US" sz="1050" dirty="0">
                <a:solidFill>
                  <a:srgbClr val="67516B"/>
                </a:solidFill>
                <a:latin typeface="Arial" pitchFamily="34" charset="0"/>
                <a:ea typeface="Arial" pitchFamily="34" charset="-122"/>
                <a:cs typeface="Arial" pitchFamily="34" charset="-120"/>
              </a:rPr>
              <a:t>    </a:t>
            </a:r>
            <a:pPr indent="0" marL="0">
              <a:buNone/>
            </a:pPr>
            <a:r>
              <a:rPr lang="en-US" sz="1050" b="1" dirty="0">
                <a:solidFill>
                  <a:srgbClr val="67516B"/>
                </a:solidFill>
                <a:latin typeface="Arial" pitchFamily="34" charset="0"/>
                <a:ea typeface="Arial" pitchFamily="34" charset="-122"/>
                <a:cs typeface="Arial" pitchFamily="34" charset="-120"/>
              </a:rPr>
              <a:t>[7] </a:t>
            </a:r>
            <a:pPr indent="0" marL="0">
              <a:buNone/>
            </a:pPr>
            <a:r>
              <a:rPr lang="en-US" sz="1050" u="sng" dirty="0">
                <a:solidFill>
                  <a:srgbClr val="67516B"/>
                </a:solidFill>
                <a:latin typeface="Arial" pitchFamily="34" charset="0"/>
                <a:ea typeface="Arial" pitchFamily="34" charset="-122"/>
                <a:cs typeface="Arial" pitchFamily="34" charset="-120"/>
                <a:hlinkClick r:id="rId59" invalidUrl="" action="" tgtFrame="" tooltip="" history="1" highlightClick="0" endSnd="0">
                  <a:extLst>
                    <a:ext uri="{A12FA001-AC4F-418D-AE19-62706E023703}">
                      <ahyp:hlinkClr xmlns:ahyp="http://schemas.microsoft.com/office/drawing/2018/hyperlinkcolor" val="tx"/>
                    </a:ext>
                  </a:extLst>
                </a:hlinkClick>
              </a:rPr>
              <a:t>Competera platform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indent="0" marL="0">
              <a:buNone/>
            </a:pPr>
            <a:r>
              <a:rPr lang="en-US" sz="3600" b="1" dirty="0">
                <a:solidFill>
                  <a:srgbClr val="4B1248"/>
                </a:solidFill>
                <a:latin typeface="Arial" pitchFamily="34" charset="0"/>
                <a:ea typeface="Arial" pitchFamily="34" charset="-122"/>
                <a:cs typeface="Arial" pitchFamily="34" charset="-120"/>
              </a:rPr>
              <a:t>Price Confidence: a pricing assistant inside the Supplier Panel</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indent="0" marL="0">
              <a:buNone/>
            </a:pPr>
            <a:r>
              <a:rPr lang="en-US" sz="1700" i="1" dirty="0">
                <a:solidFill>
                  <a:srgbClr val="67516B"/>
                </a:solidFill>
                <a:latin typeface="Arial" pitchFamily="34" charset="0"/>
                <a:ea typeface="Arial" pitchFamily="34" charset="-122"/>
                <a:cs typeface="Arial" pitchFamily="34" charset="-120"/>
              </a:rPr>
              <a:t>Meesho's price recommendation already answers “what will sell”; we add “will it make money, and when should it move?”</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indent="0" marL="0">
              <a:buNone/>
            </a:pPr>
            <a:r>
              <a:rPr lang="en-US" sz="1200" dirty="0">
                <a:solidFill>
                  <a:srgbClr val="67516B"/>
                </a:solidFill>
                <a:latin typeface="Arial" pitchFamily="34" charset="0"/>
                <a:ea typeface="Arial" pitchFamily="34" charset="-122"/>
                <a:cs typeface="Arial" pitchFamily="34" charset="-120"/>
              </a:rPr>
              <a:t>Source: </a:t>
            </a:r>
            <a:pPr indent="0" marL="0">
              <a:buNone/>
            </a:pPr>
            <a:r>
              <a:rPr lang="en-US" sz="1200" u="sng" dirty="0">
                <a:solidFill>
                  <a:srgbClr val="67516B"/>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Meesho Tech blog on Price Recommendation</a:t>
            </a:r>
            <a:pPr indent="0" marL="0">
              <a:buNone/>
            </a:pPr>
            <a:r>
              <a:rPr lang="en-US" sz="1200" dirty="0">
                <a:solidFill>
                  <a:srgbClr val="67516B"/>
                </a:solidFill>
                <a:latin typeface="Arial" pitchFamily="34" charset="0"/>
                <a:ea typeface="Arial" pitchFamily="34" charset="-122"/>
                <a:cs typeface="Arial" pitchFamily="34" charset="-120"/>
              </a:rPr>
              <a:t> (image and text matching). Right: the team's demo video; click the picture, the button or scan the code.</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8</a:t>
            </a:r>
            <a:endParaRPr lang="en-US" sz="1200" dirty="0"/>
          </a:p>
        </p:txBody>
      </p:sp>
      <p:sp>
        <p:nvSpPr>
          <p:cNvPr id="6" name="Shape 4"/>
          <p:cNvSpPr/>
          <p:nvPr/>
        </p:nvSpPr>
        <p:spPr>
          <a:xfrm>
            <a:off x="731520" y="3886200"/>
            <a:ext cx="7406640" cy="1005840"/>
          </a:xfrm>
          <a:prstGeom prst="roundRect">
            <a:avLst>
              <a:gd name="adj" fmla="val 10909"/>
            </a:avLst>
          </a:prstGeom>
          <a:solidFill>
            <a:srgbClr val="F6EEF7"/>
          </a:solidFill>
          <a:ln w="12700">
            <a:solidFill>
              <a:srgbClr val="F6EEF7"/>
            </a:solidFill>
            <a:prstDash val="solid"/>
          </a:ln>
        </p:spPr>
      </p:sp>
      <p:sp>
        <p:nvSpPr>
          <p:cNvPr id="7" name="Text 5"/>
          <p:cNvSpPr txBox="1"/>
          <p:nvPr/>
        </p:nvSpPr>
        <p:spPr>
          <a:xfrm>
            <a:off x="1005840" y="3886200"/>
            <a:ext cx="6858000" cy="1005840"/>
          </a:xfrm>
          <a:prstGeom prst="rect">
            <a:avLst/>
          </a:prstGeom>
          <a:noFill/>
          <a:ln/>
        </p:spPr>
        <p:txBody>
          <a:bodyPr wrap="square" lIns="0" tIns="0" rIns="0" bIns="0" rtlCol="0" anchor="ctr"/>
          <a:lstStyle/>
          <a:p>
            <a:pPr indent="0" marL="0">
              <a:spcAft>
                <a:spcPts val="400"/>
              </a:spcAft>
              <a:buNone/>
            </a:pPr>
            <a:r>
              <a:rPr lang="en-US" sz="1600" b="1" dirty="0">
                <a:solidFill>
                  <a:srgbClr val="4B1248"/>
                </a:solidFill>
                <a:latin typeface="Arial" pitchFamily="34" charset="0"/>
                <a:ea typeface="Arial" pitchFamily="34" charset="-122"/>
                <a:cs typeface="Arial" pitchFamily="34" charset="-120"/>
              </a:rPr>
              <a:t>Today: Price Recommendation</a:t>
            </a:r>
            <a:endParaRPr lang="en-US" sz="1600" dirty="0"/>
          </a:p>
          <a:p>
            <a:pPr indent="0" marL="0">
              <a:spcAft>
                <a:spcPts val="400"/>
              </a:spcAft>
              <a:buNone/>
            </a:pPr>
            <a:r>
              <a:rPr lang="en-US" sz="1450" dirty="0">
                <a:solidFill>
                  <a:srgbClr val="2A0B2F"/>
                </a:solidFill>
                <a:latin typeface="Arial" pitchFamily="34" charset="0"/>
                <a:ea typeface="Arial" pitchFamily="34" charset="-122"/>
                <a:cs typeface="Arial" pitchFamily="34" charset="-120"/>
              </a:rPr>
              <a:t>Finds identical listings by image and text, and suggests a competitive price.</a:t>
            </a:r>
            <a:endParaRPr lang="en-US" sz="1600" dirty="0"/>
          </a:p>
        </p:txBody>
      </p:sp>
      <p:sp>
        <p:nvSpPr>
          <p:cNvPr id="8" name="Shape 6"/>
          <p:cNvSpPr/>
          <p:nvPr/>
        </p:nvSpPr>
        <p:spPr>
          <a:xfrm>
            <a:off x="731520" y="5029200"/>
            <a:ext cx="7406640" cy="1874520"/>
          </a:xfrm>
          <a:prstGeom prst="roundRect">
            <a:avLst>
              <a:gd name="adj" fmla="val 5854"/>
            </a:avLst>
          </a:prstGeom>
          <a:solidFill>
            <a:srgbClr val="4B1248"/>
          </a:solidFill>
          <a:ln w="12700">
            <a:solidFill>
              <a:srgbClr val="4B1248"/>
            </a:solidFill>
            <a:prstDash val="solid"/>
          </a:ln>
        </p:spPr>
      </p:sp>
      <p:sp>
        <p:nvSpPr>
          <p:cNvPr id="9" name="Text 7"/>
          <p:cNvSpPr txBox="1"/>
          <p:nvPr/>
        </p:nvSpPr>
        <p:spPr>
          <a:xfrm>
            <a:off x="1005840" y="5102352"/>
            <a:ext cx="6858000" cy="1737360"/>
          </a:xfrm>
          <a:prstGeom prst="rect">
            <a:avLst/>
          </a:prstGeom>
          <a:noFill/>
          <a:ln/>
        </p:spPr>
        <p:txBody>
          <a:bodyPr wrap="square" lIns="0" tIns="0" rIns="0" bIns="0" rtlCol="0" anchor="ctr"/>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Price Confidence adds</a:t>
            </a:r>
            <a:endParaRPr lang="en-US" sz="1600" dirty="0"/>
          </a:p>
          <a:p>
            <a:pPr marL="203200" indent="-203200">
              <a:spcAft>
                <a:spcPts val="300"/>
              </a:spcAft>
              <a:buSzPct val="100000"/>
              <a:buChar char="•"/>
            </a:pPr>
            <a:r>
              <a:rPr lang="en-US" sz="1400" dirty="0">
                <a:solidFill>
                  <a:srgbClr val="FFFFFF"/>
                </a:solidFill>
                <a:latin typeface="Arial" pitchFamily="34" charset="0"/>
                <a:ea typeface="Arial" pitchFamily="34" charset="-122"/>
                <a:cs typeface="Arial" pitchFamily="34" charset="-120"/>
              </a:rPr>
              <a:t>The seller's own floor, with returns, RTO, COD and GST built in</a:t>
            </a:r>
            <a:endParaRPr lang="en-US" sz="1600" dirty="0"/>
          </a:p>
          <a:p>
            <a:pPr marL="203200" indent="-203200">
              <a:spcAft>
                <a:spcPts val="300"/>
              </a:spcAft>
              <a:buSzPct val="100000"/>
              <a:buChar char="•"/>
            </a:pPr>
            <a:r>
              <a:rPr lang="en-US" sz="1400" dirty="0">
                <a:solidFill>
                  <a:srgbClr val="FFFFFF"/>
                </a:solidFill>
                <a:latin typeface="Arial" pitchFamily="34" charset="0"/>
                <a:ea typeface="Arial" pitchFamily="34" charset="-122"/>
                <a:cs typeface="Arial" pitchFamily="34" charset="-120"/>
              </a:rPr>
              <a:t>A start price and range, with the reasons one tap away</a:t>
            </a:r>
            <a:endParaRPr lang="en-US" sz="1600" dirty="0"/>
          </a:p>
          <a:p>
            <a:pPr marL="203200" indent="-203200">
              <a:spcAft>
                <a:spcPts val="300"/>
              </a:spcAft>
              <a:buSzPct val="100000"/>
              <a:buChar char="•"/>
            </a:pPr>
            <a:r>
              <a:rPr lang="en-US" sz="1400" dirty="0">
                <a:solidFill>
                  <a:srgbClr val="FFFFFF"/>
                </a:solidFill>
                <a:latin typeface="Arial" pitchFamily="34" charset="0"/>
                <a:ea typeface="Arial" pitchFamily="34" charset="-122"/>
                <a:cs typeface="Arial" pitchFamily="34" charset="-120"/>
              </a:rPr>
              <a:t>A launch-lower planner tied to a loss budget, with a gentler above-floor option</a:t>
            </a:r>
            <a:endParaRPr lang="en-US" sz="1600" dirty="0"/>
          </a:p>
          <a:p>
            <a:pPr marL="203200" indent="-203200">
              <a:spcAft>
                <a:spcPts val="300"/>
              </a:spcAft>
              <a:buSzPct val="100000"/>
              <a:buChar char="•"/>
            </a:pPr>
            <a:r>
              <a:rPr lang="en-US" sz="1400" dirty="0">
                <a:solidFill>
                  <a:srgbClr val="FFFFFF"/>
                </a:solidFill>
                <a:latin typeface="Arial" pitchFamily="34" charset="0"/>
                <a:ea typeface="Arial" pitchFamily="34" charset="-122"/>
                <a:cs typeface="Arial" pitchFamily="34" charset="-120"/>
              </a:rPr>
              <a:t>Alerts when rating, returns, sales or costs change</a:t>
            </a:r>
            <a:endParaRPr lang="en-US" sz="1600" dirty="0"/>
          </a:p>
        </p:txBody>
      </p:sp>
      <p:sp>
        <p:nvSpPr>
          <p:cNvPr id="10" name="Text 8"/>
          <p:cNvSpPr txBox="1"/>
          <p:nvPr/>
        </p:nvSpPr>
        <p:spPr>
          <a:xfrm>
            <a:off x="731520" y="7022592"/>
            <a:ext cx="7406640" cy="365760"/>
          </a:xfrm>
          <a:prstGeom prst="rect">
            <a:avLst/>
          </a:prstGeom>
          <a:noFill/>
          <a:ln/>
        </p:spPr>
        <p:txBody>
          <a:bodyPr wrap="square" lIns="0" tIns="0" rIns="0" bIns="0" rtlCol="0" anchor="t"/>
          <a:lstStyle/>
          <a:p>
            <a:pPr indent="0" marL="0">
              <a:buNone/>
            </a:pPr>
            <a:r>
              <a:rPr lang="en-US" sz="1600" b="1" dirty="0">
                <a:solidFill>
                  <a:srgbClr val="4B1248"/>
                </a:solidFill>
                <a:latin typeface="Arial" pitchFamily="34" charset="0"/>
                <a:ea typeface="Arial" pitchFamily="34" charset="-122"/>
                <a:cs typeface="Arial" pitchFamily="34" charset="-120"/>
              </a:rPr>
              <a:t>How a seller uses it</a:t>
            </a:r>
            <a:endParaRPr lang="en-US" sz="1600" dirty="0"/>
          </a:p>
        </p:txBody>
      </p:sp>
      <p:sp>
        <p:nvSpPr>
          <p:cNvPr id="11" name="Text 9"/>
          <p:cNvSpPr txBox="1"/>
          <p:nvPr/>
        </p:nvSpPr>
        <p:spPr>
          <a:xfrm>
            <a:off x="731520" y="7388352"/>
            <a:ext cx="7406640" cy="173736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350" dirty="0">
                <a:solidFill>
                  <a:srgbClr val="2A0B2F"/>
                </a:solidFill>
                <a:latin typeface="Arial" pitchFamily="34" charset="0"/>
                <a:ea typeface="Arial" pitchFamily="34" charset="-122"/>
                <a:cs typeface="Arial" pitchFamily="34" charset="-120"/>
              </a:rPr>
              <a:t>Types the title, making cost and packaging; optionally a photo, free gift, listing checklist and loss budget</a:t>
            </a:r>
            <a:endParaRPr lang="en-US" sz="1350" dirty="0"/>
          </a:p>
          <a:p>
            <a:pPr marL="342900" indent="-342900">
              <a:spcAft>
                <a:spcPts val="300"/>
              </a:spcAft>
              <a:buSzPct val="100000"/>
              <a:buFont typeface="+mj-lt"/>
              <a:buAutoNum type="arabicPeriod" startAt="1"/>
            </a:pPr>
            <a:r>
              <a:rPr lang="en-US" sz="1350" dirty="0">
                <a:solidFill>
                  <a:srgbClr val="2A0B2F"/>
                </a:solidFill>
                <a:latin typeface="Arial" pitchFamily="34" charset="0"/>
                <a:ea typeface="Arial" pitchFamily="34" charset="-122"/>
                <a:cs typeface="Arial" pitchFamily="34" charset="-120"/>
              </a:rPr>
              <a:t>Meesho fills the rest: delivery fee, return and RTO rates, GST and today's market band</a:t>
            </a:r>
            <a:endParaRPr lang="en-US" sz="1350" dirty="0"/>
          </a:p>
          <a:p>
            <a:pPr marL="342900" indent="-342900">
              <a:spcAft>
                <a:spcPts val="300"/>
              </a:spcAft>
              <a:buSzPct val="100000"/>
              <a:buFont typeface="+mj-lt"/>
              <a:buAutoNum type="arabicPeriod" startAt="1"/>
            </a:pPr>
            <a:r>
              <a:rPr lang="en-US" sz="1350" dirty="0">
                <a:solidFill>
                  <a:srgbClr val="2A0B2F"/>
                </a:solidFill>
                <a:latin typeface="Arial" pitchFamily="34" charset="0"/>
                <a:ea typeface="Arial" pitchFamily="34" charset="-122"/>
                <a:cs typeface="Arial" pitchFamily="34" charset="-120"/>
              </a:rPr>
              <a:t>Sees start price, range and floor; taps open the bill, the reasons and the launch test</a:t>
            </a:r>
            <a:endParaRPr lang="en-US" sz="1350" dirty="0"/>
          </a:p>
          <a:p>
            <a:pPr marL="342900" indent="-342900">
              <a:spcAft>
                <a:spcPts val="300"/>
              </a:spcAft>
              <a:buSzPct val="100000"/>
              <a:buFont typeface="+mj-lt"/>
              <a:buAutoNum type="arabicPeriod" startAt="1"/>
            </a:pPr>
            <a:r>
              <a:rPr lang="en-US" sz="1350" dirty="0">
                <a:solidFill>
                  <a:srgbClr val="2A0B2F"/>
                </a:solidFill>
                <a:latin typeface="Arial" pitchFamily="34" charset="0"/>
                <a:ea typeface="Arial" pitchFamily="34" charset="-122"/>
                <a:cs typeface="Arial" pitchFamily="34" charset="-120"/>
              </a:rPr>
              <a:t>Gets alerts after launch, each with a suggested number</a:t>
            </a:r>
            <a:endParaRPr lang="en-US" sz="1350" dirty="0"/>
          </a:p>
        </p:txBody>
      </p:sp>
      <p:pic>
        <p:nvPicPr>
          <p:cNvPr id="12" name="Image 0" descr="Storyboard of the Price Confidence demo: start price, cost of one paid order, launch-at-a-loss test, no safe price. Click to watch.">
            <a:hlinkClick r:id="rId4" tooltip="Watch the demo video"/>
          </p:cNvPr>
          <p:cNvPicPr>
            <a:picLocks noChangeAspect="1"/>
          </p:cNvPicPr>
          <p:nvPr/>
        </p:nvPicPr>
        <p:blipFill>
          <a:blip r:embed="rId3"/>
          <a:stretch>
            <a:fillRect/>
          </a:stretch>
        </p:blipFill>
        <p:spPr>
          <a:xfrm>
            <a:off x="10241280" y="3886200"/>
            <a:ext cx="7315200" cy="4114800"/>
          </a:xfrm>
          <a:prstGeom prst="rect">
            <a:avLst/>
          </a:prstGeom>
        </p:spPr>
      </p:pic>
      <p:sp>
        <p:nvSpPr>
          <p:cNvPr id="13" name="Shape 10"/>
          <p:cNvSpPr/>
          <p:nvPr/>
        </p:nvSpPr>
        <p:spPr>
          <a:xfrm>
            <a:off x="10241280" y="3886200"/>
            <a:ext cx="7315200" cy="4114800"/>
          </a:xfrm>
          <a:prstGeom prst="rect">
            <a:avLst/>
          </a:prstGeom>
          <a:ln w="12700">
            <a:solidFill>
              <a:srgbClr val="E3D5E6"/>
            </a:solidFill>
            <a:prstDash val="solid"/>
          </a:ln>
        </p:spPr>
      </p:sp>
      <p:pic>
        <p:nvPicPr>
          <p:cNvPr id="14" name="Image 1" descr="Watch the demo video">
            <a:hlinkClick r:id="rId6" tooltip="Watch the demo video"/>
          </p:cNvPr>
          <p:cNvPicPr>
            <a:picLocks noChangeAspect="1"/>
          </p:cNvPicPr>
          <p:nvPr/>
        </p:nvPicPr>
        <p:blipFill>
          <a:blip r:embed="rId5"/>
          <a:stretch>
            <a:fillRect/>
          </a:stretch>
        </p:blipFill>
        <p:spPr>
          <a:xfrm>
            <a:off x="10241280" y="8229600"/>
            <a:ext cx="3474720" cy="566928"/>
          </a:xfrm>
          <a:prstGeom prst="rect">
            <a:avLst/>
          </a:prstGeom>
        </p:spPr>
      </p:pic>
      <p:sp>
        <p:nvSpPr>
          <p:cNvPr id="15" name="Text 11"/>
          <p:cNvSpPr txBox="1"/>
          <p:nvPr/>
        </p:nvSpPr>
        <p:spPr>
          <a:xfrm>
            <a:off x="10241280" y="8833104"/>
            <a:ext cx="5120640" cy="274320"/>
          </a:xfrm>
          <a:prstGeom prst="rect">
            <a:avLst/>
          </a:prstGeom>
          <a:noFill/>
          <a:ln/>
        </p:spPr>
        <p:txBody>
          <a:bodyPr wrap="square" lIns="0" tIns="0" rIns="0" bIns="0" rtlCol="0" anchor="ctr"/>
          <a:lstStyle/>
          <a:p>
            <a:pPr indent="0" marL="0">
              <a:buNone/>
            </a:pPr>
            <a:r>
              <a:rPr lang="en-US" sz="1050" u="sng" dirty="0">
                <a:solidFill>
                  <a:srgbClr val="67516B"/>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loom.com/share/c300fa0f2e26450d9860fd87da4de9cf</a:t>
            </a:r>
            <a:endParaRPr lang="en-US" sz="1050" dirty="0"/>
          </a:p>
        </p:txBody>
      </p:sp>
      <p:sp>
        <p:nvSpPr>
          <p:cNvPr id="16" name="Text 12"/>
          <p:cNvSpPr txBox="1"/>
          <p:nvPr/>
        </p:nvSpPr>
        <p:spPr>
          <a:xfrm>
            <a:off x="13670280" y="8275320"/>
            <a:ext cx="2834640" cy="566928"/>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Scan to watch on your phone</a:t>
            </a:r>
            <a:endParaRPr lang="en-US" sz="1200" dirty="0"/>
          </a:p>
        </p:txBody>
      </p:sp>
      <p:pic>
        <p:nvPicPr>
          <p:cNvPr id="17" name="Image 2" descr="QR code linking to the demo video">
            <a:hlinkClick r:id="rId9" tooltip=""/>
          </p:cNvPr>
          <p:cNvPicPr>
            <a:picLocks noChangeAspect="1"/>
          </p:cNvPicPr>
          <p:nvPr/>
        </p:nvPicPr>
        <p:blipFill>
          <a:blip r:embed="rId8"/>
          <a:stretch>
            <a:fillRect/>
          </a:stretch>
        </p:blipFill>
        <p:spPr>
          <a:xfrm>
            <a:off x="16642080" y="8138160"/>
            <a:ext cx="914400" cy="91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indent="0" marL="0">
              <a:buNone/>
            </a:pPr>
            <a:r>
              <a:rPr lang="en-US" sz="3600" b="1" dirty="0">
                <a:solidFill>
                  <a:srgbClr val="4B1248"/>
                </a:solidFill>
                <a:latin typeface="Arial" pitchFamily="34" charset="0"/>
                <a:ea typeface="Arial" pitchFamily="34" charset="-122"/>
                <a:cs typeface="Arial" pitchFamily="34" charset="-120"/>
              </a:rPr>
              <a:t>Under the hood: three models, trained to separate price from product quality</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indent="0" marL="0">
              <a:buNone/>
            </a:pPr>
            <a:r>
              <a:rPr lang="en-US" sz="1700" i="1" dirty="0">
                <a:solidFill>
                  <a:srgbClr val="67516B"/>
                </a:solidFill>
                <a:latin typeface="Arial" pitchFamily="34" charset="0"/>
                <a:ea typeface="Arial" pitchFamily="34" charset="-122"/>
                <a:cs typeface="Arial" pitchFamily="34" charset="-120"/>
              </a:rPr>
              <a:t>Demo trained on 300 synthetic listings (150 soap, 150 t-shirt): 7,627 listing-weeks and 28,639 reviews, Sep 2025 to Sep 2026</a:t>
            </a:r>
            <a:endParaRPr lang="en-US" sz="1700" dirty="0"/>
          </a:p>
        </p:txBody>
      </p:sp>
      <p:sp>
        <p:nvSpPr>
          <p:cNvPr id="4" name="Text 2"/>
          <p:cNvSpPr txBox="1"/>
          <p:nvPr/>
        </p:nvSpPr>
        <p:spPr>
          <a:xfrm>
            <a:off x="731520" y="9198864"/>
            <a:ext cx="15727680" cy="329184"/>
          </a:xfrm>
          <a:prstGeom prst="rect">
            <a:avLst/>
          </a:prstGeom>
          <a:noFill/>
          <a:ln/>
        </p:spPr>
        <p:txBody>
          <a:bodyPr wrap="square" lIns="0" tIns="0" rIns="0" bIns="0" rtlCol="0" anchor="ctr"/>
          <a:lstStyle/>
          <a:p>
            <a:pPr indent="0" marL="0">
              <a:buNone/>
            </a:pPr>
            <a:r>
              <a:rPr lang="en-US" sz="1200" dirty="0">
                <a:solidFill>
                  <a:srgbClr val="67516B"/>
                </a:solidFill>
                <a:latin typeface="Arial" pitchFamily="34" charset="0"/>
                <a:ea typeface="Arial" pitchFamily="34" charset="-122"/>
                <a:cs typeface="Arial" pitchFamily="34" charset="-120"/>
              </a:rPr>
              <a:t>Synthetic data generated to demonstrate the method. In production the models retrain on Meesho's order, return and review history, and price changes are A/B tested.</a:t>
            </a:r>
            <a:endParaRPr lang="en-US" sz="1200" dirty="0"/>
          </a:p>
        </p:txBody>
      </p:sp>
      <p:sp>
        <p:nvSpPr>
          <p:cNvPr id="5" name="Text 3"/>
          <p:cNvSpPr txBox="1"/>
          <p:nvPr/>
        </p:nvSpPr>
        <p:spPr>
          <a:xfrm>
            <a:off x="17007840" y="9198864"/>
            <a:ext cx="548640" cy="329184"/>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9</a:t>
            </a:r>
            <a:endParaRPr lang="en-US" sz="1200" dirty="0"/>
          </a:p>
        </p:txBody>
      </p:sp>
      <p:sp>
        <p:nvSpPr>
          <p:cNvPr id="6" name="Shape 4"/>
          <p:cNvSpPr/>
          <p:nvPr/>
        </p:nvSpPr>
        <p:spPr>
          <a:xfrm>
            <a:off x="731520" y="3886200"/>
            <a:ext cx="8138160" cy="1371600"/>
          </a:xfrm>
          <a:prstGeom prst="roundRect">
            <a:avLst>
              <a:gd name="adj" fmla="val 8000"/>
            </a:avLst>
          </a:prstGeom>
          <a:solidFill>
            <a:srgbClr val="F6EEF7"/>
          </a:solidFill>
          <a:ln w="12700">
            <a:solidFill>
              <a:srgbClr val="F6EEF7"/>
            </a:solidFill>
            <a:prstDash val="solid"/>
          </a:ln>
        </p:spPr>
      </p:sp>
      <p:sp>
        <p:nvSpPr>
          <p:cNvPr id="7" name="Shape 5"/>
          <p:cNvSpPr/>
          <p:nvPr/>
        </p:nvSpPr>
        <p:spPr>
          <a:xfrm>
            <a:off x="914400" y="4050792"/>
            <a:ext cx="822960" cy="1042416"/>
          </a:xfrm>
          <a:prstGeom prst="roundRect">
            <a:avLst>
              <a:gd name="adj" fmla="val 11111"/>
            </a:avLst>
          </a:prstGeom>
          <a:solidFill>
            <a:srgbClr val="4B1248"/>
          </a:solidFill>
          <a:ln w="12700">
            <a:solidFill>
              <a:srgbClr val="4B1248"/>
            </a:solidFill>
            <a:prstDash val="solid"/>
          </a:ln>
        </p:spPr>
      </p:sp>
      <p:sp>
        <p:nvSpPr>
          <p:cNvPr id="8" name="Text 6"/>
          <p:cNvSpPr txBox="1"/>
          <p:nvPr/>
        </p:nvSpPr>
        <p:spPr>
          <a:xfrm>
            <a:off x="914400" y="4050792"/>
            <a:ext cx="822960" cy="1042416"/>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A2</a:t>
            </a:r>
            <a:endParaRPr lang="en-US" sz="2300" dirty="0"/>
          </a:p>
        </p:txBody>
      </p:sp>
      <p:sp>
        <p:nvSpPr>
          <p:cNvPr id="9" name="Text 7"/>
          <p:cNvSpPr txBox="1"/>
          <p:nvPr/>
        </p:nvSpPr>
        <p:spPr>
          <a:xfrm>
            <a:off x="1920240" y="3959352"/>
            <a:ext cx="6812280" cy="1225296"/>
          </a:xfrm>
          <a:prstGeom prst="rect">
            <a:avLst/>
          </a:prstGeom>
          <a:noFill/>
          <a:ln/>
        </p:spPr>
        <p:txBody>
          <a:bodyPr wrap="square" lIns="0" tIns="0" rIns="0" bIns="0" rtlCol="0" anchor="ctr"/>
          <a:lstStyle/>
          <a:p>
            <a:pPr indent="0" marL="0">
              <a:spcAft>
                <a:spcPts val="300"/>
              </a:spcAft>
              <a:buNone/>
            </a:pPr>
            <a:r>
              <a:rPr lang="en-US" sz="1600" b="1" dirty="0">
                <a:solidFill>
                  <a:srgbClr val="4B1248"/>
                </a:solidFill>
                <a:latin typeface="Arial" pitchFamily="34" charset="0"/>
                <a:ea typeface="Arial" pitchFamily="34" charset="-122"/>
                <a:cs typeface="Arial" pitchFamily="34" charset="-120"/>
              </a:rPr>
              <a:t>Visibility: how many see it</a:t>
            </a:r>
            <a:endParaRPr lang="en-US" sz="1600" dirty="0"/>
          </a:p>
          <a:p>
            <a:pPr indent="0" marL="0">
              <a:spcAft>
                <a:spcPts val="300"/>
              </a:spcAft>
              <a:buNone/>
            </a:pPr>
            <a:r>
              <a:rPr lang="en-US" sz="1350" dirty="0">
                <a:solidFill>
                  <a:srgbClr val="2A0B2F"/>
                </a:solidFill>
                <a:latin typeface="Arial" pitchFamily="34" charset="0"/>
                <a:ea typeface="Arial" pitchFamily="34" charset="-122"/>
                <a:cs typeface="Arial" pitchFamily="34" charset="-120"/>
              </a:rPr>
              <a:t>Weekly impressions, Poisson regression with one baseline per listing. New listings are shown 1.8× at first; selling at twice the category norm lifts next week's impressions 35%.</a:t>
            </a:r>
            <a:endParaRPr lang="en-US" sz="1600" dirty="0"/>
          </a:p>
        </p:txBody>
      </p:sp>
      <p:sp>
        <p:nvSpPr>
          <p:cNvPr id="10" name="Shape 8"/>
          <p:cNvSpPr/>
          <p:nvPr/>
        </p:nvSpPr>
        <p:spPr>
          <a:xfrm>
            <a:off x="731520" y="5404104"/>
            <a:ext cx="8138160" cy="1371600"/>
          </a:xfrm>
          <a:prstGeom prst="roundRect">
            <a:avLst>
              <a:gd name="adj" fmla="val 8000"/>
            </a:avLst>
          </a:prstGeom>
          <a:solidFill>
            <a:srgbClr val="F6EEF7"/>
          </a:solidFill>
          <a:ln w="12700">
            <a:solidFill>
              <a:srgbClr val="F6EEF7"/>
            </a:solidFill>
            <a:prstDash val="solid"/>
          </a:ln>
        </p:spPr>
      </p:sp>
      <p:sp>
        <p:nvSpPr>
          <p:cNvPr id="11" name="Shape 9"/>
          <p:cNvSpPr/>
          <p:nvPr/>
        </p:nvSpPr>
        <p:spPr>
          <a:xfrm>
            <a:off x="914400" y="5568696"/>
            <a:ext cx="822960" cy="1042416"/>
          </a:xfrm>
          <a:prstGeom prst="roundRect">
            <a:avLst>
              <a:gd name="adj" fmla="val 11111"/>
            </a:avLst>
          </a:prstGeom>
          <a:solidFill>
            <a:srgbClr val="4B1248"/>
          </a:solidFill>
          <a:ln w="12700">
            <a:solidFill>
              <a:srgbClr val="4B1248"/>
            </a:solidFill>
            <a:prstDash val="solid"/>
          </a:ln>
        </p:spPr>
      </p:sp>
      <p:sp>
        <p:nvSpPr>
          <p:cNvPr id="12" name="Text 10"/>
          <p:cNvSpPr txBox="1"/>
          <p:nvPr/>
        </p:nvSpPr>
        <p:spPr>
          <a:xfrm>
            <a:off x="914400" y="5568696"/>
            <a:ext cx="822960" cy="1042416"/>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A1</a:t>
            </a:r>
            <a:endParaRPr lang="en-US" sz="2300" dirty="0"/>
          </a:p>
        </p:txBody>
      </p:sp>
      <p:sp>
        <p:nvSpPr>
          <p:cNvPr id="13" name="Text 11"/>
          <p:cNvSpPr txBox="1"/>
          <p:nvPr/>
        </p:nvSpPr>
        <p:spPr>
          <a:xfrm>
            <a:off x="1920240" y="5477256"/>
            <a:ext cx="6812280" cy="1225296"/>
          </a:xfrm>
          <a:prstGeom prst="rect">
            <a:avLst/>
          </a:prstGeom>
          <a:noFill/>
          <a:ln/>
        </p:spPr>
        <p:txBody>
          <a:bodyPr wrap="square" lIns="0" tIns="0" rIns="0" bIns="0" rtlCol="0" anchor="ctr"/>
          <a:lstStyle/>
          <a:p>
            <a:pPr indent="0" marL="0">
              <a:spcAft>
                <a:spcPts val="300"/>
              </a:spcAft>
              <a:buNone/>
            </a:pPr>
            <a:r>
              <a:rPr lang="en-US" sz="1600" b="1" dirty="0">
                <a:solidFill>
                  <a:srgbClr val="4B1248"/>
                </a:solidFill>
                <a:latin typeface="Arial" pitchFamily="34" charset="0"/>
                <a:ea typeface="Arial" pitchFamily="34" charset="-122"/>
                <a:cs typeface="Arial" pitchFamily="34" charset="-120"/>
              </a:rPr>
              <a:t>Conversion: how many of them order</a:t>
            </a:r>
            <a:endParaRPr lang="en-US" sz="1600" dirty="0"/>
          </a:p>
          <a:p>
            <a:pPr indent="0" marL="0">
              <a:spcAft>
                <a:spcPts val="300"/>
              </a:spcAft>
              <a:buNone/>
            </a:pPr>
            <a:r>
              <a:rPr lang="en-US" sz="1350" dirty="0">
                <a:solidFill>
                  <a:srgbClr val="2A0B2F"/>
                </a:solidFill>
                <a:latin typeface="Arial" pitchFamily="34" charset="0"/>
                <a:ea typeface="Arial" pitchFamily="34" charset="-122"/>
                <a:cs typeface="Arial" pitchFamily="34" charset="-120"/>
              </a:rPr>
              <a:t>Orders per impression, with impressions as the exposure offset, and one baseline per listing, so price is learnt from each listing's own price changes. +10% price: −20% orders (soap), −26% (t-shirt).</a:t>
            </a:r>
            <a:endParaRPr lang="en-US" sz="1600" dirty="0"/>
          </a:p>
        </p:txBody>
      </p:sp>
      <p:sp>
        <p:nvSpPr>
          <p:cNvPr id="14" name="Shape 12"/>
          <p:cNvSpPr/>
          <p:nvPr/>
        </p:nvSpPr>
        <p:spPr>
          <a:xfrm>
            <a:off x="731520" y="6922008"/>
            <a:ext cx="8138160" cy="1371600"/>
          </a:xfrm>
          <a:prstGeom prst="roundRect">
            <a:avLst>
              <a:gd name="adj" fmla="val 8000"/>
            </a:avLst>
          </a:prstGeom>
          <a:solidFill>
            <a:srgbClr val="F6EEF7"/>
          </a:solidFill>
          <a:ln w="12700">
            <a:solidFill>
              <a:srgbClr val="F6EEF7"/>
            </a:solidFill>
            <a:prstDash val="solid"/>
          </a:ln>
        </p:spPr>
      </p:sp>
      <p:sp>
        <p:nvSpPr>
          <p:cNvPr id="15" name="Shape 13"/>
          <p:cNvSpPr/>
          <p:nvPr/>
        </p:nvSpPr>
        <p:spPr>
          <a:xfrm>
            <a:off x="914400" y="7086600"/>
            <a:ext cx="822960" cy="1042416"/>
          </a:xfrm>
          <a:prstGeom prst="roundRect">
            <a:avLst>
              <a:gd name="adj" fmla="val 11111"/>
            </a:avLst>
          </a:prstGeom>
          <a:solidFill>
            <a:srgbClr val="4B1248"/>
          </a:solidFill>
          <a:ln w="12700">
            <a:solidFill>
              <a:srgbClr val="4B1248"/>
            </a:solidFill>
            <a:prstDash val="solid"/>
          </a:ln>
        </p:spPr>
      </p:sp>
      <p:sp>
        <p:nvSpPr>
          <p:cNvPr id="16" name="Text 14"/>
          <p:cNvSpPr txBox="1"/>
          <p:nvPr/>
        </p:nvSpPr>
        <p:spPr>
          <a:xfrm>
            <a:off x="914400" y="7086600"/>
            <a:ext cx="822960" cy="1042416"/>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B</a:t>
            </a:r>
            <a:endParaRPr lang="en-US" sz="2300" dirty="0"/>
          </a:p>
        </p:txBody>
      </p:sp>
      <p:sp>
        <p:nvSpPr>
          <p:cNvPr id="17" name="Text 15"/>
          <p:cNvSpPr txBox="1"/>
          <p:nvPr/>
        </p:nvSpPr>
        <p:spPr>
          <a:xfrm>
            <a:off x="1920240" y="6995160"/>
            <a:ext cx="6812280" cy="1225296"/>
          </a:xfrm>
          <a:prstGeom prst="rect">
            <a:avLst/>
          </a:prstGeom>
          <a:noFill/>
          <a:ln/>
        </p:spPr>
        <p:txBody>
          <a:bodyPr wrap="square" lIns="0" tIns="0" rIns="0" bIns="0" rtlCol="0" anchor="ctr"/>
          <a:lstStyle/>
          <a:p>
            <a:pPr indent="0" marL="0">
              <a:spcAft>
                <a:spcPts val="300"/>
              </a:spcAft>
              <a:buNone/>
            </a:pPr>
            <a:r>
              <a:rPr lang="en-US" sz="1600" b="1" dirty="0">
                <a:solidFill>
                  <a:srgbClr val="4B1248"/>
                </a:solidFill>
                <a:latin typeface="Arial" pitchFamily="34" charset="0"/>
                <a:ea typeface="Arial" pitchFamily="34" charset="-122"/>
                <a:cs typeface="Arial" pitchFamily="34" charset="-120"/>
              </a:rPr>
              <a:t>Keep share: how many orders get paid</a:t>
            </a:r>
            <a:endParaRPr lang="en-US" sz="1600" dirty="0"/>
          </a:p>
          <a:p>
            <a:pPr indent="0" marL="0">
              <a:spcAft>
                <a:spcPts val="300"/>
              </a:spcAft>
              <a:buNone/>
            </a:pPr>
            <a:r>
              <a:rPr lang="en-US" sz="1350" dirty="0">
                <a:solidFill>
                  <a:srgbClr val="2A0B2F"/>
                </a:solidFill>
                <a:latin typeface="Arial" pitchFamily="34" charset="0"/>
                <a:ea typeface="Arial" pitchFamily="34" charset="-122"/>
                <a:cs typeface="Arial" pitchFamily="34" charset="-120"/>
              </a:rPr>
              <a:t>RTO 10%; returns about 6%, rising with price, 4.8% for a good product and 8.3% for a weak one; resale 0% soap, 70% t-shirts. Sets the floor: costs ÷ 0.845.</a:t>
            </a:r>
            <a:endParaRPr lang="en-US" sz="1600" dirty="0"/>
          </a:p>
        </p:txBody>
      </p:sp>
      <p:sp>
        <p:nvSpPr>
          <p:cNvPr id="18" name="Shape 16"/>
          <p:cNvSpPr/>
          <p:nvPr/>
        </p:nvSpPr>
        <p:spPr>
          <a:xfrm>
            <a:off x="731520" y="8458200"/>
            <a:ext cx="8138160" cy="640080"/>
          </a:xfrm>
          <a:prstGeom prst="roundRect">
            <a:avLst>
              <a:gd name="adj" fmla="val 17143"/>
            </a:avLst>
          </a:prstGeom>
          <a:solidFill>
            <a:srgbClr val="EFE3F1"/>
          </a:solidFill>
          <a:ln w="12700">
            <a:solidFill>
              <a:srgbClr val="EFE3F1"/>
            </a:solidFill>
            <a:prstDash val="solid"/>
          </a:ln>
        </p:spPr>
      </p:sp>
      <p:sp>
        <p:nvSpPr>
          <p:cNvPr id="19" name="Text 17"/>
          <p:cNvSpPr txBox="1"/>
          <p:nvPr/>
        </p:nvSpPr>
        <p:spPr>
          <a:xfrm>
            <a:off x="960120" y="8458200"/>
            <a:ext cx="7680960" cy="640080"/>
          </a:xfrm>
          <a:prstGeom prst="rect">
            <a:avLst/>
          </a:prstGeom>
          <a:noFill/>
          <a:ln/>
        </p:spPr>
        <p:txBody>
          <a:bodyPr wrap="square" lIns="0" tIns="0" rIns="0" bIns="0" rtlCol="0" anchor="ctr"/>
          <a:lstStyle/>
          <a:p>
            <a:pPr indent="0" marL="0">
              <a:buNone/>
            </a:pPr>
            <a:r>
              <a:rPr lang="en-US" sz="1200" dirty="0">
                <a:solidFill>
                  <a:srgbClr val="4B1248"/>
                </a:solidFill>
                <a:latin typeface="Arial" pitchFamily="34" charset="0"/>
                <a:ea typeface="Arial" pitchFamily="34" charset="-122"/>
                <a:cs typeface="Arial" pitchFamily="34" charset="-120"/>
              </a:rPr>
              <a:t>Checked against the simulator that made the data: same verdict on below-floor launches for good, typical and weak products. Our models are more cautious about discounts above the floor.</a:t>
            </a:r>
            <a:endParaRPr lang="en-US" sz="1200" dirty="0"/>
          </a:p>
        </p:txBody>
      </p:sp>
      <p:graphicFrame>
        <p:nvGraphicFramePr>
          <p:cNvPr id="20" name="Chart 0" descr=""/>
          <p:cNvGraphicFramePr/>
          <p:nvPr/>
        </p:nvGraphicFramePr>
        <p:xfrm>
          <a:off x="9235440" y="3840480"/>
          <a:ext cx="8321040" cy="2606040"/>
        </p:xfrm>
        <a:graphic xmlns:a="http://schemas.openxmlformats.org/drawingml/2006/main">
          <a:graphicData uri="http://schemas.openxmlformats.org/drawingml/2006/chart">
            <c:chart xmlns:c="http://schemas.openxmlformats.org/drawingml/2006/chart" r:id="rId2"/>
          </a:graphicData>
        </a:graphic>
      </p:graphicFrame>
      <p:graphicFrame>
        <p:nvGraphicFramePr>
          <p:cNvPr id="21" name="Chart 1" descr=""/>
          <p:cNvGraphicFramePr/>
          <p:nvPr/>
        </p:nvGraphicFramePr>
        <p:xfrm>
          <a:off x="9235440" y="6492240"/>
          <a:ext cx="8321040" cy="2606040"/>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578608"/>
            <a:ext cx="16824960" cy="658368"/>
          </a:xfrm>
          <a:prstGeom prst="rect">
            <a:avLst/>
          </a:prstGeom>
          <a:noFill/>
          <a:ln/>
        </p:spPr>
        <p:txBody>
          <a:bodyPr wrap="square" lIns="0" tIns="0" rIns="0" bIns="0" rtlCol="0" anchor="ctr"/>
          <a:lstStyle/>
          <a:p>
            <a:pPr indent="0" marL="0">
              <a:buNone/>
            </a:pPr>
            <a:r>
              <a:rPr lang="en-US" sz="3600" b="1" dirty="0">
                <a:solidFill>
                  <a:srgbClr val="4B1248"/>
                </a:solidFill>
                <a:latin typeface="Arial" pitchFamily="34" charset="0"/>
                <a:ea typeface="Arial" pitchFamily="34" charset="-122"/>
                <a:cs typeface="Arial" pitchFamily="34" charset="-120"/>
              </a:rPr>
              <a:t>How we'd prove it works, what could go wrong, and how it ships</a:t>
            </a:r>
            <a:endParaRPr lang="en-US" sz="3600" dirty="0"/>
          </a:p>
        </p:txBody>
      </p:sp>
      <p:sp>
        <p:nvSpPr>
          <p:cNvPr id="3" name="Text 1"/>
          <p:cNvSpPr txBox="1"/>
          <p:nvPr/>
        </p:nvSpPr>
        <p:spPr>
          <a:xfrm>
            <a:off x="731520" y="3255264"/>
            <a:ext cx="16824960" cy="411480"/>
          </a:xfrm>
          <a:prstGeom prst="rect">
            <a:avLst/>
          </a:prstGeom>
          <a:noFill/>
          <a:ln/>
        </p:spPr>
        <p:txBody>
          <a:bodyPr wrap="square" lIns="0" tIns="0" rIns="0" bIns="0" rtlCol="0" anchor="ctr"/>
          <a:lstStyle/>
          <a:p>
            <a:pPr indent="0" marL="0">
              <a:buNone/>
            </a:pPr>
            <a:r>
              <a:rPr lang="en-US" sz="1700" i="1" dirty="0">
                <a:solidFill>
                  <a:srgbClr val="67516B"/>
                </a:solidFill>
                <a:latin typeface="Arial" pitchFamily="34" charset="0"/>
                <a:ea typeface="Arial" pitchFamily="34" charset="-122"/>
                <a:cs typeface="Arial" pitchFamily="34" charset="-120"/>
              </a:rPr>
              <a:t>A randomised pilot with new-to-online soap and t-shirt sellers before any wider rollout</a:t>
            </a:r>
            <a:endParaRPr lang="en-US" sz="1700" dirty="0"/>
          </a:p>
        </p:txBody>
      </p:sp>
      <p:sp>
        <p:nvSpPr>
          <p:cNvPr id="4" name="Text 2"/>
          <p:cNvSpPr txBox="1"/>
          <p:nvPr/>
        </p:nvSpPr>
        <p:spPr>
          <a:xfrm>
            <a:off x="17007840" y="9198864"/>
            <a:ext cx="548640" cy="329184"/>
          </a:xfrm>
          <a:prstGeom prst="rect">
            <a:avLst/>
          </a:prstGeom>
          <a:noFill/>
          <a:ln/>
        </p:spPr>
        <p:txBody>
          <a:bodyPr wrap="square" lIns="0" tIns="0" rIns="0" bIns="0" rtlCol="0" anchor="ctr"/>
          <a:lstStyle/>
          <a:p>
            <a:pPr algn="r" indent="0" marL="0">
              <a:buNone/>
            </a:pPr>
            <a:r>
              <a:rPr lang="en-US" sz="1200" dirty="0">
                <a:solidFill>
                  <a:srgbClr val="67516B"/>
                </a:solidFill>
                <a:latin typeface="Arial" pitchFamily="34" charset="0"/>
                <a:ea typeface="Arial" pitchFamily="34" charset="-122"/>
                <a:cs typeface="Arial" pitchFamily="34" charset="-120"/>
              </a:rPr>
              <a:t>10</a:t>
            </a:r>
            <a:endParaRPr lang="en-US" sz="1200" dirty="0"/>
          </a:p>
        </p:txBody>
      </p:sp>
      <p:sp>
        <p:nvSpPr>
          <p:cNvPr id="5" name="Shape 3"/>
          <p:cNvSpPr/>
          <p:nvPr/>
        </p:nvSpPr>
        <p:spPr>
          <a:xfrm>
            <a:off x="731520" y="3886200"/>
            <a:ext cx="5120640" cy="5212080"/>
          </a:xfrm>
          <a:prstGeom prst="roundRect">
            <a:avLst>
              <a:gd name="adj" fmla="val 2143"/>
            </a:avLst>
          </a:prstGeom>
          <a:solidFill>
            <a:srgbClr val="F6EEF7"/>
          </a:solidFill>
          <a:ln w="12700">
            <a:solidFill>
              <a:srgbClr val="F6EEF7"/>
            </a:solidFill>
            <a:prstDash val="solid"/>
          </a:ln>
        </p:spPr>
      </p:sp>
      <p:sp>
        <p:nvSpPr>
          <p:cNvPr id="6" name="Text 4"/>
          <p:cNvSpPr txBox="1"/>
          <p:nvPr/>
        </p:nvSpPr>
        <p:spPr>
          <a:xfrm>
            <a:off x="1005840" y="4041648"/>
            <a:ext cx="4572000" cy="411480"/>
          </a:xfrm>
          <a:prstGeom prst="rect">
            <a:avLst/>
          </a:prstGeom>
          <a:noFill/>
          <a:ln/>
        </p:spPr>
        <p:txBody>
          <a:bodyPr wrap="square" lIns="0" tIns="0" rIns="0" bIns="0" rtlCol="0" anchor="t"/>
          <a:lstStyle/>
          <a:p>
            <a:pPr indent="0" marL="0">
              <a:buNone/>
            </a:pPr>
            <a:r>
              <a:rPr lang="en-US" sz="1800" b="1" dirty="0">
                <a:solidFill>
                  <a:srgbClr val="4B1248"/>
                </a:solidFill>
                <a:latin typeface="Arial" pitchFamily="34" charset="0"/>
                <a:ea typeface="Arial" pitchFamily="34" charset="-122"/>
                <a:cs typeface="Arial" pitchFamily="34" charset="-120"/>
              </a:rPr>
              <a:t>Measuring success</a:t>
            </a:r>
            <a:endParaRPr lang="en-US" sz="1800" dirty="0"/>
          </a:p>
        </p:txBody>
      </p:sp>
      <p:sp>
        <p:nvSpPr>
          <p:cNvPr id="7" name="Text 5"/>
          <p:cNvSpPr txBox="1"/>
          <p:nvPr/>
        </p:nvSpPr>
        <p:spPr>
          <a:xfrm>
            <a:off x="1005840" y="4526280"/>
            <a:ext cx="4572000" cy="4434840"/>
          </a:xfrm>
          <a:prstGeom prst="rect">
            <a:avLst/>
          </a:prstGeom>
          <a:noFill/>
          <a:ln/>
        </p:spPr>
        <p:txBody>
          <a:bodyPr wrap="square" lIns="0" tIns="0" rIns="0" bIns="0" rtlCol="0" anchor="t"/>
          <a:lstStyle/>
          <a:p>
            <a:pPr indent="0" marL="0">
              <a:spcAft>
                <a:spcPts val="200"/>
              </a:spcAft>
              <a:buNone/>
            </a:pPr>
            <a:r>
              <a:rPr lang="en-US" sz="1400" b="1" dirty="0">
                <a:solidFill>
                  <a:srgbClr val="C2185B"/>
                </a:solidFill>
                <a:latin typeface="Arial" pitchFamily="34" charset="0"/>
                <a:ea typeface="Arial" pitchFamily="34" charset="-122"/>
                <a:cs typeface="Arial" pitchFamily="34" charset="-120"/>
              </a:rPr>
              <a:t>Primary</a:t>
            </a:r>
            <a:endParaRPr lang="en-US" sz="1400" dirty="0"/>
          </a:p>
          <a:p>
            <a:pPr indent="0" marL="0">
              <a:spcAft>
                <a:spcPts val="1200"/>
              </a:spcAft>
              <a:buNone/>
            </a:pPr>
            <a:r>
              <a:rPr lang="en-US" sz="1800" b="1" dirty="0">
                <a:solidFill>
                  <a:srgbClr val="4B1248"/>
                </a:solidFill>
                <a:latin typeface="Arial" pitchFamily="34" charset="0"/>
                <a:ea typeface="Arial" pitchFamily="34" charset="-122"/>
                <a:cs typeface="Arial" pitchFamily="34" charset="-120"/>
              </a:rPr>
              <a:t>Net seller profit per 1,000 listing views</a:t>
            </a:r>
            <a:endParaRPr lang="en-US" sz="1400" dirty="0"/>
          </a:p>
          <a:p>
            <a:pPr indent="0" marL="0">
              <a:spcAft>
                <a:spcPts val="200"/>
              </a:spcAft>
              <a:buNone/>
            </a:pPr>
            <a:r>
              <a:rPr lang="en-US" sz="1400" b="1" dirty="0">
                <a:solidFill>
                  <a:srgbClr val="C2185B"/>
                </a:solidFill>
                <a:latin typeface="Arial" pitchFamily="34" charset="0"/>
                <a:ea typeface="Arial" pitchFamily="34" charset="-122"/>
                <a:cs typeface="Arial" pitchFamily="34" charset="-120"/>
              </a:rPr>
              <a:t>Seller outcomes</a:t>
            </a:r>
            <a:endParaRPr lang="en-US" sz="1400" dirty="0"/>
          </a:p>
          <a:p>
            <a:pPr indent="0" marL="0">
              <a:spcAft>
                <a:spcPts val="1200"/>
              </a:spcAft>
              <a:buNone/>
            </a:pPr>
            <a:r>
              <a:rPr lang="en-US" sz="1500" dirty="0">
                <a:solidFill>
                  <a:srgbClr val="2A0B2F"/>
                </a:solidFill>
                <a:latin typeface="Arial" pitchFamily="34" charset="0"/>
                <a:ea typeface="Arial" pitchFamily="34" charset="-122"/>
                <a:cs typeface="Arial" pitchFamily="34" charset="-120"/>
              </a:rPr>
              <a:t>Fewer new listings priced below their floor; 90-day listing survival; time to first order</a:t>
            </a:r>
            <a:endParaRPr lang="en-US" sz="1400" dirty="0"/>
          </a:p>
          <a:p>
            <a:pPr indent="0" marL="0">
              <a:spcAft>
                <a:spcPts val="200"/>
              </a:spcAft>
              <a:buNone/>
            </a:pPr>
            <a:r>
              <a:rPr lang="en-US" sz="1400" b="1" dirty="0">
                <a:solidFill>
                  <a:srgbClr val="C2185B"/>
                </a:solidFill>
                <a:latin typeface="Arial" pitchFamily="34" charset="0"/>
                <a:ea typeface="Arial" pitchFamily="34" charset="-122"/>
                <a:cs typeface="Arial" pitchFamily="34" charset="-120"/>
              </a:rPr>
              <a:t>Guardrails</a:t>
            </a:r>
            <a:endParaRPr lang="en-US" sz="1400" dirty="0"/>
          </a:p>
          <a:p>
            <a:pPr indent="0" marL="0">
              <a:spcAft>
                <a:spcPts val="1200"/>
              </a:spcAft>
              <a:buNone/>
            </a:pPr>
            <a:r>
              <a:rPr lang="en-US" sz="1500" dirty="0">
                <a:solidFill>
                  <a:srgbClr val="2A0B2F"/>
                </a:solidFill>
                <a:latin typeface="Arial" pitchFamily="34" charset="0"/>
                <a:ea typeface="Arial" pitchFamily="34" charset="-122"/>
                <a:cs typeface="Arial" pitchFamily="34" charset="-120"/>
              </a:rPr>
              <a:t>Conversion; return and RTO rate; price complaints in reviews; seller opt-outs</a:t>
            </a:r>
            <a:endParaRPr lang="en-US" sz="1400" dirty="0"/>
          </a:p>
          <a:p>
            <a:pPr indent="0" marL="0">
              <a:spcAft>
                <a:spcPts val="200"/>
              </a:spcAft>
              <a:buNone/>
            </a:pPr>
            <a:r>
              <a:rPr lang="en-US" sz="1400" b="1" dirty="0">
                <a:solidFill>
                  <a:srgbClr val="C2185B"/>
                </a:solidFill>
                <a:latin typeface="Arial" pitchFamily="34" charset="0"/>
                <a:ea typeface="Arial" pitchFamily="34" charset="-122"/>
                <a:cs typeface="Arial" pitchFamily="34" charset="-120"/>
              </a:rPr>
              <a:t>Learning the true price effect</a:t>
            </a:r>
            <a:endParaRPr lang="en-US" sz="1400" dirty="0"/>
          </a:p>
          <a:p>
            <a:pPr indent="0" marL="0">
              <a:spcAft>
                <a:spcPts val="200"/>
              </a:spcAft>
              <a:buNone/>
            </a:pPr>
            <a:r>
              <a:rPr lang="en-US" sz="1500" dirty="0">
                <a:solidFill>
                  <a:srgbClr val="2A0B2F"/>
                </a:solidFill>
                <a:latin typeface="Arial" pitchFamily="34" charset="0"/>
                <a:ea typeface="Arial" pitchFamily="34" charset="-122"/>
                <a:cs typeface="Arial" pitchFamily="34" charset="-120"/>
              </a:rPr>
              <a:t>Small randomised price tests inside the pilot, because sellers' own price moves blur it in historical data</a:t>
            </a:r>
            <a:endParaRPr lang="en-US" sz="1400" dirty="0"/>
          </a:p>
        </p:txBody>
      </p:sp>
      <p:sp>
        <p:nvSpPr>
          <p:cNvPr id="8" name="Text 6"/>
          <p:cNvSpPr txBox="1"/>
          <p:nvPr/>
        </p:nvSpPr>
        <p:spPr>
          <a:xfrm>
            <a:off x="6126480" y="3886200"/>
            <a:ext cx="6035040" cy="411480"/>
          </a:xfrm>
          <a:prstGeom prst="rect">
            <a:avLst/>
          </a:prstGeom>
          <a:noFill/>
          <a:ln/>
        </p:spPr>
        <p:txBody>
          <a:bodyPr wrap="square" lIns="0" tIns="0" rIns="0" bIns="0" rtlCol="0" anchor="t"/>
          <a:lstStyle/>
          <a:p>
            <a:pPr indent="0" marL="0">
              <a:buNone/>
            </a:pPr>
            <a:r>
              <a:rPr lang="en-US" sz="1800" b="1" dirty="0">
                <a:solidFill>
                  <a:srgbClr val="4B1248"/>
                </a:solidFill>
                <a:latin typeface="Arial" pitchFamily="34" charset="0"/>
                <a:ea typeface="Arial" pitchFamily="34" charset="-122"/>
                <a:cs typeface="Arial" pitchFamily="34" charset="-120"/>
              </a:rPr>
              <a:t>Risks and how we control them</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26480" y="4389120"/>
          <a:ext cx="6035040" cy="914400"/>
        </p:xfrm>
        <a:graphic>
          <a:graphicData uri="http://schemas.openxmlformats.org/drawingml/2006/table">
            <a:tbl>
              <a:tblPr/>
              <a:tblGrid>
                <a:gridCol w="2377440"/>
                <a:gridCol w="3657600"/>
              </a:tblGrid>
              <a:tr h="411480">
                <a:tc>
                  <a:txBody>
                    <a:bodyPr/>
                    <a:lstStyle/>
                    <a:p>
                      <a:pPr indent="0" marL="0">
                        <a:buNone/>
                      </a:pPr>
                      <a:r>
                        <a:rPr lang="en-US" sz="1450" b="1" dirty="0">
                          <a:solidFill>
                            <a:srgbClr val="FFFFFF"/>
                          </a:solidFill>
                          <a:latin typeface="Arial" pitchFamily="34" charset="0"/>
                          <a:ea typeface="Arial" pitchFamily="34" charset="-122"/>
                          <a:cs typeface="Arial" pitchFamily="34" charset="-120"/>
                        </a:rPr>
                        <a:t>Risk</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solidFill>
                      <a:srgbClr val="4B1248"/>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Control</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solidFill>
                      <a:srgbClr val="4B1248"/>
                    </a:solidFill>
                  </a:tcPr>
                </a:tc>
              </a:tr>
              <a:tr h="868680">
                <a:tc>
                  <a:txBody>
                    <a:bodyPr/>
                    <a:lstStyle/>
                    <a:p>
                      <a:pPr indent="0" marL="0">
                        <a:buNone/>
                      </a:pPr>
                      <a:r>
                        <a:rPr lang="en-US" sz="1450" b="1" dirty="0">
                          <a:solidFill>
                            <a:srgbClr val="4B1248"/>
                          </a:solidFill>
                          <a:latin typeface="Arial" pitchFamily="34" charset="0"/>
                          <a:ea typeface="Arial" pitchFamily="34" charset="-122"/>
                          <a:cs typeface="Arial" pitchFamily="34" charset="-120"/>
                        </a:rPr>
                        <a:t>Models learnt on synthetic data</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50" dirty="0">
                          <a:solidFill>
                            <a:srgbClr val="2A0B2F"/>
                          </a:solidFill>
                          <a:latin typeface="Arial" pitchFamily="34" charset="0"/>
                          <a:ea typeface="Arial" pitchFamily="34" charset="-122"/>
                          <a:cs typeface="Arial" pitchFamily="34" charset="-120"/>
                        </a:rPr>
                        <a:t>Retrain on Meesho's history and backtest before any seller sees a number</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868680">
                <a:tc>
                  <a:txBody>
                    <a:bodyPr/>
                    <a:lstStyle/>
                    <a:p>
                      <a:pPr indent="0" marL="0">
                        <a:buNone/>
                      </a:pPr>
                      <a:r>
                        <a:rPr lang="en-US" sz="1450" b="1" dirty="0">
                          <a:solidFill>
                            <a:srgbClr val="4B1248"/>
                          </a:solidFill>
                          <a:latin typeface="Arial" pitchFamily="34" charset="0"/>
                          <a:ea typeface="Arial" pitchFamily="34" charset="-122"/>
                          <a:cs typeface="Arial" pitchFamily="34" charset="-120"/>
                        </a:rPr>
                        <a:t>Price effect confused with quality</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50" dirty="0">
                          <a:solidFill>
                            <a:srgbClr val="2A0B2F"/>
                          </a:solidFill>
                          <a:latin typeface="Arial" pitchFamily="34" charset="0"/>
                          <a:ea typeface="Arial" pitchFamily="34" charset="-122"/>
                          <a:cs typeface="Arial" pitchFamily="34" charset="-120"/>
                        </a:rPr>
                        <a:t>Learn within each listing; confirm with randomised price tests</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868680">
                <a:tc>
                  <a:txBody>
                    <a:bodyPr/>
                    <a:lstStyle/>
                    <a:p>
                      <a:pPr indent="0" marL="0">
                        <a:buNone/>
                      </a:pPr>
                      <a:r>
                        <a:rPr lang="en-US" sz="1450" b="1" dirty="0">
                          <a:solidFill>
                            <a:srgbClr val="4B1248"/>
                          </a:solidFill>
                          <a:latin typeface="Arial" pitchFamily="34" charset="0"/>
                          <a:ea typeface="Arial" pitchFamily="34" charset="-122"/>
                          <a:cs typeface="Arial" pitchFamily="34" charset="-120"/>
                        </a:rPr>
                        <a:t>Sellers don't trust a black box</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50" dirty="0">
                          <a:solidFill>
                            <a:srgbClr val="2A0B2F"/>
                          </a:solidFill>
                          <a:latin typeface="Arial" pitchFamily="34" charset="0"/>
                          <a:ea typeface="Arial" pitchFamily="34" charset="-122"/>
                          <a:cs typeface="Arial" pitchFamily="34" charset="-120"/>
                        </a:rPr>
                        <a:t>Every number shows its working; the seller decides</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868680">
                <a:tc>
                  <a:txBody>
                    <a:bodyPr/>
                    <a:lstStyle/>
                    <a:p>
                      <a:pPr indent="0" marL="0">
                        <a:buNone/>
                      </a:pPr>
                      <a:r>
                        <a:rPr lang="en-US" sz="1450" b="1" dirty="0">
                          <a:solidFill>
                            <a:srgbClr val="4B1248"/>
                          </a:solidFill>
                          <a:latin typeface="Arial" pitchFamily="34" charset="0"/>
                          <a:ea typeface="Arial" pitchFamily="34" charset="-122"/>
                          <a:cs typeface="Arial" pitchFamily="34" charset="-120"/>
                        </a:rPr>
                        <a:t>Everyone nudged to one price</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50" dirty="0">
                          <a:solidFill>
                            <a:srgbClr val="2A0B2F"/>
                          </a:solidFill>
                          <a:latin typeface="Arial" pitchFamily="34" charset="0"/>
                          <a:ea typeface="Arial" pitchFamily="34" charset="-122"/>
                          <a:cs typeface="Arial" pitchFamily="34" charset="-120"/>
                        </a:rPr>
                        <a:t>The floor is seller-specific; the band is only a reference</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r h="868680">
                <a:tc>
                  <a:txBody>
                    <a:bodyPr/>
                    <a:lstStyle/>
                    <a:p>
                      <a:pPr indent="0" marL="0">
                        <a:buNone/>
                      </a:pPr>
                      <a:r>
                        <a:rPr lang="en-US" sz="1450" b="1" dirty="0">
                          <a:solidFill>
                            <a:srgbClr val="4B1248"/>
                          </a:solidFill>
                          <a:latin typeface="Arial" pitchFamily="34" charset="0"/>
                          <a:ea typeface="Arial" pitchFamily="34" charset="-122"/>
                          <a:cs typeface="Arial" pitchFamily="34" charset="-120"/>
                        </a:rPr>
                        <a:t>Wrong costs typed in</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c>
                  <a:txBody>
                    <a:bodyPr/>
                    <a:lstStyle/>
                    <a:p>
                      <a:pPr indent="0" marL="0">
                        <a:buNone/>
                      </a:pPr>
                      <a:r>
                        <a:rPr lang="en-US" sz="1450" dirty="0">
                          <a:solidFill>
                            <a:srgbClr val="2A0B2F"/>
                          </a:solidFill>
                          <a:latin typeface="Arial" pitchFamily="34" charset="0"/>
                          <a:ea typeface="Arial" pitchFamily="34" charset="-122"/>
                          <a:cs typeface="Arial" pitchFamily="34" charset="-120"/>
                        </a:rPr>
                        <a:t>Flag costs far from category norms before showing a price</a:t>
                      </a:r>
                      <a:endParaRPr lang="en-US" sz="1450" dirty="0">
                        <a:latin typeface="Arial" charset="0"/>
                        <a:ea typeface="Arial" charset="0"/>
                        <a:cs typeface="Arial" charset="0"/>
                      </a:endParaRPr>
                    </a:p>
                  </a:txBody>
                  <a:tcPr marL="91440" marR="91440" marT="45720" marB="45720" anchor="ctr">
                    <a:lnL w="9525" cap="flat" cmpd="sng" algn="ctr">
                      <a:solidFill>
                        <a:srgbClr val="E3D5E6"/>
                      </a:solidFill>
                      <a:prstDash val="solid"/>
                      <a:round/>
                      <a:headEnd type="none" w="med" len="med"/>
                      <a:tailEnd type="none" w="med" len="med"/>
                    </a:lnL>
                    <a:lnR w="9525" cap="flat" cmpd="sng" algn="ctr">
                      <a:solidFill>
                        <a:srgbClr val="E3D5E6"/>
                      </a:solidFill>
                      <a:prstDash val="solid"/>
                      <a:round/>
                      <a:headEnd type="none" w="med" len="med"/>
                      <a:tailEnd type="none" w="med" len="med"/>
                    </a:lnR>
                    <a:lnT w="9525" cap="flat" cmpd="sng" algn="ctr">
                      <a:solidFill>
                        <a:srgbClr val="E3D5E6"/>
                      </a:solidFill>
                      <a:prstDash val="solid"/>
                      <a:round/>
                      <a:headEnd type="none" w="med" len="med"/>
                      <a:tailEnd type="none" w="med" len="med"/>
                    </a:lnT>
                    <a:lnB w="9525" cap="flat" cmpd="sng" algn="ctr">
                      <a:solidFill>
                        <a:srgbClr val="E3D5E6"/>
                      </a:solidFill>
                      <a:prstDash val="solid"/>
                      <a:round/>
                      <a:headEnd type="none" w="med" len="med"/>
                      <a:tailEnd type="none" w="med" len="med"/>
                    </a:lnB>
                  </a:tcPr>
                </a:tc>
              </a:tr>
            </a:tbl>
          </a:graphicData>
        </a:graphic>
      </p:graphicFrame>
      <p:sp>
        <p:nvSpPr>
          <p:cNvPr id="10" name="Text 7"/>
          <p:cNvSpPr txBox="1"/>
          <p:nvPr/>
        </p:nvSpPr>
        <p:spPr>
          <a:xfrm>
            <a:off x="12435840" y="3886200"/>
            <a:ext cx="5120640" cy="411480"/>
          </a:xfrm>
          <a:prstGeom prst="rect">
            <a:avLst/>
          </a:prstGeom>
          <a:noFill/>
          <a:ln/>
        </p:spPr>
        <p:txBody>
          <a:bodyPr wrap="square" lIns="0" tIns="0" rIns="0" bIns="0" rtlCol="0" anchor="t"/>
          <a:lstStyle/>
          <a:p>
            <a:pPr indent="0" marL="0">
              <a:buNone/>
            </a:pPr>
            <a:r>
              <a:rPr lang="en-US" sz="1800" b="1" dirty="0">
                <a:solidFill>
                  <a:srgbClr val="4B1248"/>
                </a:solidFill>
                <a:latin typeface="Arial" pitchFamily="34" charset="0"/>
                <a:ea typeface="Arial" pitchFamily="34" charset="-122"/>
                <a:cs typeface="Arial" pitchFamily="34" charset="-120"/>
              </a:rPr>
              <a:t>Rollout</a:t>
            </a:r>
            <a:endParaRPr lang="en-US" sz="1800" dirty="0"/>
          </a:p>
        </p:txBody>
      </p:sp>
      <p:sp>
        <p:nvSpPr>
          <p:cNvPr id="11" name="Shape 8"/>
          <p:cNvSpPr/>
          <p:nvPr/>
        </p:nvSpPr>
        <p:spPr>
          <a:xfrm>
            <a:off x="12435840" y="4434840"/>
            <a:ext cx="1143000" cy="457200"/>
          </a:xfrm>
          <a:prstGeom prst="roundRect">
            <a:avLst>
              <a:gd name="adj" fmla="val 20000"/>
            </a:avLst>
          </a:prstGeom>
          <a:solidFill>
            <a:srgbClr val="F5A623"/>
          </a:solidFill>
          <a:ln w="12700">
            <a:solidFill>
              <a:srgbClr val="F5A623"/>
            </a:solidFill>
            <a:prstDash val="solid"/>
          </a:ln>
        </p:spPr>
      </p:sp>
      <p:sp>
        <p:nvSpPr>
          <p:cNvPr id="12" name="Text 9"/>
          <p:cNvSpPr txBox="1"/>
          <p:nvPr/>
        </p:nvSpPr>
        <p:spPr>
          <a:xfrm>
            <a:off x="12435840" y="4434840"/>
            <a:ext cx="1143000" cy="457200"/>
          </a:xfrm>
          <a:prstGeom prst="rect">
            <a:avLst/>
          </a:prstGeom>
          <a:noFill/>
          <a:ln/>
        </p:spPr>
        <p:txBody>
          <a:bodyPr wrap="square" lIns="0" tIns="0" rIns="0" bIns="0" rtlCol="0" anchor="ctr"/>
          <a:lstStyle/>
          <a:p>
            <a:pPr algn="ctr" indent="0" marL="0">
              <a:buNone/>
            </a:pPr>
            <a:r>
              <a:rPr lang="en-US" sz="1300" b="1" dirty="0">
                <a:solidFill>
                  <a:srgbClr val="2A0B2F"/>
                </a:solidFill>
                <a:latin typeface="Arial" pitchFamily="34" charset="0"/>
                <a:ea typeface="Arial" pitchFamily="34" charset="-122"/>
                <a:cs typeface="Arial" pitchFamily="34" charset="-120"/>
              </a:rPr>
              <a:t>30 days</a:t>
            </a:r>
            <a:endParaRPr lang="en-US" sz="1300" dirty="0"/>
          </a:p>
        </p:txBody>
      </p:sp>
      <p:sp>
        <p:nvSpPr>
          <p:cNvPr id="13" name="Text 10"/>
          <p:cNvSpPr txBox="1"/>
          <p:nvPr/>
        </p:nvSpPr>
        <p:spPr>
          <a:xfrm>
            <a:off x="13761720" y="4361688"/>
            <a:ext cx="3794760" cy="1005840"/>
          </a:xfrm>
          <a:prstGeom prst="rect">
            <a:avLst/>
          </a:prstGeom>
          <a:noFill/>
          <a:ln/>
        </p:spPr>
        <p:txBody>
          <a:bodyPr wrap="square" lIns="0" tIns="0" rIns="0" bIns="0" rtlCol="0" anchor="t"/>
          <a:lstStyle/>
          <a:p>
            <a:pPr indent="0" marL="0">
              <a:buNone/>
            </a:pPr>
            <a:r>
              <a:rPr lang="en-US" sz="1350" dirty="0">
                <a:solidFill>
                  <a:srgbClr val="2A0B2F"/>
                </a:solidFill>
                <a:latin typeface="Arial" pitchFamily="34" charset="0"/>
                <a:ea typeface="Arial" pitchFamily="34" charset="-122"/>
                <a:cs typeface="Arial" pitchFamily="34" charset="-120"/>
              </a:rPr>
              <a:t>Floor and the bill in the listing flow. Seller types making cost, packaging and gifts; Meesho fills fees, return and RTO rates, GST.</a:t>
            </a:r>
            <a:endParaRPr lang="en-US" sz="1350" dirty="0"/>
          </a:p>
        </p:txBody>
      </p:sp>
      <p:sp>
        <p:nvSpPr>
          <p:cNvPr id="14" name="Shape 11"/>
          <p:cNvSpPr/>
          <p:nvPr/>
        </p:nvSpPr>
        <p:spPr>
          <a:xfrm>
            <a:off x="12435840" y="5440680"/>
            <a:ext cx="1143000" cy="457200"/>
          </a:xfrm>
          <a:prstGeom prst="roundRect">
            <a:avLst>
              <a:gd name="adj" fmla="val 20000"/>
            </a:avLst>
          </a:prstGeom>
          <a:solidFill>
            <a:srgbClr val="F5A623"/>
          </a:solidFill>
          <a:ln w="12700">
            <a:solidFill>
              <a:srgbClr val="F5A623"/>
            </a:solidFill>
            <a:prstDash val="solid"/>
          </a:ln>
        </p:spPr>
      </p:sp>
      <p:sp>
        <p:nvSpPr>
          <p:cNvPr id="15" name="Text 12"/>
          <p:cNvSpPr txBox="1"/>
          <p:nvPr/>
        </p:nvSpPr>
        <p:spPr>
          <a:xfrm>
            <a:off x="12435840" y="5440680"/>
            <a:ext cx="1143000" cy="457200"/>
          </a:xfrm>
          <a:prstGeom prst="rect">
            <a:avLst/>
          </a:prstGeom>
          <a:noFill/>
          <a:ln/>
        </p:spPr>
        <p:txBody>
          <a:bodyPr wrap="square" lIns="0" tIns="0" rIns="0" bIns="0" rtlCol="0" anchor="ctr"/>
          <a:lstStyle/>
          <a:p>
            <a:pPr algn="ctr" indent="0" marL="0">
              <a:buNone/>
            </a:pPr>
            <a:r>
              <a:rPr lang="en-US" sz="1300" b="1" dirty="0">
                <a:solidFill>
                  <a:srgbClr val="2A0B2F"/>
                </a:solidFill>
                <a:latin typeface="Arial" pitchFamily="34" charset="0"/>
                <a:ea typeface="Arial" pitchFamily="34" charset="-122"/>
                <a:cs typeface="Arial" pitchFamily="34" charset="-120"/>
              </a:rPr>
              <a:t>60 days</a:t>
            </a:r>
            <a:endParaRPr lang="en-US" sz="1300" dirty="0"/>
          </a:p>
        </p:txBody>
      </p:sp>
      <p:sp>
        <p:nvSpPr>
          <p:cNvPr id="16" name="Text 13"/>
          <p:cNvSpPr txBox="1"/>
          <p:nvPr/>
        </p:nvSpPr>
        <p:spPr>
          <a:xfrm>
            <a:off x="13761720" y="5367528"/>
            <a:ext cx="3794760" cy="603504"/>
          </a:xfrm>
          <a:prstGeom prst="rect">
            <a:avLst/>
          </a:prstGeom>
          <a:noFill/>
          <a:ln/>
        </p:spPr>
        <p:txBody>
          <a:bodyPr wrap="square" lIns="0" tIns="0" rIns="0" bIns="0" rtlCol="0" anchor="ctr"/>
          <a:lstStyle/>
          <a:p>
            <a:pPr indent="0" marL="0">
              <a:buNone/>
            </a:pPr>
            <a:r>
              <a:rPr lang="en-US" sz="1350" dirty="0">
                <a:solidFill>
                  <a:srgbClr val="2A0B2F"/>
                </a:solidFill>
                <a:latin typeface="Arial" pitchFamily="34" charset="0"/>
                <a:ea typeface="Arial" pitchFamily="34" charset="-122"/>
                <a:cs typeface="Arial" pitchFamily="34" charset="-120"/>
              </a:rPr>
              <a:t>Start price and range live for soap and t-shirts.</a:t>
            </a:r>
            <a:endParaRPr lang="en-US" sz="1350" dirty="0"/>
          </a:p>
        </p:txBody>
      </p:sp>
      <p:sp>
        <p:nvSpPr>
          <p:cNvPr id="17" name="Shape 14"/>
          <p:cNvSpPr/>
          <p:nvPr/>
        </p:nvSpPr>
        <p:spPr>
          <a:xfrm>
            <a:off x="12435840" y="6080760"/>
            <a:ext cx="1143000" cy="457200"/>
          </a:xfrm>
          <a:prstGeom prst="roundRect">
            <a:avLst>
              <a:gd name="adj" fmla="val 20000"/>
            </a:avLst>
          </a:prstGeom>
          <a:solidFill>
            <a:srgbClr val="F5A623"/>
          </a:solidFill>
          <a:ln w="12700">
            <a:solidFill>
              <a:srgbClr val="F5A623"/>
            </a:solidFill>
            <a:prstDash val="solid"/>
          </a:ln>
        </p:spPr>
      </p:sp>
      <p:sp>
        <p:nvSpPr>
          <p:cNvPr id="18" name="Text 15"/>
          <p:cNvSpPr txBox="1"/>
          <p:nvPr/>
        </p:nvSpPr>
        <p:spPr>
          <a:xfrm>
            <a:off x="12435840" y="6080760"/>
            <a:ext cx="1143000" cy="457200"/>
          </a:xfrm>
          <a:prstGeom prst="rect">
            <a:avLst/>
          </a:prstGeom>
          <a:noFill/>
          <a:ln/>
        </p:spPr>
        <p:txBody>
          <a:bodyPr wrap="square" lIns="0" tIns="0" rIns="0" bIns="0" rtlCol="0" anchor="ctr"/>
          <a:lstStyle/>
          <a:p>
            <a:pPr algn="ctr" indent="0" marL="0">
              <a:buNone/>
            </a:pPr>
            <a:r>
              <a:rPr lang="en-US" sz="1300" b="1" dirty="0">
                <a:solidFill>
                  <a:srgbClr val="2A0B2F"/>
                </a:solidFill>
                <a:latin typeface="Arial" pitchFamily="34" charset="0"/>
                <a:ea typeface="Arial" pitchFamily="34" charset="-122"/>
                <a:cs typeface="Arial" pitchFamily="34" charset="-120"/>
              </a:rPr>
              <a:t>90 days</a:t>
            </a:r>
            <a:endParaRPr lang="en-US" sz="1300" dirty="0"/>
          </a:p>
        </p:txBody>
      </p:sp>
      <p:sp>
        <p:nvSpPr>
          <p:cNvPr id="19" name="Text 16"/>
          <p:cNvSpPr txBox="1"/>
          <p:nvPr/>
        </p:nvSpPr>
        <p:spPr>
          <a:xfrm>
            <a:off x="13761720" y="6007608"/>
            <a:ext cx="3794760" cy="603504"/>
          </a:xfrm>
          <a:prstGeom prst="rect">
            <a:avLst/>
          </a:prstGeom>
          <a:noFill/>
          <a:ln/>
        </p:spPr>
        <p:txBody>
          <a:bodyPr wrap="square" lIns="0" tIns="0" rIns="0" bIns="0" rtlCol="0" anchor="ctr"/>
          <a:lstStyle/>
          <a:p>
            <a:pPr indent="0" marL="0">
              <a:buNone/>
            </a:pPr>
            <a:r>
              <a:rPr lang="en-US" sz="1350" dirty="0">
                <a:solidFill>
                  <a:srgbClr val="2A0B2F"/>
                </a:solidFill>
                <a:latin typeface="Arial" pitchFamily="34" charset="0"/>
                <a:ea typeface="Arial" pitchFamily="34" charset="-122"/>
                <a:cs typeface="Arial" pitchFamily="34" charset="-120"/>
              </a:rPr>
              <a:t>Launch-lower planner and repricing alerts.</a:t>
            </a:r>
            <a:endParaRPr lang="en-US" sz="1350" dirty="0"/>
          </a:p>
        </p:txBody>
      </p:sp>
      <p:sp>
        <p:nvSpPr>
          <p:cNvPr id="20" name="Shape 17"/>
          <p:cNvSpPr/>
          <p:nvPr/>
        </p:nvSpPr>
        <p:spPr>
          <a:xfrm>
            <a:off x="12435840" y="7086600"/>
            <a:ext cx="5120640" cy="2011680"/>
          </a:xfrm>
          <a:prstGeom prst="roundRect">
            <a:avLst>
              <a:gd name="adj" fmla="val 5455"/>
            </a:avLst>
          </a:prstGeom>
          <a:solidFill>
            <a:srgbClr val="4B1248"/>
          </a:solidFill>
          <a:ln w="12700">
            <a:solidFill>
              <a:srgbClr val="4B1248"/>
            </a:solidFill>
            <a:prstDash val="solid"/>
          </a:ln>
        </p:spPr>
      </p:sp>
      <p:sp>
        <p:nvSpPr>
          <p:cNvPr id="21" name="Text 18"/>
          <p:cNvSpPr txBox="1"/>
          <p:nvPr/>
        </p:nvSpPr>
        <p:spPr>
          <a:xfrm>
            <a:off x="12710160" y="7178040"/>
            <a:ext cx="4572000" cy="1828800"/>
          </a:xfrm>
          <a:prstGeom prst="rect">
            <a:avLst/>
          </a:prstGeom>
          <a:noFill/>
          <a:ln/>
        </p:spPr>
        <p:txBody>
          <a:bodyPr wrap="square" lIns="0" tIns="0" rIns="0" bIns="0" rtlCol="0" anchor="ctr"/>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The 10x part</a:t>
            </a:r>
            <a:endParaRPr lang="en-US" sz="1600" dirty="0"/>
          </a:p>
          <a:p>
            <a:pPr indent="0" marL="0">
              <a:buNone/>
            </a:pPr>
            <a:r>
              <a:rPr lang="en-US" sz="1500" dirty="0">
                <a:solidFill>
                  <a:srgbClr val="FFFFFF"/>
                </a:solidFill>
                <a:latin typeface="Arial" pitchFamily="34" charset="0"/>
                <a:ea typeface="Arial" pitchFamily="34" charset="-122"/>
                <a:cs typeface="Arial" pitchFamily="34" charset="-120"/>
              </a:rPr>
              <a:t>Every seller who types in their costs adds data nobody has today: which below-cost launches pay back, by category and rating. The advice improves with every launch.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Confidence: Meesho DICE Challenge S3, Round 2</dc:title>
  <dc:subject>PptxGenJS Presentation</dc:subject>
  <dc:creator>Team Edge Case, IIT Roorkee</dc:creator>
  <cp:lastModifiedBy>Team Edge Case, IIT Roorkee</cp:lastModifiedBy>
  <cp:revision>1</cp:revision>
  <dcterms:created xsi:type="dcterms:W3CDTF">2026-10-04T09:25:13Z</dcterms:created>
  <dcterms:modified xsi:type="dcterms:W3CDTF">2026-10-04T09:25:13Z</dcterms:modified>
</cp:coreProperties>
</file>